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e4d85310-3ddc-a3d8-ae08-a51983dcf7df}">
          <p14:sldIdLst>
            <p14:sldId id="256"/>
            <p14:sldId id="257"/>
            <p14:sldId id="258"/>
            <p14:sldId id="259"/>
          </p14:sldIdLst>
        </p14:section>
        <p14:section name="講義" id="{801e7258-df52-20ee-a549-acea31a3d1b1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演習" id="{192a7e78-5a9b-090c-d898-56ce667c36dc}">
          <p14:sldIdLst>
            <p14:sldId id="269"/>
            <p14:sldId id="270"/>
            <p14:sldId id="271"/>
            <p14:sldId id="272"/>
            <p14:sldId id="273"/>
          </p14:sldIdLst>
        </p14:section>
        <p14:section name="課題" id="{d5c0c535-ad4d-0c11-aa41-9684edd218fc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850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4028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 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0332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FE3F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CFE3F2"/>
                </a:solidFill>
              </a:rPr>
              <a:t> </a:t>
            </a: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8507F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08507F"/>
                </a:solidFill>
              </a:rPr>
              <a:t> </a:t>
            </a: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7A3"/>
                </a:solidFill>
              </a:rPr>
              <a:t>ネットワーク応用　第1回　ソケットとポート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INT">
    <p:bg>
      <p:bgPr>
        <a:solidFill>
          <a:srgbClr val="EE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8507F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08507F"/>
                </a:solidFill>
              </a:rPr>
              <a:t> </a:t>
            </a: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8794"/>
                </a:solidFill>
              </a:rPr>
              <a:t>ネットワーク応用　第1回　ソケットとポート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1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9CC4E4"/>
                </a:solidFill>
              </a:rPr>
              <a:t>ネットワーク応用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2402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第1回　ソケットとポート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7033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FE3F2"/>
                </a:solidFill>
              </a:rPr>
              <a:t>つながる・つながらないを、目で見る</a:t>
            </a:r>
            <a:endParaRPr lang="en-US" sz="1700" dirty="0"/>
          </a:p>
        </p:txBody>
      </p:sp>
      <p:sp>
        <p:nvSpPr>
          <p:cNvPr id="5" name="chip_2"/>
          <p:cNvSpPr/>
          <p:nvPr/>
        </p:nvSpPr>
        <p:spPr>
          <a:xfrm>
            <a:off x="822960" y="4983480"/>
            <a:ext cx="2011680" cy="384048"/>
          </a:xfrm>
          <a:prstGeom prst="roundRect">
            <a:avLst>
              <a:gd name="adj" fmla="val 119048"/>
            </a:avLst>
          </a:prstGeom>
          <a:solidFill>
            <a:srgbClr val="0B6CB5"/>
          </a:solidFill>
          <a:ln w="12700">
            <a:solidFill>
              <a:srgbClr val="0B6CB5"/>
            </a:solidFill>
            <a:prstDash val="solid"/>
          </a:ln>
        </p:spPr>
      </p:sp>
      <p:sp>
        <p:nvSpPr>
          <p:cNvPr id="6" name="txt_3"/>
          <p:cNvSpPr txBox="1"/>
          <p:nvPr/>
        </p:nvSpPr>
        <p:spPr>
          <a:xfrm>
            <a:off x="822960" y="4983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全13回の第1回</a:t>
            </a:r>
            <a:endParaRPr lang="en-US" sz="1200" dirty="0"/>
          </a:p>
        </p:txBody>
      </p:sp>
      <p:sp>
        <p:nvSpPr>
          <p:cNvPr id="7" name="chip_4"/>
          <p:cNvSpPr/>
          <p:nvPr/>
        </p:nvSpPr>
        <p:spPr>
          <a:xfrm>
            <a:off x="2971800" y="4983480"/>
            <a:ext cx="1737360" cy="384048"/>
          </a:xfrm>
          <a:prstGeom prst="roundRect">
            <a:avLst>
              <a:gd name="adj" fmla="val 119048"/>
            </a:avLst>
          </a:prstGeom>
          <a:solidFill>
            <a:srgbClr val="1A6EA8"/>
          </a:solidFill>
          <a:ln w="12700">
            <a:solidFill>
              <a:srgbClr val="1A6EA8"/>
            </a:solidFill>
            <a:prstDash val="solid"/>
          </a:ln>
        </p:spPr>
      </p:sp>
      <p:sp>
        <p:nvSpPr>
          <p:cNvPr id="8" name="txt_5"/>
          <p:cNvSpPr txBox="1"/>
          <p:nvPr/>
        </p:nvSpPr>
        <p:spPr>
          <a:xfrm>
            <a:off x="2971800" y="49834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Java 17 以降</a:t>
            </a:r>
            <a:endParaRPr lang="en-US" sz="1200" dirty="0"/>
          </a:p>
        </p:txBody>
      </p:sp>
      <p:sp>
        <p:nvSpPr>
          <p:cNvPr id="9" name="chip_6"/>
          <p:cNvSpPr/>
          <p:nvPr/>
        </p:nvSpPr>
        <p:spPr>
          <a:xfrm>
            <a:off x="4846320" y="4983480"/>
            <a:ext cx="3017520" cy="384048"/>
          </a:xfrm>
          <a:prstGeom prst="roundRect">
            <a:avLst>
              <a:gd name="adj" fmla="val 119048"/>
            </a:avLst>
          </a:prstGeom>
          <a:solidFill>
            <a:srgbClr val="1A6EA8"/>
          </a:solidFill>
          <a:ln w="12700">
            <a:solidFill>
              <a:srgbClr val="1A6EA8"/>
            </a:solidFill>
            <a:prstDash val="solid"/>
          </a:ln>
        </p:spPr>
      </p:sp>
      <p:sp>
        <p:nvSpPr>
          <p:cNvPr id="10" name="txt_7"/>
          <p:cNvSpPr txBox="1"/>
          <p:nvPr/>
        </p:nvSpPr>
        <p:spPr>
          <a:xfrm>
            <a:off x="4846320" y="4983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GitHub Copilot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507F"/>
                </a:solidFill>
              </a:rPr>
              <a:t>今日やることは、この4段だけ</a:t>
            </a:r>
            <a:endParaRPr lang="en-US" sz="3000" dirty="0"/>
          </a:p>
        </p:txBody>
      </p:sp>
      <p:sp>
        <p:nvSpPr>
          <p:cNvPr id="3" name="card_8"/>
          <p:cNvSpPr/>
          <p:nvPr/>
        </p:nvSpPr>
        <p:spPr>
          <a:xfrm>
            <a:off x="685800" y="1572768"/>
            <a:ext cx="2514600" cy="18288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4" name="chip_9"/>
          <p:cNvSpPr/>
          <p:nvPr/>
        </p:nvSpPr>
        <p:spPr>
          <a:xfrm>
            <a:off x="886968" y="1773936"/>
            <a:ext cx="365760" cy="365760"/>
          </a:xfrm>
          <a:prstGeom prst="roundRect">
            <a:avLst>
              <a:gd name="adj" fmla="val 125000"/>
            </a:avLst>
          </a:prstGeom>
          <a:solidFill>
            <a:srgbClr val="0B6CB5"/>
          </a:solidFill>
          <a:ln w="12700">
            <a:solidFill>
              <a:srgbClr val="0B6CB5"/>
            </a:solidFill>
            <a:prstDash val="solid"/>
          </a:ln>
        </p:spPr>
      </p:sp>
      <p:sp>
        <p:nvSpPr>
          <p:cNvPr id="5" name="txt_10"/>
          <p:cNvSpPr txBox="1"/>
          <p:nvPr/>
        </p:nvSpPr>
        <p:spPr>
          <a:xfrm>
            <a:off x="886968" y="1773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xt_11"/>
          <p:cNvSpPr txBox="1"/>
          <p:nvPr/>
        </p:nvSpPr>
        <p:spPr>
          <a:xfrm>
            <a:off x="886968" y="228600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ホスト名</a:t>
            </a:r>
            <a:endParaRPr lang="en-US" sz="1900" dirty="0"/>
          </a:p>
        </p:txBody>
      </p:sp>
      <p:sp>
        <p:nvSpPr>
          <p:cNvPr id="7" name="txt_12"/>
          <p:cNvSpPr txBox="1"/>
          <p:nvPr/>
        </p:nvSpPr>
        <p:spPr>
          <a:xfrm>
            <a:off x="886968" y="2724912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www.example.jp</a:t>
            </a:r>
            <a:endParaRPr lang="en-US" sz="1200" dirty="0"/>
          </a:p>
        </p:txBody>
      </p:sp>
      <p:sp>
        <p:nvSpPr>
          <p:cNvPr id="8" name="txt_13"/>
          <p:cNvSpPr txBox="1"/>
          <p:nvPr/>
        </p:nvSpPr>
        <p:spPr>
          <a:xfrm>
            <a:off x="3218688" y="228600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CE"/>
                </a:solidFill>
              </a:rPr>
              <a:t>▶</a:t>
            </a:r>
            <a:endParaRPr lang="en-US" sz="1400" dirty="0"/>
          </a:p>
        </p:txBody>
      </p:sp>
      <p:sp>
        <p:nvSpPr>
          <p:cNvPr id="9" name="card_14"/>
          <p:cNvSpPr/>
          <p:nvPr/>
        </p:nvSpPr>
        <p:spPr>
          <a:xfrm>
            <a:off x="3538728" y="1572768"/>
            <a:ext cx="2514600" cy="18288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10" name="chip_15"/>
          <p:cNvSpPr/>
          <p:nvPr/>
        </p:nvSpPr>
        <p:spPr>
          <a:xfrm>
            <a:off x="3739896" y="1773936"/>
            <a:ext cx="365760" cy="365760"/>
          </a:xfrm>
          <a:prstGeom prst="roundRect">
            <a:avLst>
              <a:gd name="adj" fmla="val 12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xt_16"/>
          <p:cNvSpPr txBox="1"/>
          <p:nvPr/>
        </p:nvSpPr>
        <p:spPr>
          <a:xfrm>
            <a:off x="3739896" y="1773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xt_17"/>
          <p:cNvSpPr txBox="1"/>
          <p:nvPr/>
        </p:nvSpPr>
        <p:spPr>
          <a:xfrm>
            <a:off x="3739896" y="228600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IPアドレス</a:t>
            </a:r>
            <a:endParaRPr lang="en-US" sz="1900" dirty="0"/>
          </a:p>
        </p:txBody>
      </p:sp>
      <p:sp>
        <p:nvSpPr>
          <p:cNvPr id="13" name="txt_18"/>
          <p:cNvSpPr txBox="1"/>
          <p:nvPr/>
        </p:nvSpPr>
        <p:spPr>
          <a:xfrm>
            <a:off x="3739896" y="2724912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93.184.216.34</a:t>
            </a:r>
            <a:endParaRPr lang="en-US" sz="1200" dirty="0"/>
          </a:p>
        </p:txBody>
      </p:sp>
      <p:sp>
        <p:nvSpPr>
          <p:cNvPr id="14" name="txt_19"/>
          <p:cNvSpPr txBox="1"/>
          <p:nvPr/>
        </p:nvSpPr>
        <p:spPr>
          <a:xfrm>
            <a:off x="6071616" y="228600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CE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card_20"/>
          <p:cNvSpPr/>
          <p:nvPr/>
        </p:nvSpPr>
        <p:spPr>
          <a:xfrm>
            <a:off x="6391656" y="1572768"/>
            <a:ext cx="2514600" cy="18288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16" name="chip_21"/>
          <p:cNvSpPr/>
          <p:nvPr/>
        </p:nvSpPr>
        <p:spPr>
          <a:xfrm>
            <a:off x="6592824" y="1773936"/>
            <a:ext cx="365760" cy="365760"/>
          </a:xfrm>
          <a:prstGeom prst="roundRect">
            <a:avLst>
              <a:gd name="adj" fmla="val 1250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7" name="txt_22"/>
          <p:cNvSpPr txBox="1"/>
          <p:nvPr/>
        </p:nvSpPr>
        <p:spPr>
          <a:xfrm>
            <a:off x="6592824" y="1773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xt_23"/>
          <p:cNvSpPr txBox="1"/>
          <p:nvPr/>
        </p:nvSpPr>
        <p:spPr>
          <a:xfrm>
            <a:off x="6592824" y="228600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ポート番号</a:t>
            </a:r>
            <a:endParaRPr lang="en-US" sz="1900" dirty="0"/>
          </a:p>
        </p:txBody>
      </p:sp>
      <p:sp>
        <p:nvSpPr>
          <p:cNvPr id="19" name="txt_24"/>
          <p:cNvSpPr txBox="1"/>
          <p:nvPr/>
        </p:nvSpPr>
        <p:spPr>
          <a:xfrm>
            <a:off x="6592824" y="2724912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40001</a:t>
            </a:r>
            <a:endParaRPr lang="en-US" sz="1200" dirty="0"/>
          </a:p>
        </p:txBody>
      </p:sp>
      <p:sp>
        <p:nvSpPr>
          <p:cNvPr id="20" name="txt_25"/>
          <p:cNvSpPr txBox="1"/>
          <p:nvPr/>
        </p:nvSpPr>
        <p:spPr>
          <a:xfrm>
            <a:off x="8924544" y="228600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CE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card_26"/>
          <p:cNvSpPr/>
          <p:nvPr/>
        </p:nvSpPr>
        <p:spPr>
          <a:xfrm>
            <a:off x="9244584" y="1572768"/>
            <a:ext cx="2514600" cy="18288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22" name="chip_27"/>
          <p:cNvSpPr/>
          <p:nvPr/>
        </p:nvSpPr>
        <p:spPr>
          <a:xfrm>
            <a:off x="9445752" y="1773936"/>
            <a:ext cx="365760" cy="365760"/>
          </a:xfrm>
          <a:prstGeom prst="roundRect">
            <a:avLst>
              <a:gd name="adj" fmla="val 12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xt_28"/>
          <p:cNvSpPr txBox="1"/>
          <p:nvPr/>
        </p:nvSpPr>
        <p:spPr>
          <a:xfrm>
            <a:off x="9445752" y="1773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xt_29"/>
          <p:cNvSpPr txBox="1"/>
          <p:nvPr/>
        </p:nvSpPr>
        <p:spPr>
          <a:xfrm>
            <a:off x="9445752" y="228600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TCP接続</a:t>
            </a:r>
            <a:endParaRPr lang="en-US" sz="1900" dirty="0"/>
          </a:p>
        </p:txBody>
      </p:sp>
      <p:sp>
        <p:nvSpPr>
          <p:cNvPr id="25" name="txt_30"/>
          <p:cNvSpPr txBox="1"/>
          <p:nvPr/>
        </p:nvSpPr>
        <p:spPr>
          <a:xfrm>
            <a:off x="9445752" y="2724912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つながる／つながらない</a:t>
            </a:r>
            <a:endParaRPr lang="en-US" sz="1200" dirty="0"/>
          </a:p>
        </p:txBody>
      </p:sp>
      <p:sp>
        <p:nvSpPr>
          <p:cNvPr id="26" name="card_31"/>
          <p:cNvSpPr/>
          <p:nvPr/>
        </p:nvSpPr>
        <p:spPr>
          <a:xfrm>
            <a:off x="685800" y="3703320"/>
            <a:ext cx="10789920" cy="987552"/>
          </a:xfrm>
          <a:prstGeom prst="roundRect">
            <a:avLst>
              <a:gd name="adj" fmla="val 5556"/>
            </a:avLst>
          </a:prstGeom>
          <a:solidFill>
            <a:srgbClr val="FFF7E0"/>
          </a:solidFill>
          <a:ln w="12700">
            <a:solidFill>
              <a:srgbClr val="F0D68A"/>
            </a:solidFill>
            <a:prstDash val="solid"/>
          </a:ln>
        </p:spPr>
      </p:sp>
      <p:sp>
        <p:nvSpPr>
          <p:cNvPr id="27" name="txt_32"/>
          <p:cNvSpPr txBox="1"/>
          <p:nvPr/>
        </p:nvSpPr>
        <p:spPr>
          <a:xfrm>
            <a:off x="960120" y="3703320"/>
            <a:ext cx="10241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5200"/>
                </a:solidFill>
              </a:rPr>
              <a:t>今日はサーバを書きません。</a:t>
            </a:r>
            <a:pPr indent="0" marL="0">
              <a:buNone/>
            </a:pPr>
            <a:r>
              <a:rPr lang="en-US" sz="1600" dirty="0">
                <a:solidFill>
                  <a:srgbClr val="6E5200"/>
                </a:solidFill>
              </a:rPr>
              <a:t>　つなぎに行く側だけをやります。サーバは第3回。</a:t>
            </a:r>
            <a:endParaRPr lang="en-US" sz="1600" dirty="0"/>
          </a:p>
        </p:txBody>
      </p:sp>
      <p:sp>
        <p:nvSpPr>
          <p:cNvPr id="28" name="card_33"/>
          <p:cNvSpPr/>
          <p:nvPr/>
        </p:nvSpPr>
        <p:spPr>
          <a:xfrm>
            <a:off x="685800" y="4937760"/>
            <a:ext cx="5285232" cy="9144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rgbClr val="C7D6E4"/>
            </a:solidFill>
            <a:prstDash val="solid"/>
          </a:ln>
        </p:spPr>
      </p:sp>
      <p:sp>
        <p:nvSpPr>
          <p:cNvPr id="29" name="txt_34"/>
          <p:cNvSpPr txBox="1"/>
          <p:nvPr/>
        </p:nvSpPr>
        <p:spPr>
          <a:xfrm>
            <a:off x="914400" y="4937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7F"/>
                </a:solidFill>
              </a:rPr>
              <a:t>管理者権限は不要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</a:rPr>
              <a:t>1024番未満のポートは一切使いません</a:t>
            </a:r>
            <a:endParaRPr lang="en-US" sz="1500" dirty="0"/>
          </a:p>
        </p:txBody>
      </p:sp>
      <p:sp>
        <p:nvSpPr>
          <p:cNvPr id="30" name="card_35"/>
          <p:cNvSpPr/>
          <p:nvPr/>
        </p:nvSpPr>
        <p:spPr>
          <a:xfrm>
            <a:off x="6190488" y="4937760"/>
            <a:ext cx="5285232" cy="9144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rgbClr val="C7D6E4"/>
            </a:solidFill>
            <a:prstDash val="solid"/>
          </a:ln>
        </p:spPr>
      </p:sp>
      <p:sp>
        <p:nvSpPr>
          <p:cNvPr id="31" name="txt_36"/>
          <p:cNvSpPr txBox="1"/>
          <p:nvPr/>
        </p:nvSpPr>
        <p:spPr>
          <a:xfrm>
            <a:off x="6419088" y="4937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7F"/>
                </a:solidFill>
              </a:rPr>
              <a:t>通信相手は原則 localhost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</a:rPr>
              <a:t>今日の通信はすべてPCの中で完結します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507F"/>
                </a:solidFill>
              </a:rPr>
              <a:t>帰るときに、これが「はい」になっていれば成功</a:t>
            </a:r>
            <a:endParaRPr lang="en-US" sz="3000" dirty="0"/>
          </a:p>
        </p:txBody>
      </p:sp>
      <p:sp>
        <p:nvSpPr>
          <p:cNvPr id="3" name="card_37"/>
          <p:cNvSpPr/>
          <p:nvPr/>
        </p:nvSpPr>
        <p:spPr>
          <a:xfrm>
            <a:off x="685800" y="1536192"/>
            <a:ext cx="10789920" cy="768096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4" name="chip_38"/>
          <p:cNvSpPr/>
          <p:nvPr/>
        </p:nvSpPr>
        <p:spPr>
          <a:xfrm>
            <a:off x="914400" y="1719072"/>
            <a:ext cx="402336" cy="402336"/>
          </a:xfrm>
          <a:prstGeom prst="roundRect">
            <a:avLst>
              <a:gd name="adj" fmla="val 113636"/>
            </a:avLst>
          </a:prstGeom>
          <a:solidFill>
            <a:srgbClr val="0B6CB5"/>
          </a:solidFill>
          <a:ln w="12700">
            <a:solidFill>
              <a:srgbClr val="0B6CB5"/>
            </a:solidFill>
            <a:prstDash val="solid"/>
          </a:ln>
        </p:spPr>
      </p:sp>
      <p:sp>
        <p:nvSpPr>
          <p:cNvPr id="5" name="txt_39"/>
          <p:cNvSpPr txBox="1"/>
          <p:nvPr/>
        </p:nvSpPr>
        <p:spPr>
          <a:xfrm>
            <a:off x="914400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xt_40"/>
          <p:cNvSpPr txBox="1"/>
          <p:nvPr/>
        </p:nvSpPr>
        <p:spPr>
          <a:xfrm>
            <a:off x="1481328" y="1536192"/>
            <a:ext cx="9784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自分のPCの IPアドレスと、LISTEN 中のポートを一覧できた</a:t>
            </a:r>
            <a:endParaRPr lang="en-US" sz="1600" dirty="0"/>
          </a:p>
        </p:txBody>
      </p:sp>
      <p:sp>
        <p:nvSpPr>
          <p:cNvPr id="7" name="card_41"/>
          <p:cNvSpPr/>
          <p:nvPr/>
        </p:nvSpPr>
        <p:spPr>
          <a:xfrm>
            <a:off x="685800" y="2423160"/>
            <a:ext cx="10789920" cy="768096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8" name="chip_42"/>
          <p:cNvSpPr/>
          <p:nvPr/>
        </p:nvSpPr>
        <p:spPr>
          <a:xfrm>
            <a:off x="914400" y="2606040"/>
            <a:ext cx="402336" cy="402336"/>
          </a:xfrm>
          <a:prstGeom prst="roundRect">
            <a:avLst>
              <a:gd name="adj" fmla="val 113636"/>
            </a:avLst>
          </a:prstGeom>
          <a:solidFill>
            <a:srgbClr val="0B6CB5"/>
          </a:solidFill>
          <a:ln w="12700">
            <a:solidFill>
              <a:srgbClr val="0B6CB5"/>
            </a:solidFill>
            <a:prstDash val="solid"/>
          </a:ln>
        </p:spPr>
      </p:sp>
      <p:sp>
        <p:nvSpPr>
          <p:cNvPr id="9" name="txt_43"/>
          <p:cNvSpPr txBox="1"/>
          <p:nvPr/>
        </p:nvSpPr>
        <p:spPr>
          <a:xfrm>
            <a:off x="91440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xt_44"/>
          <p:cNvSpPr txBox="1"/>
          <p:nvPr/>
        </p:nvSpPr>
        <p:spPr>
          <a:xfrm>
            <a:off x="1481328" y="2423160"/>
            <a:ext cx="9784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Java の名前解決の結果が、nslookup の結果と一致することを確認した</a:t>
            </a:r>
            <a:endParaRPr lang="en-US" sz="1600" dirty="0"/>
          </a:p>
        </p:txBody>
      </p:sp>
      <p:sp>
        <p:nvSpPr>
          <p:cNvPr id="11" name="card_45"/>
          <p:cNvSpPr/>
          <p:nvPr/>
        </p:nvSpPr>
        <p:spPr>
          <a:xfrm>
            <a:off x="685800" y="3310128"/>
            <a:ext cx="10789920" cy="768096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12" name="chip_46"/>
          <p:cNvSpPr/>
          <p:nvPr/>
        </p:nvSpPr>
        <p:spPr>
          <a:xfrm>
            <a:off x="914400" y="3493008"/>
            <a:ext cx="402336" cy="402336"/>
          </a:xfrm>
          <a:prstGeom prst="roundRect">
            <a:avLst>
              <a:gd name="adj" fmla="val 11363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xt_47"/>
          <p:cNvSpPr txBox="1"/>
          <p:nvPr/>
        </p:nvSpPr>
        <p:spPr>
          <a:xfrm>
            <a:off x="914400" y="3493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xt_48"/>
          <p:cNvSpPr txBox="1"/>
          <p:nvPr/>
        </p:nvSpPr>
        <p:spPr>
          <a:xfrm>
            <a:off x="1481328" y="3310128"/>
            <a:ext cx="9784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Socket の接続を、意図的に失敗させ、次に成功させた</a:t>
            </a:r>
            <a:endParaRPr lang="en-US" sz="1600" dirty="0"/>
          </a:p>
        </p:txBody>
      </p:sp>
      <p:sp>
        <p:nvSpPr>
          <p:cNvPr id="15" name="card_49"/>
          <p:cNvSpPr/>
          <p:nvPr/>
        </p:nvSpPr>
        <p:spPr>
          <a:xfrm>
            <a:off x="685800" y="4197096"/>
            <a:ext cx="10789920" cy="768096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16" name="chip_50"/>
          <p:cNvSpPr/>
          <p:nvPr/>
        </p:nvSpPr>
        <p:spPr>
          <a:xfrm>
            <a:off x="914400" y="4379976"/>
            <a:ext cx="402336" cy="402336"/>
          </a:xfrm>
          <a:prstGeom prst="roundRect">
            <a:avLst>
              <a:gd name="adj" fmla="val 113636"/>
            </a:avLst>
          </a:prstGeom>
          <a:solidFill>
            <a:srgbClr val="0B6CB5"/>
          </a:solidFill>
          <a:ln w="12700">
            <a:solidFill>
              <a:srgbClr val="0B6CB5"/>
            </a:solidFill>
            <a:prstDash val="solid"/>
          </a:ln>
        </p:spPr>
      </p:sp>
      <p:sp>
        <p:nvSpPr>
          <p:cNvPr id="17" name="txt_51"/>
          <p:cNvSpPr txBox="1"/>
          <p:nvPr/>
        </p:nvSpPr>
        <p:spPr>
          <a:xfrm>
            <a:off x="914400" y="4379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xt_52"/>
          <p:cNvSpPr txBox="1"/>
          <p:nvPr/>
        </p:nvSpPr>
        <p:spPr>
          <a:xfrm>
            <a:off x="1481328" y="4197096"/>
            <a:ext cx="9784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失敗が3種類あること（名前・拒否・無応答）を区別できた</a:t>
            </a:r>
            <a:endParaRPr lang="en-US" sz="1600" dirty="0"/>
          </a:p>
        </p:txBody>
      </p:sp>
      <p:sp>
        <p:nvSpPr>
          <p:cNvPr id="19" name="card_53"/>
          <p:cNvSpPr/>
          <p:nvPr/>
        </p:nvSpPr>
        <p:spPr>
          <a:xfrm>
            <a:off x="685800" y="5084064"/>
            <a:ext cx="10789920" cy="768096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20" name="chip_54"/>
          <p:cNvSpPr/>
          <p:nvPr/>
        </p:nvSpPr>
        <p:spPr>
          <a:xfrm>
            <a:off x="914400" y="5266944"/>
            <a:ext cx="402336" cy="402336"/>
          </a:xfrm>
          <a:prstGeom prst="roundRect">
            <a:avLst>
              <a:gd name="adj" fmla="val 113636"/>
            </a:avLst>
          </a:prstGeom>
          <a:solidFill>
            <a:srgbClr val="0B6CB5"/>
          </a:solidFill>
          <a:ln w="12700">
            <a:solidFill>
              <a:srgbClr val="0B6CB5"/>
            </a:solidFill>
            <a:prstDash val="solid"/>
          </a:ln>
        </p:spPr>
      </p:sp>
      <p:sp>
        <p:nvSpPr>
          <p:cNvPr id="21" name="txt_55"/>
          <p:cNvSpPr txBox="1"/>
          <p:nvPr/>
        </p:nvSpPr>
        <p:spPr>
          <a:xfrm>
            <a:off x="914400" y="5266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xt_56"/>
          <p:cNvSpPr txBox="1"/>
          <p:nvPr/>
        </p:nvSpPr>
        <p:spPr>
          <a:xfrm>
            <a:off x="1481328" y="5084064"/>
            <a:ext cx="9784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課題 NetProbe.java に着手し、1問でも自己採点を通した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507F"/>
                </a:solidFill>
              </a:rPr>
              <a:t>この日の流れ</a:t>
            </a:r>
            <a:endParaRPr lang="en-US" sz="3000" dirty="0"/>
          </a:p>
        </p:txBody>
      </p:sp>
      <p:sp>
        <p:nvSpPr>
          <p:cNvPr id="3" name="txt_57"/>
          <p:cNvSpPr txBox="1"/>
          <p:nvPr/>
        </p:nvSpPr>
        <p:spPr>
          <a:xfrm>
            <a:off x="685800" y="11887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上から順に進みます。各パートにかける時間は決めていません。前のパートが通ってから次へ進んでください。</a:t>
            </a:r>
            <a:endParaRPr lang="en-US" sz="1400" dirty="0"/>
          </a:p>
        </p:txBody>
      </p:sp>
      <p:sp>
        <p:nvSpPr>
          <p:cNvPr id="4" name="card_58"/>
          <p:cNvSpPr/>
          <p:nvPr/>
        </p:nvSpPr>
        <p:spPr>
          <a:xfrm>
            <a:off x="685800" y="1572768"/>
            <a:ext cx="1078992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chip_59"/>
          <p:cNvSpPr/>
          <p:nvPr/>
        </p:nvSpPr>
        <p:spPr>
          <a:xfrm>
            <a:off x="914400" y="1728216"/>
            <a:ext cx="1097280" cy="402336"/>
          </a:xfrm>
          <a:prstGeom prst="roundRect">
            <a:avLst>
              <a:gd name="adj" fmla="val 113636"/>
            </a:avLst>
          </a:prstGeom>
          <a:solidFill>
            <a:srgbClr val="0B6CB5"/>
          </a:solidFill>
          <a:ln w="12700">
            <a:solidFill>
              <a:srgbClr val="0B6CB5"/>
            </a:solidFill>
            <a:prstDash val="solid"/>
          </a:ln>
        </p:spPr>
      </p:sp>
      <p:sp>
        <p:nvSpPr>
          <p:cNvPr id="6" name="txt_60"/>
          <p:cNvSpPr txBox="1"/>
          <p:nvPr/>
        </p:nvSpPr>
        <p:spPr>
          <a:xfrm>
            <a:off x="914400" y="172821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PART 1</a:t>
            </a:r>
            <a:endParaRPr lang="en-US" sz="1100" dirty="0"/>
          </a:p>
        </p:txBody>
      </p:sp>
      <p:sp>
        <p:nvSpPr>
          <p:cNvPr id="7" name="txt_61"/>
          <p:cNvSpPr txBox="1"/>
          <p:nvPr/>
        </p:nvSpPr>
        <p:spPr>
          <a:xfrm>
            <a:off x="2176272" y="157276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講義</a:t>
            </a:r>
            <a:endParaRPr lang="en-US" sz="1600" dirty="0"/>
          </a:p>
        </p:txBody>
      </p:sp>
      <p:sp>
        <p:nvSpPr>
          <p:cNvPr id="8" name="txt_62"/>
          <p:cNvSpPr txBox="1"/>
          <p:nvPr/>
        </p:nvSpPr>
        <p:spPr>
          <a:xfrm>
            <a:off x="4617720" y="157276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ソケットとは何か／Copilot の使い方ルール</a:t>
            </a:r>
            <a:endParaRPr lang="en-US" sz="1400" dirty="0"/>
          </a:p>
        </p:txBody>
      </p:sp>
      <p:sp>
        <p:nvSpPr>
          <p:cNvPr id="9" name="card_63"/>
          <p:cNvSpPr/>
          <p:nvPr/>
        </p:nvSpPr>
        <p:spPr>
          <a:xfrm>
            <a:off x="685800" y="2322576"/>
            <a:ext cx="1078992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0" name="chip_64"/>
          <p:cNvSpPr/>
          <p:nvPr/>
        </p:nvSpPr>
        <p:spPr>
          <a:xfrm>
            <a:off x="914400" y="2478024"/>
            <a:ext cx="1097280" cy="402336"/>
          </a:xfrm>
          <a:prstGeom prst="roundRect">
            <a:avLst>
              <a:gd name="adj" fmla="val 11363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xt_65"/>
          <p:cNvSpPr txBox="1"/>
          <p:nvPr/>
        </p:nvSpPr>
        <p:spPr>
          <a:xfrm>
            <a:off x="914400" y="247802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PART 2</a:t>
            </a:r>
            <a:endParaRPr lang="en-US" sz="1100" dirty="0"/>
          </a:p>
        </p:txBody>
      </p:sp>
      <p:sp>
        <p:nvSpPr>
          <p:cNvPr id="12" name="txt_66"/>
          <p:cNvSpPr txBox="1"/>
          <p:nvPr/>
        </p:nvSpPr>
        <p:spPr>
          <a:xfrm>
            <a:off x="2176272" y="2322576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演習A：観察</a:t>
            </a:r>
            <a:endParaRPr lang="en-US" sz="1600" dirty="0"/>
          </a:p>
        </p:txBody>
      </p:sp>
      <p:sp>
        <p:nvSpPr>
          <p:cNvPr id="13" name="txt_67"/>
          <p:cNvSpPr txBox="1"/>
          <p:nvPr/>
        </p:nvSpPr>
        <p:spPr>
          <a:xfrm>
            <a:off x="4617720" y="2322576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自分のPCのアドレスと開いているポートを見る</a:t>
            </a:r>
            <a:endParaRPr lang="en-US" sz="1400" dirty="0"/>
          </a:p>
        </p:txBody>
      </p:sp>
      <p:sp>
        <p:nvSpPr>
          <p:cNvPr id="14" name="card_68"/>
          <p:cNvSpPr/>
          <p:nvPr/>
        </p:nvSpPr>
        <p:spPr>
          <a:xfrm>
            <a:off x="685800" y="3072384"/>
            <a:ext cx="1078992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5" name="chip_69"/>
          <p:cNvSpPr/>
          <p:nvPr/>
        </p:nvSpPr>
        <p:spPr>
          <a:xfrm>
            <a:off x="914400" y="3227832"/>
            <a:ext cx="1097280" cy="402336"/>
          </a:xfrm>
          <a:prstGeom prst="roundRect">
            <a:avLst>
              <a:gd name="adj" fmla="val 11363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xt_70"/>
          <p:cNvSpPr txBox="1"/>
          <p:nvPr/>
        </p:nvSpPr>
        <p:spPr>
          <a:xfrm>
            <a:off x="914400" y="32278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PART 3</a:t>
            </a:r>
            <a:endParaRPr lang="en-US" sz="1100" dirty="0"/>
          </a:p>
        </p:txBody>
      </p:sp>
      <p:sp>
        <p:nvSpPr>
          <p:cNvPr id="17" name="txt_71"/>
          <p:cNvSpPr txBox="1"/>
          <p:nvPr/>
        </p:nvSpPr>
        <p:spPr>
          <a:xfrm>
            <a:off x="2176272" y="307238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演習B：名前解決</a:t>
            </a:r>
            <a:endParaRPr lang="en-US" sz="1600" dirty="0"/>
          </a:p>
        </p:txBody>
      </p:sp>
      <p:sp>
        <p:nvSpPr>
          <p:cNvPr id="18" name="txt_72"/>
          <p:cNvSpPr txBox="1"/>
          <p:nvPr/>
        </p:nvSpPr>
        <p:spPr>
          <a:xfrm>
            <a:off x="4617720" y="3072384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InetAddress をJavaで書く</a:t>
            </a:r>
            <a:endParaRPr lang="en-US" sz="1400" dirty="0"/>
          </a:p>
        </p:txBody>
      </p:sp>
      <p:sp>
        <p:nvSpPr>
          <p:cNvPr id="19" name="card_73"/>
          <p:cNvSpPr/>
          <p:nvPr/>
        </p:nvSpPr>
        <p:spPr>
          <a:xfrm>
            <a:off x="685800" y="3822192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FDECEC"/>
          </a:solidFill>
          <a:ln w="12700">
            <a:solidFill>
              <a:srgbClr val="F3B9B9"/>
            </a:solidFill>
            <a:prstDash val="solid"/>
          </a:ln>
        </p:spPr>
      </p:sp>
      <p:sp>
        <p:nvSpPr>
          <p:cNvPr id="20" name="chip_74"/>
          <p:cNvSpPr/>
          <p:nvPr/>
        </p:nvSpPr>
        <p:spPr>
          <a:xfrm>
            <a:off x="914400" y="3977640"/>
            <a:ext cx="1097280" cy="402336"/>
          </a:xfrm>
          <a:prstGeom prst="roundRect">
            <a:avLst>
              <a:gd name="adj" fmla="val 11363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xt_75"/>
          <p:cNvSpPr txBox="1"/>
          <p:nvPr/>
        </p:nvSpPr>
        <p:spPr>
          <a:xfrm>
            <a:off x="914400" y="397764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PART 4</a:t>
            </a:r>
            <a:endParaRPr lang="en-US" sz="1100" dirty="0"/>
          </a:p>
        </p:txBody>
      </p:sp>
      <p:sp>
        <p:nvSpPr>
          <p:cNvPr id="22" name="txt_76"/>
          <p:cNvSpPr txBox="1"/>
          <p:nvPr/>
        </p:nvSpPr>
        <p:spPr>
          <a:xfrm>
            <a:off x="2176272" y="382219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演習C：接続</a:t>
            </a:r>
            <a:endParaRPr lang="en-US" sz="1600" dirty="0"/>
          </a:p>
        </p:txBody>
      </p:sp>
      <p:sp>
        <p:nvSpPr>
          <p:cNvPr id="23" name="txt_77"/>
          <p:cNvSpPr txBox="1"/>
          <p:nvPr/>
        </p:nvSpPr>
        <p:spPr>
          <a:xfrm>
            <a:off x="4617720" y="3822192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失敗3種を起こし、次に成功させる（本日の中心）</a:t>
            </a:r>
            <a:endParaRPr lang="en-US" sz="1400" dirty="0"/>
          </a:p>
        </p:txBody>
      </p:sp>
      <p:sp>
        <p:nvSpPr>
          <p:cNvPr id="24" name="card_78"/>
          <p:cNvSpPr/>
          <p:nvPr/>
        </p:nvSpPr>
        <p:spPr>
          <a:xfrm>
            <a:off x="685800" y="4572000"/>
            <a:ext cx="1078992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5" name="chip_79"/>
          <p:cNvSpPr/>
          <p:nvPr/>
        </p:nvSpPr>
        <p:spPr>
          <a:xfrm>
            <a:off x="914400" y="4727448"/>
            <a:ext cx="1097280" cy="402336"/>
          </a:xfrm>
          <a:prstGeom prst="roundRect">
            <a:avLst>
              <a:gd name="adj" fmla="val 11363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xt_80"/>
          <p:cNvSpPr txBox="1"/>
          <p:nvPr/>
        </p:nvSpPr>
        <p:spPr>
          <a:xfrm>
            <a:off x="914400" y="472744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PART 5</a:t>
            </a:r>
            <a:endParaRPr lang="en-US" sz="1100" dirty="0"/>
          </a:p>
        </p:txBody>
      </p:sp>
      <p:sp>
        <p:nvSpPr>
          <p:cNvPr id="27" name="txt_81"/>
          <p:cNvSpPr txBox="1"/>
          <p:nvPr/>
        </p:nvSpPr>
        <p:spPr>
          <a:xfrm>
            <a:off x="2176272" y="457200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演習D：バイト列</a:t>
            </a:r>
            <a:endParaRPr lang="en-US" sz="1600" dirty="0"/>
          </a:p>
        </p:txBody>
      </p:sp>
      <p:sp>
        <p:nvSpPr>
          <p:cNvPr id="28" name="txt_82"/>
          <p:cNvSpPr txBox="1"/>
          <p:nvPr/>
        </p:nvSpPr>
        <p:spPr>
          <a:xfrm>
            <a:off x="4617720" y="457200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送受信したバイトを16進で見る</a:t>
            </a:r>
            <a:endParaRPr lang="en-US" sz="1400" dirty="0"/>
          </a:p>
        </p:txBody>
      </p:sp>
      <p:sp>
        <p:nvSpPr>
          <p:cNvPr id="29" name="card_83"/>
          <p:cNvSpPr/>
          <p:nvPr/>
        </p:nvSpPr>
        <p:spPr>
          <a:xfrm>
            <a:off x="685800" y="5321808"/>
            <a:ext cx="1078992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30" name="chip_84"/>
          <p:cNvSpPr/>
          <p:nvPr/>
        </p:nvSpPr>
        <p:spPr>
          <a:xfrm>
            <a:off x="914400" y="5477256"/>
            <a:ext cx="1097280" cy="402336"/>
          </a:xfrm>
          <a:prstGeom prst="roundRect">
            <a:avLst>
              <a:gd name="adj" fmla="val 113636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1" name="txt_85"/>
          <p:cNvSpPr txBox="1"/>
          <p:nvPr/>
        </p:nvSpPr>
        <p:spPr>
          <a:xfrm>
            <a:off x="914400" y="547725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PART 6</a:t>
            </a:r>
            <a:endParaRPr lang="en-US" sz="1100" dirty="0"/>
          </a:p>
        </p:txBody>
      </p:sp>
      <p:sp>
        <p:nvSpPr>
          <p:cNvPr id="32" name="txt_86"/>
          <p:cNvSpPr txBox="1"/>
          <p:nvPr/>
        </p:nvSpPr>
        <p:spPr>
          <a:xfrm>
            <a:off x="2176272" y="532180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課題提示</a:t>
            </a:r>
            <a:endParaRPr lang="en-US" sz="1600" dirty="0"/>
          </a:p>
        </p:txBody>
      </p:sp>
      <p:sp>
        <p:nvSpPr>
          <p:cNvPr id="33" name="txt_87"/>
          <p:cNvSpPr txBox="1"/>
          <p:nvPr/>
        </p:nvSpPr>
        <p:spPr>
          <a:xfrm>
            <a:off x="4617720" y="532180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全5問の説明・採点実演・教室内で着手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88"/>
          <p:cNvSpPr txBox="1"/>
          <p:nvPr/>
        </p:nvSpPr>
        <p:spPr>
          <a:xfrm>
            <a:off x="822960" y="17830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9CC4E4"/>
                </a:solidFill>
              </a:rPr>
              <a:t>PART 1</a:t>
            </a:r>
            <a:endParaRPr lang="en-US" sz="17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2402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講義：ソケットとは何か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7033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FE3F2"/>
                </a:solidFill>
              </a:rPr>
              <a:t>話すのは4点だけ。用語の網羅はしません。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507F"/>
                </a:solidFill>
              </a:rPr>
              <a:t>4層のうち、今日書くのは一番上だけ</a:t>
            </a:r>
            <a:endParaRPr lang="en-US" sz="3000" dirty="0"/>
          </a:p>
        </p:txBody>
      </p:sp>
      <p:sp>
        <p:nvSpPr>
          <p:cNvPr id="3" name="txt_89"/>
          <p:cNvSpPr txBox="1"/>
          <p:nvPr/>
        </p:nvSpPr>
        <p:spPr>
          <a:xfrm>
            <a:off x="685800" y="11887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大事なのは層の名前ではなく、下の層に何を任せているか。</a:t>
            </a:r>
            <a:endParaRPr lang="en-US" sz="1400" dirty="0"/>
          </a:p>
        </p:txBody>
      </p:sp>
      <p:sp>
        <p:nvSpPr>
          <p:cNvPr id="4" name="card_90"/>
          <p:cNvSpPr/>
          <p:nvPr/>
        </p:nvSpPr>
        <p:spPr>
          <a:xfrm>
            <a:off x="685800" y="1645920"/>
            <a:ext cx="10789920" cy="868680"/>
          </a:xfrm>
          <a:prstGeom prst="roundRect">
            <a:avLst>
              <a:gd name="adj" fmla="val 6316"/>
            </a:avLst>
          </a:prstGeom>
          <a:solidFill>
            <a:srgbClr val="0B6CB5"/>
          </a:solidFill>
          <a:ln w="12700">
            <a:solidFill>
              <a:srgbClr val="0B6CB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5" name="txt_91"/>
          <p:cNvSpPr txBox="1"/>
          <p:nvPr/>
        </p:nvSpPr>
        <p:spPr>
          <a:xfrm>
            <a:off x="1005840" y="164592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アプリケーション層</a:t>
            </a:r>
            <a:endParaRPr lang="en-US" sz="1600" dirty="0"/>
          </a:p>
        </p:txBody>
      </p:sp>
      <p:sp>
        <p:nvSpPr>
          <p:cNvPr id="6" name="txt_92"/>
          <p:cNvSpPr txBox="1"/>
          <p:nvPr/>
        </p:nvSpPr>
        <p:spPr>
          <a:xfrm>
            <a:off x="5166360" y="164592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BF7"/>
                </a:solidFill>
              </a:rPr>
              <a:t>ここを書く。第2回以降13回まで、ずっとここ</a:t>
            </a:r>
            <a:endParaRPr lang="en-US" sz="1400" dirty="0"/>
          </a:p>
        </p:txBody>
      </p:sp>
      <p:sp>
        <p:nvSpPr>
          <p:cNvPr id="7" name="card_93"/>
          <p:cNvSpPr/>
          <p:nvPr/>
        </p:nvSpPr>
        <p:spPr>
          <a:xfrm>
            <a:off x="685800" y="2606040"/>
            <a:ext cx="1078992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rgbClr val="C7D6E4"/>
            </a:solidFill>
            <a:prstDash val="solid"/>
          </a:ln>
        </p:spPr>
      </p:sp>
      <p:sp>
        <p:nvSpPr>
          <p:cNvPr id="8" name="txt_94"/>
          <p:cNvSpPr txBox="1"/>
          <p:nvPr/>
        </p:nvSpPr>
        <p:spPr>
          <a:xfrm>
            <a:off x="1005840" y="260604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507F"/>
                </a:solidFill>
              </a:rPr>
              <a:t>トランスポート層（TCP / UDP）</a:t>
            </a:r>
            <a:endParaRPr lang="en-US" sz="1600" dirty="0"/>
          </a:p>
        </p:txBody>
      </p:sp>
      <p:sp>
        <p:nvSpPr>
          <p:cNvPr id="9" name="txt_95"/>
          <p:cNvSpPr txBox="1"/>
          <p:nvPr/>
        </p:nvSpPr>
        <p:spPr>
          <a:xfrm>
            <a:off x="5166360" y="260604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使う。Socket を作った時点で、順序保証と再送は任せている</a:t>
            </a:r>
            <a:endParaRPr lang="en-US" sz="1400" dirty="0"/>
          </a:p>
        </p:txBody>
      </p:sp>
      <p:sp>
        <p:nvSpPr>
          <p:cNvPr id="10" name="card_96"/>
          <p:cNvSpPr/>
          <p:nvPr/>
        </p:nvSpPr>
        <p:spPr>
          <a:xfrm>
            <a:off x="685800" y="3566160"/>
            <a:ext cx="1078992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rgbClr val="C7D6E4"/>
            </a:solidFill>
            <a:prstDash val="solid"/>
          </a:ln>
        </p:spPr>
      </p:sp>
      <p:sp>
        <p:nvSpPr>
          <p:cNvPr id="11" name="txt_97"/>
          <p:cNvSpPr txBox="1"/>
          <p:nvPr/>
        </p:nvSpPr>
        <p:spPr>
          <a:xfrm>
            <a:off x="1005840" y="356616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507F"/>
                </a:solidFill>
              </a:rPr>
              <a:t>インターネット層（IP）</a:t>
            </a:r>
            <a:endParaRPr lang="en-US" sz="1600" dirty="0"/>
          </a:p>
        </p:txBody>
      </p:sp>
      <p:sp>
        <p:nvSpPr>
          <p:cNvPr id="12" name="txt_98"/>
          <p:cNvSpPr txBox="1"/>
          <p:nvPr/>
        </p:nvSpPr>
        <p:spPr>
          <a:xfrm>
            <a:off x="5166360" y="356616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宛先まで運ぶのは任せる。今日はIPアドレスを見るだけ</a:t>
            </a:r>
            <a:endParaRPr lang="en-US" sz="1400" dirty="0"/>
          </a:p>
        </p:txBody>
      </p:sp>
      <p:sp>
        <p:nvSpPr>
          <p:cNvPr id="13" name="card_99"/>
          <p:cNvSpPr/>
          <p:nvPr/>
        </p:nvSpPr>
        <p:spPr>
          <a:xfrm>
            <a:off x="685800" y="4526280"/>
            <a:ext cx="1078992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rgbClr val="C7D6E4"/>
            </a:solidFill>
            <a:prstDash val="solid"/>
          </a:ln>
        </p:spPr>
      </p:sp>
      <p:sp>
        <p:nvSpPr>
          <p:cNvPr id="14" name="txt_100"/>
          <p:cNvSpPr txBox="1"/>
          <p:nvPr/>
        </p:nvSpPr>
        <p:spPr>
          <a:xfrm>
            <a:off x="1005840" y="452628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507F"/>
                </a:solidFill>
              </a:rPr>
              <a:t>ネットワークインタフェース層</a:t>
            </a:r>
            <a:endParaRPr lang="en-US" sz="1600" dirty="0"/>
          </a:p>
        </p:txBody>
      </p:sp>
      <p:sp>
        <p:nvSpPr>
          <p:cNvPr id="15" name="txt_101"/>
          <p:cNvSpPr txBox="1"/>
          <p:nvPr/>
        </p:nvSpPr>
        <p:spPr>
          <a:xfrm>
            <a:off x="5166360" y="452628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この授業では扱わない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507F"/>
                </a:solidFill>
              </a:rPr>
              <a:t>この1行が、裏で呼び出しているもの</a:t>
            </a:r>
            <a:endParaRPr lang="en-US" sz="3000" dirty="0"/>
          </a:p>
        </p:txBody>
      </p:sp>
      <p:sp>
        <p:nvSpPr>
          <p:cNvPr id="3" name="code_102"/>
          <p:cNvSpPr/>
          <p:nvPr/>
        </p:nvSpPr>
        <p:spPr>
          <a:xfrm>
            <a:off x="685800" y="1417320"/>
            <a:ext cx="107899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4" name="txt_103"/>
          <p:cNvSpPr txBox="1"/>
          <p:nvPr/>
        </p:nvSpPr>
        <p:spPr>
          <a:xfrm>
            <a:off x="850392" y="1545336"/>
            <a:ext cx="10460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new Socket(host, port)</a:t>
            </a:r>
            <a:endParaRPr lang="en-US" sz="2200" dirty="0"/>
          </a:p>
        </p:txBody>
      </p:sp>
      <p:sp>
        <p:nvSpPr>
          <p:cNvPr id="5" name="card_104"/>
          <p:cNvSpPr/>
          <p:nvPr/>
        </p:nvSpPr>
        <p:spPr>
          <a:xfrm>
            <a:off x="685800" y="2468880"/>
            <a:ext cx="2514600" cy="1572768"/>
          </a:xfrm>
          <a:prstGeom prst="roundRect">
            <a:avLst>
              <a:gd name="adj" fmla="val 3488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6" name="chip_105"/>
          <p:cNvSpPr/>
          <p:nvPr/>
        </p:nvSpPr>
        <p:spPr>
          <a:xfrm>
            <a:off x="886968" y="2670048"/>
            <a:ext cx="365760" cy="365760"/>
          </a:xfrm>
          <a:prstGeom prst="roundRect">
            <a:avLst>
              <a:gd name="adj" fmla="val 125000"/>
            </a:avLst>
          </a:prstGeom>
          <a:solidFill>
            <a:srgbClr val="0B6CB5"/>
          </a:solidFill>
          <a:ln w="12700">
            <a:solidFill>
              <a:srgbClr val="0B6CB5"/>
            </a:solidFill>
            <a:prstDash val="solid"/>
          </a:ln>
        </p:spPr>
      </p:sp>
      <p:sp>
        <p:nvSpPr>
          <p:cNvPr id="7" name="txt_106"/>
          <p:cNvSpPr txBox="1"/>
          <p:nvPr/>
        </p:nvSpPr>
        <p:spPr>
          <a:xfrm>
            <a:off x="886968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xt_107"/>
          <p:cNvSpPr txBox="1"/>
          <p:nvPr/>
        </p:nvSpPr>
        <p:spPr>
          <a:xfrm>
            <a:off x="886968" y="3163824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名前を引く</a:t>
            </a:r>
            <a:endParaRPr lang="en-US" sz="1600" dirty="0"/>
          </a:p>
        </p:txBody>
      </p:sp>
      <p:sp>
        <p:nvSpPr>
          <p:cNvPr id="9" name="txt_108"/>
          <p:cNvSpPr txBox="1"/>
          <p:nvPr/>
        </p:nvSpPr>
        <p:spPr>
          <a:xfrm>
            <a:off x="886968" y="3529584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</a:rPr>
              <a:t>ホスト名をIPに変換する</a:t>
            </a:r>
            <a:endParaRPr lang="en-US" sz="1200" dirty="0"/>
          </a:p>
        </p:txBody>
      </p:sp>
      <p:sp>
        <p:nvSpPr>
          <p:cNvPr id="10" name="card_109"/>
          <p:cNvSpPr/>
          <p:nvPr/>
        </p:nvSpPr>
        <p:spPr>
          <a:xfrm>
            <a:off x="3538728" y="2468880"/>
            <a:ext cx="2514600" cy="1572768"/>
          </a:xfrm>
          <a:prstGeom prst="roundRect">
            <a:avLst>
              <a:gd name="adj" fmla="val 3488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11" name="chip_110"/>
          <p:cNvSpPr/>
          <p:nvPr/>
        </p:nvSpPr>
        <p:spPr>
          <a:xfrm>
            <a:off x="3739896" y="2670048"/>
            <a:ext cx="365760" cy="365760"/>
          </a:xfrm>
          <a:prstGeom prst="roundRect">
            <a:avLst>
              <a:gd name="adj" fmla="val 12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xt_111"/>
          <p:cNvSpPr txBox="1"/>
          <p:nvPr/>
        </p:nvSpPr>
        <p:spPr>
          <a:xfrm>
            <a:off x="3739896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xt_112"/>
          <p:cNvSpPr txBox="1"/>
          <p:nvPr/>
        </p:nvSpPr>
        <p:spPr>
          <a:xfrm>
            <a:off x="3739896" y="3163824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経路を決める</a:t>
            </a:r>
            <a:endParaRPr lang="en-US" sz="1600" dirty="0"/>
          </a:p>
        </p:txBody>
      </p:sp>
      <p:sp>
        <p:nvSpPr>
          <p:cNvPr id="14" name="txt_113"/>
          <p:cNvSpPr txBox="1"/>
          <p:nvPr/>
        </p:nvSpPr>
        <p:spPr>
          <a:xfrm>
            <a:off x="3739896" y="3529584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</a:rPr>
              <a:t>宛先までどう送るかを決める</a:t>
            </a:r>
            <a:endParaRPr lang="en-US" sz="1200" dirty="0"/>
          </a:p>
        </p:txBody>
      </p:sp>
      <p:sp>
        <p:nvSpPr>
          <p:cNvPr id="15" name="card_114"/>
          <p:cNvSpPr/>
          <p:nvPr/>
        </p:nvSpPr>
        <p:spPr>
          <a:xfrm>
            <a:off x="6391656" y="2468880"/>
            <a:ext cx="2514600" cy="1572768"/>
          </a:xfrm>
          <a:prstGeom prst="roundRect">
            <a:avLst>
              <a:gd name="adj" fmla="val 3488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16" name="chip_115"/>
          <p:cNvSpPr/>
          <p:nvPr/>
        </p:nvSpPr>
        <p:spPr>
          <a:xfrm>
            <a:off x="6592824" y="2670048"/>
            <a:ext cx="365760" cy="365760"/>
          </a:xfrm>
          <a:prstGeom prst="roundRect">
            <a:avLst>
              <a:gd name="adj" fmla="val 1250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7" name="txt_116"/>
          <p:cNvSpPr txBox="1"/>
          <p:nvPr/>
        </p:nvSpPr>
        <p:spPr>
          <a:xfrm>
            <a:off x="6592824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xt_117"/>
          <p:cNvSpPr txBox="1"/>
          <p:nvPr/>
        </p:nvSpPr>
        <p:spPr>
          <a:xfrm>
            <a:off x="6592824" y="3163824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握手する</a:t>
            </a:r>
            <a:endParaRPr lang="en-US" sz="1600" dirty="0"/>
          </a:p>
        </p:txBody>
      </p:sp>
      <p:sp>
        <p:nvSpPr>
          <p:cNvPr id="19" name="txt_118"/>
          <p:cNvSpPr txBox="1"/>
          <p:nvPr/>
        </p:nvSpPr>
        <p:spPr>
          <a:xfrm>
            <a:off x="6592824" y="3529584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</a:rPr>
              <a:t>3ウェイハンドシェイクを行う</a:t>
            </a:r>
            <a:endParaRPr lang="en-US" sz="1200" dirty="0"/>
          </a:p>
        </p:txBody>
      </p:sp>
      <p:sp>
        <p:nvSpPr>
          <p:cNvPr id="20" name="card_119"/>
          <p:cNvSpPr/>
          <p:nvPr/>
        </p:nvSpPr>
        <p:spPr>
          <a:xfrm>
            <a:off x="9244584" y="2468880"/>
            <a:ext cx="2514600" cy="1572768"/>
          </a:xfrm>
          <a:prstGeom prst="roundRect">
            <a:avLst>
              <a:gd name="adj" fmla="val 3488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21" name="chip_120"/>
          <p:cNvSpPr/>
          <p:nvPr/>
        </p:nvSpPr>
        <p:spPr>
          <a:xfrm>
            <a:off x="9445752" y="2670048"/>
            <a:ext cx="365760" cy="365760"/>
          </a:xfrm>
          <a:prstGeom prst="roundRect">
            <a:avLst>
              <a:gd name="adj" fmla="val 12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xt_121"/>
          <p:cNvSpPr txBox="1"/>
          <p:nvPr/>
        </p:nvSpPr>
        <p:spPr>
          <a:xfrm>
            <a:off x="9445752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xt_122"/>
          <p:cNvSpPr txBox="1"/>
          <p:nvPr/>
        </p:nvSpPr>
        <p:spPr>
          <a:xfrm>
            <a:off x="9445752" y="3163824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以後を引き受ける</a:t>
            </a:r>
            <a:endParaRPr lang="en-US" sz="1600" dirty="0"/>
          </a:p>
        </p:txBody>
      </p:sp>
      <p:sp>
        <p:nvSpPr>
          <p:cNvPr id="24" name="txt_123"/>
          <p:cNvSpPr txBox="1"/>
          <p:nvPr/>
        </p:nvSpPr>
        <p:spPr>
          <a:xfrm>
            <a:off x="9445752" y="3529584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</a:rPr>
              <a:t>順序保証と再送を任せる</a:t>
            </a:r>
            <a:endParaRPr lang="en-US" sz="1200" dirty="0"/>
          </a:p>
        </p:txBody>
      </p:sp>
      <p:sp>
        <p:nvSpPr>
          <p:cNvPr id="25" name="card_124"/>
          <p:cNvSpPr/>
          <p:nvPr/>
        </p:nvSpPr>
        <p:spPr>
          <a:xfrm>
            <a:off x="685800" y="4315968"/>
            <a:ext cx="10789920" cy="1325880"/>
          </a:xfrm>
          <a:prstGeom prst="roundRect">
            <a:avLst>
              <a:gd name="adj" fmla="val 4138"/>
            </a:avLst>
          </a:prstGeom>
          <a:solidFill>
            <a:srgbClr val="F0FDF9"/>
          </a:solidFill>
          <a:ln w="12700">
            <a:solidFill>
              <a:srgbClr val="A8DED7"/>
            </a:solidFill>
            <a:prstDash val="solid"/>
          </a:ln>
        </p:spPr>
      </p:sp>
      <p:sp>
        <p:nvSpPr>
          <p:cNvPr id="26" name="txt_125"/>
          <p:cNvSpPr txBox="1"/>
          <p:nvPr/>
        </p:nvSpPr>
        <p:spPr>
          <a:xfrm>
            <a:off x="1005840" y="4315968"/>
            <a:ext cx="10149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A44"/>
                </a:solidFill>
              </a:rPr>
              <a:t>今日の中心
</a:t>
            </a:r>
            <a:pPr indent="0" marL="0">
              <a:buNone/>
            </a:pPr>
            <a:r>
              <a:rPr lang="en-US" sz="2000" b="1" dirty="0">
                <a:solidFill>
                  <a:srgbClr val="0B4A44"/>
                </a:solidFill>
              </a:rPr>
              <a:t>この1行が失敗する3通りを、自分の手で起こすこと。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507F"/>
                </a:solidFill>
              </a:rPr>
              <a:t>ソケット＝IPアドレス＋ポート番号</a:t>
            </a:r>
            <a:endParaRPr lang="en-US" sz="3000" dirty="0"/>
          </a:p>
        </p:txBody>
      </p:sp>
      <p:sp>
        <p:nvSpPr>
          <p:cNvPr id="3" name="card_126"/>
          <p:cNvSpPr/>
          <p:nvPr/>
        </p:nvSpPr>
        <p:spPr>
          <a:xfrm>
            <a:off x="3611880" y="1463040"/>
            <a:ext cx="7863840" cy="3246120"/>
          </a:xfrm>
          <a:prstGeom prst="roundRect">
            <a:avLst>
              <a:gd name="adj" fmla="val 1690"/>
            </a:avLst>
          </a:prstGeom>
          <a:solidFill>
            <a:schemeClr val="bg1"/>
          </a:solidFill>
          <a:ln w="12700">
            <a:solidFill>
              <a:srgbClr val="0B6CB5"/>
            </a:solidFill>
            <a:prstDash val="solid"/>
          </a:ln>
        </p:spPr>
      </p:sp>
      <p:sp>
        <p:nvSpPr>
          <p:cNvPr id="4" name="txt_127"/>
          <p:cNvSpPr txBox="1"/>
          <p:nvPr/>
        </p:nvSpPr>
        <p:spPr>
          <a:xfrm>
            <a:off x="3886200" y="1627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507F"/>
                </a:solidFill>
              </a:rPr>
              <a:t>あなたのPC</a:t>
            </a:r>
            <a:endParaRPr lang="en-US" sz="1600" dirty="0"/>
          </a:p>
        </p:txBody>
      </p:sp>
      <p:sp>
        <p:nvSpPr>
          <p:cNvPr id="5" name="txt_128"/>
          <p:cNvSpPr txBox="1"/>
          <p:nvPr/>
        </p:nvSpPr>
        <p:spPr>
          <a:xfrm>
            <a:off x="5577840" y="16276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</a:rPr>
              <a:t>IPアドレス</a:t>
            </a:r>
            <a:endParaRPr lang="en-US" sz="1200" dirty="0"/>
          </a:p>
        </p:txBody>
      </p:sp>
      <p:sp>
        <p:nvSpPr>
          <p:cNvPr id="6" name="txt_129"/>
          <p:cNvSpPr txBox="1"/>
          <p:nvPr/>
        </p:nvSpPr>
        <p:spPr>
          <a:xfrm>
            <a:off x="6446520" y="16276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7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192.168.1.20</a:t>
            </a:r>
            <a:endParaRPr lang="en-US" sz="1500" dirty="0"/>
          </a:p>
        </p:txBody>
      </p:sp>
      <p:sp>
        <p:nvSpPr>
          <p:cNvPr id="7" name="txt_130"/>
          <p:cNvSpPr txBox="1"/>
          <p:nvPr/>
        </p:nvSpPr>
        <p:spPr>
          <a:xfrm>
            <a:off x="8092440" y="1627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A3"/>
                </a:solidFill>
              </a:rPr>
              <a:t>← 建物の住所</a:t>
            </a:r>
            <a:endParaRPr lang="en-US" sz="1100" dirty="0"/>
          </a:p>
        </p:txBody>
      </p:sp>
      <p:sp>
        <p:nvSpPr>
          <p:cNvPr id="8" name="ln_131"/>
          <p:cNvSpPr/>
          <p:nvPr/>
        </p:nvSpPr>
        <p:spPr>
          <a:xfrm>
            <a:off x="3611880" y="2066544"/>
            <a:ext cx="7863840" cy="0"/>
          </a:xfrm>
          <a:prstGeom prst="line">
            <a:avLst/>
          </a:prstGeom>
          <a:noFill/>
          <a:ln w="19050">
            <a:solidFill>
              <a:srgbClr val="BCDCF2"/>
            </a:solidFill>
            <a:prstDash val="solid"/>
          </a:ln>
        </p:spPr>
      </p:sp>
      <p:sp>
        <p:nvSpPr>
          <p:cNvPr id="9" name="txt_132"/>
          <p:cNvSpPr txBox="1"/>
          <p:nvPr/>
        </p:nvSpPr>
        <p:spPr>
          <a:xfrm>
            <a:off x="685800" y="230428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507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192.168.1.20:40001</a:t>
            </a:r>
            <a:endParaRPr lang="en-US" sz="1300" dirty="0"/>
          </a:p>
        </p:txBody>
      </p:sp>
      <p:sp>
        <p:nvSpPr>
          <p:cNvPr id="10" name="ln_133"/>
          <p:cNvSpPr/>
          <p:nvPr/>
        </p:nvSpPr>
        <p:spPr>
          <a:xfrm>
            <a:off x="3063240" y="2542032"/>
            <a:ext cx="713232" cy="0"/>
          </a:xfrm>
          <a:prstGeom prst="line">
            <a:avLst/>
          </a:prstGeom>
          <a:noFill/>
          <a:ln w="25400">
            <a:solidFill>
              <a:srgbClr val="0B6CB5"/>
            </a:solidFill>
            <a:prstDash val="solid"/>
            <a:tailEnd type="triangle"/>
          </a:ln>
        </p:spPr>
      </p:sp>
      <p:sp>
        <p:nvSpPr>
          <p:cNvPr id="11" name="card_134"/>
          <p:cNvSpPr/>
          <p:nvPr/>
        </p:nvSpPr>
        <p:spPr>
          <a:xfrm>
            <a:off x="3886200" y="2304288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EEF6FC"/>
          </a:solidFill>
          <a:ln w="12700">
            <a:solidFill>
              <a:srgbClr val="0B6CB5"/>
            </a:solidFill>
            <a:prstDash val="solid"/>
          </a:ln>
        </p:spPr>
      </p:sp>
      <p:sp>
        <p:nvSpPr>
          <p:cNvPr id="12" name="txt_135"/>
          <p:cNvSpPr txBox="1"/>
          <p:nvPr/>
        </p:nvSpPr>
        <p:spPr>
          <a:xfrm>
            <a:off x="3886200" y="2304288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507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40001</a:t>
            </a:r>
            <a:endParaRPr lang="en-US" sz="1400" dirty="0"/>
          </a:p>
        </p:txBody>
      </p:sp>
      <p:sp>
        <p:nvSpPr>
          <p:cNvPr id="13" name="ln_136"/>
          <p:cNvSpPr/>
          <p:nvPr/>
        </p:nvSpPr>
        <p:spPr>
          <a:xfrm>
            <a:off x="4937760" y="2542032"/>
            <a:ext cx="502920" cy="0"/>
          </a:xfrm>
          <a:prstGeom prst="line">
            <a:avLst/>
          </a:prstGeom>
          <a:noFill/>
          <a:ln w="25400">
            <a:solidFill>
              <a:srgbClr val="0B6CB5"/>
            </a:solidFill>
            <a:prstDash val="solid"/>
          </a:ln>
        </p:spPr>
      </p:sp>
      <p:sp>
        <p:nvSpPr>
          <p:cNvPr id="14" name="card_137"/>
          <p:cNvSpPr/>
          <p:nvPr/>
        </p:nvSpPr>
        <p:spPr>
          <a:xfrm>
            <a:off x="5440680" y="2304288"/>
            <a:ext cx="5760720" cy="475488"/>
          </a:xfrm>
          <a:prstGeom prst="roundRect">
            <a:avLst>
              <a:gd name="adj" fmla="val 11538"/>
            </a:avLst>
          </a:prstGeom>
          <a:solidFill>
            <a:srgbClr val="FAFB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xt_138"/>
          <p:cNvSpPr txBox="1"/>
          <p:nvPr/>
        </p:nvSpPr>
        <p:spPr>
          <a:xfrm>
            <a:off x="5669280" y="2304288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EchoServer</a:t>
            </a:r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</a:rPr>
              <a:t>　今日この授業で起動する</a:t>
            </a:r>
            <a:endParaRPr lang="en-US" sz="1400" dirty="0"/>
          </a:p>
        </p:txBody>
      </p:sp>
      <p:sp>
        <p:nvSpPr>
          <p:cNvPr id="16" name="txt_139"/>
          <p:cNvSpPr txBox="1"/>
          <p:nvPr/>
        </p:nvSpPr>
        <p:spPr>
          <a:xfrm>
            <a:off x="685800" y="308152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507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192.168.1.20:40002</a:t>
            </a:r>
            <a:endParaRPr lang="en-US" sz="1300" dirty="0"/>
          </a:p>
        </p:txBody>
      </p:sp>
      <p:sp>
        <p:nvSpPr>
          <p:cNvPr id="17" name="ln_140"/>
          <p:cNvSpPr/>
          <p:nvPr/>
        </p:nvSpPr>
        <p:spPr>
          <a:xfrm>
            <a:off x="3063240" y="3319272"/>
            <a:ext cx="713232" cy="0"/>
          </a:xfrm>
          <a:prstGeom prst="line">
            <a:avLst/>
          </a:prstGeom>
          <a:noFill/>
          <a:ln w="25400">
            <a:solidFill>
              <a:srgbClr val="0B6CB5"/>
            </a:solidFill>
            <a:prstDash val="solid"/>
            <a:tailEnd type="triangle"/>
          </a:ln>
        </p:spPr>
      </p:sp>
      <p:sp>
        <p:nvSpPr>
          <p:cNvPr id="18" name="card_141"/>
          <p:cNvSpPr/>
          <p:nvPr/>
        </p:nvSpPr>
        <p:spPr>
          <a:xfrm>
            <a:off x="3886200" y="3081528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EEF6FC"/>
          </a:solidFill>
          <a:ln w="12700">
            <a:solidFill>
              <a:srgbClr val="0B6CB5"/>
            </a:solidFill>
            <a:prstDash val="solid"/>
          </a:ln>
        </p:spPr>
      </p:sp>
      <p:sp>
        <p:nvSpPr>
          <p:cNvPr id="19" name="txt_142"/>
          <p:cNvSpPr txBox="1"/>
          <p:nvPr/>
        </p:nvSpPr>
        <p:spPr>
          <a:xfrm>
            <a:off x="3886200" y="3081528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507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40002</a:t>
            </a:r>
            <a:endParaRPr lang="en-US" sz="1400" dirty="0"/>
          </a:p>
        </p:txBody>
      </p:sp>
      <p:sp>
        <p:nvSpPr>
          <p:cNvPr id="20" name="ln_143"/>
          <p:cNvSpPr/>
          <p:nvPr/>
        </p:nvSpPr>
        <p:spPr>
          <a:xfrm>
            <a:off x="4937760" y="3319272"/>
            <a:ext cx="502920" cy="0"/>
          </a:xfrm>
          <a:prstGeom prst="line">
            <a:avLst/>
          </a:prstGeom>
          <a:noFill/>
          <a:ln w="25400">
            <a:solidFill>
              <a:srgbClr val="0B6CB5"/>
            </a:solidFill>
            <a:prstDash val="solid"/>
          </a:ln>
        </p:spPr>
      </p:sp>
      <p:sp>
        <p:nvSpPr>
          <p:cNvPr id="21" name="card_144"/>
          <p:cNvSpPr/>
          <p:nvPr/>
        </p:nvSpPr>
        <p:spPr>
          <a:xfrm>
            <a:off x="5440680" y="3081528"/>
            <a:ext cx="5760720" cy="475488"/>
          </a:xfrm>
          <a:prstGeom prst="roundRect">
            <a:avLst>
              <a:gd name="adj" fmla="val 11538"/>
            </a:avLst>
          </a:prstGeom>
          <a:solidFill>
            <a:srgbClr val="FAFB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xt_145"/>
          <p:cNvSpPr txBox="1"/>
          <p:nvPr/>
        </p:nvSpPr>
        <p:spPr>
          <a:xfrm>
            <a:off x="5669280" y="3081528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別の実習プログラム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23" name="txt_146"/>
          <p:cNvSpPr txBox="1"/>
          <p:nvPr/>
        </p:nvSpPr>
        <p:spPr>
          <a:xfrm>
            <a:off x="685800" y="38587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507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192.168.1.20:51234</a:t>
            </a:r>
            <a:endParaRPr lang="en-US" sz="1300" dirty="0"/>
          </a:p>
        </p:txBody>
      </p:sp>
      <p:sp>
        <p:nvSpPr>
          <p:cNvPr id="24" name="ln_147"/>
          <p:cNvSpPr/>
          <p:nvPr/>
        </p:nvSpPr>
        <p:spPr>
          <a:xfrm>
            <a:off x="3063240" y="4096512"/>
            <a:ext cx="713232" cy="0"/>
          </a:xfrm>
          <a:prstGeom prst="line">
            <a:avLst/>
          </a:prstGeom>
          <a:noFill/>
          <a:ln w="25400">
            <a:solidFill>
              <a:srgbClr val="0B6CB5"/>
            </a:solidFill>
            <a:prstDash val="solid"/>
            <a:tailEnd type="triangle"/>
          </a:ln>
        </p:spPr>
      </p:sp>
      <p:sp>
        <p:nvSpPr>
          <p:cNvPr id="25" name="card_148"/>
          <p:cNvSpPr/>
          <p:nvPr/>
        </p:nvSpPr>
        <p:spPr>
          <a:xfrm>
            <a:off x="3886200" y="3858768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EEF6FC"/>
          </a:solidFill>
          <a:ln w="12700">
            <a:solidFill>
              <a:srgbClr val="0B6CB5"/>
            </a:solidFill>
            <a:prstDash val="solid"/>
          </a:ln>
        </p:spPr>
      </p:sp>
      <p:sp>
        <p:nvSpPr>
          <p:cNvPr id="26" name="txt_149"/>
          <p:cNvSpPr txBox="1"/>
          <p:nvPr/>
        </p:nvSpPr>
        <p:spPr>
          <a:xfrm>
            <a:off x="3886200" y="3858768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507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51234</a:t>
            </a:r>
            <a:endParaRPr lang="en-US" sz="1400" dirty="0"/>
          </a:p>
        </p:txBody>
      </p:sp>
      <p:sp>
        <p:nvSpPr>
          <p:cNvPr id="27" name="ln_150"/>
          <p:cNvSpPr/>
          <p:nvPr/>
        </p:nvSpPr>
        <p:spPr>
          <a:xfrm>
            <a:off x="4937760" y="4096512"/>
            <a:ext cx="502920" cy="0"/>
          </a:xfrm>
          <a:prstGeom prst="line">
            <a:avLst/>
          </a:prstGeom>
          <a:noFill/>
          <a:ln w="25400">
            <a:solidFill>
              <a:srgbClr val="0B6CB5"/>
            </a:solidFill>
            <a:prstDash val="solid"/>
          </a:ln>
        </p:spPr>
      </p:sp>
      <p:sp>
        <p:nvSpPr>
          <p:cNvPr id="28" name="card_151"/>
          <p:cNvSpPr/>
          <p:nvPr/>
        </p:nvSpPr>
        <p:spPr>
          <a:xfrm>
            <a:off x="5440680" y="3858768"/>
            <a:ext cx="5760720" cy="475488"/>
          </a:xfrm>
          <a:prstGeom prst="roundRect">
            <a:avLst>
              <a:gd name="adj" fmla="val 11538"/>
            </a:avLst>
          </a:prstGeom>
          <a:solidFill>
            <a:srgbClr val="FAFB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xt_152"/>
          <p:cNvSpPr txBox="1"/>
          <p:nvPr/>
        </p:nvSpPr>
        <p:spPr>
          <a:xfrm>
            <a:off x="5669280" y="3858768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ブラウザ</a:t>
            </a:r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</a:rPr>
              <a:t>　OSが自動で割り当てた番号</a:t>
            </a:r>
            <a:endParaRPr lang="en-US" sz="1400" dirty="0"/>
          </a:p>
        </p:txBody>
      </p:sp>
      <p:sp>
        <p:nvSpPr>
          <p:cNvPr id="30" name="card_153"/>
          <p:cNvSpPr/>
          <p:nvPr/>
        </p:nvSpPr>
        <p:spPr>
          <a:xfrm>
            <a:off x="685800" y="4983480"/>
            <a:ext cx="1078992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rgbClr val="C7D6E4"/>
            </a:solidFill>
            <a:prstDash val="solid"/>
          </a:ln>
        </p:spPr>
      </p:sp>
      <p:sp>
        <p:nvSpPr>
          <p:cNvPr id="31" name="txt_154"/>
          <p:cNvSpPr txBox="1"/>
          <p:nvPr/>
        </p:nvSpPr>
        <p:spPr>
          <a:xfrm>
            <a:off x="960120" y="49834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507F"/>
                </a:solidFill>
              </a:rPr>
              <a:t>IPアドレスが同じでも、ポート番号が違えば、届く先のプログラムは別になる。</a:t>
            </a:r>
            <a:pPr indent="0" marL="0">
              <a:buNone/>
            </a:pPr>
            <a:r>
              <a:rPr lang="en-US" sz="1600" dirty="0">
                <a:solidFill>
                  <a:srgbClr val="52606D"/>
                </a:solidFill>
              </a:rPr>
              <a:t>　この2つの組が「ソケット」。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507F"/>
                </a:solidFill>
              </a:rPr>
              <a:t>1本の通信は、4つの値の組で決まる</a:t>
            </a:r>
            <a:endParaRPr lang="en-US" sz="3000" dirty="0"/>
          </a:p>
        </p:txBody>
      </p:sp>
      <p:sp>
        <p:nvSpPr>
          <p:cNvPr id="3" name="card_155"/>
          <p:cNvSpPr/>
          <p:nvPr/>
        </p:nvSpPr>
        <p:spPr>
          <a:xfrm>
            <a:off x="1234440" y="1463040"/>
            <a:ext cx="3931920" cy="100584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4" name="txt_156"/>
          <p:cNvSpPr txBox="1"/>
          <p:nvPr/>
        </p:nvSpPr>
        <p:spPr>
          <a:xfrm>
            <a:off x="1234440" y="15544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507F"/>
                </a:solidFill>
              </a:rPr>
              <a:t>あなたのプログラム</a:t>
            </a:r>
            <a:endParaRPr lang="en-US" sz="1400" dirty="0"/>
          </a:p>
        </p:txBody>
      </p:sp>
      <p:sp>
        <p:nvSpPr>
          <p:cNvPr id="5" name="txt_157"/>
          <p:cNvSpPr txBox="1"/>
          <p:nvPr/>
        </p:nvSpPr>
        <p:spPr>
          <a:xfrm>
            <a:off x="1234440" y="1920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127.0.0.1:54321</a:t>
            </a:r>
            <a:endParaRPr lang="en-US" sz="1800" dirty="0"/>
          </a:p>
        </p:txBody>
      </p:sp>
      <p:sp>
        <p:nvSpPr>
          <p:cNvPr id="6" name="ln_158"/>
          <p:cNvSpPr/>
          <p:nvPr/>
        </p:nvSpPr>
        <p:spPr>
          <a:xfrm>
            <a:off x="5349240" y="1965960"/>
            <a:ext cx="1463040" cy="0"/>
          </a:xfrm>
          <a:prstGeom prst="line">
            <a:avLst/>
          </a:prstGeom>
          <a:noFill/>
          <a:ln w="3175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7" name="txt_159"/>
          <p:cNvSpPr txBox="1"/>
          <p:nvPr/>
        </p:nvSpPr>
        <p:spPr>
          <a:xfrm>
            <a:off x="5166360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06D"/>
                </a:solidFill>
              </a:rPr>
              <a:t>1本のTCP接続</a:t>
            </a:r>
            <a:endParaRPr lang="en-US" sz="1200" dirty="0"/>
          </a:p>
        </p:txBody>
      </p:sp>
      <p:sp>
        <p:nvSpPr>
          <p:cNvPr id="8" name="card_160"/>
          <p:cNvSpPr/>
          <p:nvPr/>
        </p:nvSpPr>
        <p:spPr>
          <a:xfrm>
            <a:off x="6995160" y="1463040"/>
            <a:ext cx="3931920" cy="100584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9" name="txt_161"/>
          <p:cNvSpPr txBox="1"/>
          <p:nvPr/>
        </p:nvSpPr>
        <p:spPr>
          <a:xfrm>
            <a:off x="6995160" y="15544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1B6"/>
                </a:solidFill>
              </a:rPr>
              <a:t>EchoServer</a:t>
            </a:r>
            <a:endParaRPr lang="en-US" sz="1400" dirty="0"/>
          </a:p>
        </p:txBody>
      </p:sp>
      <p:sp>
        <p:nvSpPr>
          <p:cNvPr id="10" name="txt_162"/>
          <p:cNvSpPr txBox="1"/>
          <p:nvPr/>
        </p:nvSpPr>
        <p:spPr>
          <a:xfrm>
            <a:off x="6995160" y="1920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127.0.0.1:40001</a:t>
            </a:r>
            <a:endParaRPr lang="en-US" sz="1800" dirty="0"/>
          </a:p>
        </p:txBody>
      </p:sp>
      <p:sp>
        <p:nvSpPr>
          <p:cNvPr id="11" name="txt_163"/>
          <p:cNvSpPr txBox="1"/>
          <p:nvPr/>
        </p:nvSpPr>
        <p:spPr>
          <a:xfrm>
            <a:off x="685800" y="28529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この接続を netstat -an で見ると、1行としてこう表示される</a:t>
            </a:r>
            <a:endParaRPr lang="en-US" sz="1400" dirty="0"/>
          </a:p>
        </p:txBody>
      </p:sp>
      <p:sp>
        <p:nvSpPr>
          <p:cNvPr id="12" name="card_164"/>
          <p:cNvSpPr/>
          <p:nvPr/>
        </p:nvSpPr>
        <p:spPr>
          <a:xfrm>
            <a:off x="685800" y="3246120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3" name="txt_165"/>
          <p:cNvSpPr txBox="1"/>
          <p:nvPr/>
        </p:nvSpPr>
        <p:spPr>
          <a:xfrm>
            <a:off x="960120" y="324612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TCP</a:t>
            </a:r>
            <a:endParaRPr lang="en-US" sz="1700" dirty="0"/>
          </a:p>
        </p:txBody>
      </p:sp>
      <p:sp>
        <p:nvSpPr>
          <p:cNvPr id="14" name="txt_166"/>
          <p:cNvSpPr txBox="1"/>
          <p:nvPr/>
        </p:nvSpPr>
        <p:spPr>
          <a:xfrm>
            <a:off x="1828800" y="324612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507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127.0.0.1:54321</a:t>
            </a:r>
            <a:endParaRPr lang="en-US" sz="1700" dirty="0"/>
          </a:p>
        </p:txBody>
      </p:sp>
      <p:sp>
        <p:nvSpPr>
          <p:cNvPr id="15" name="txt_167"/>
          <p:cNvSpPr txBox="1"/>
          <p:nvPr/>
        </p:nvSpPr>
        <p:spPr>
          <a:xfrm>
            <a:off x="4937760" y="324612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1B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127.0.0.1:40001</a:t>
            </a:r>
            <a:endParaRPr lang="en-US" sz="1700" dirty="0"/>
          </a:p>
        </p:txBody>
      </p:sp>
      <p:sp>
        <p:nvSpPr>
          <p:cNvPr id="16" name="txt_168"/>
          <p:cNvSpPr txBox="1"/>
          <p:nvPr/>
        </p:nvSpPr>
        <p:spPr>
          <a:xfrm>
            <a:off x="8138160" y="324612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6631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ESTABLISHED</a:t>
            </a:r>
            <a:endParaRPr lang="en-US" sz="1700" dirty="0"/>
          </a:p>
        </p:txBody>
      </p:sp>
      <p:sp>
        <p:nvSpPr>
          <p:cNvPr id="17" name="ln_169"/>
          <p:cNvSpPr/>
          <p:nvPr/>
        </p:nvSpPr>
        <p:spPr>
          <a:xfrm>
            <a:off x="2446020" y="3959352"/>
            <a:ext cx="0" cy="265176"/>
          </a:xfrm>
          <a:prstGeom prst="line">
            <a:avLst/>
          </a:prstGeom>
          <a:noFill/>
          <a:ln w="19050">
            <a:solidFill>
              <a:srgbClr val="08507F"/>
            </a:solidFill>
            <a:prstDash val="solid"/>
          </a:ln>
        </p:spPr>
      </p:sp>
      <p:sp>
        <p:nvSpPr>
          <p:cNvPr id="18" name="txt_170"/>
          <p:cNvSpPr txBox="1"/>
          <p:nvPr/>
        </p:nvSpPr>
        <p:spPr>
          <a:xfrm>
            <a:off x="1623060" y="4224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7F"/>
                </a:solidFill>
              </a:rPr>
              <a:t>送信元IP</a:t>
            </a:r>
            <a:endParaRPr lang="en-US" sz="1200" dirty="0"/>
          </a:p>
        </p:txBody>
      </p:sp>
      <p:sp>
        <p:nvSpPr>
          <p:cNvPr id="19" name="ln_171"/>
          <p:cNvSpPr/>
          <p:nvPr/>
        </p:nvSpPr>
        <p:spPr>
          <a:xfrm>
            <a:off x="3703320" y="3959352"/>
            <a:ext cx="0" cy="685800"/>
          </a:xfrm>
          <a:prstGeom prst="line">
            <a:avLst/>
          </a:prstGeom>
          <a:noFill/>
          <a:ln w="19050">
            <a:solidFill>
              <a:srgbClr val="08507F"/>
            </a:solidFill>
            <a:prstDash val="solid"/>
          </a:ln>
        </p:spPr>
      </p:sp>
      <p:sp>
        <p:nvSpPr>
          <p:cNvPr id="20" name="txt_172"/>
          <p:cNvSpPr txBox="1"/>
          <p:nvPr/>
        </p:nvSpPr>
        <p:spPr>
          <a:xfrm>
            <a:off x="2880360" y="4645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7F"/>
                </a:solidFill>
              </a:rPr>
              <a:t>送信元ポート</a:t>
            </a:r>
            <a:endParaRPr lang="en-US" sz="1200" dirty="0"/>
          </a:p>
        </p:txBody>
      </p:sp>
      <p:sp>
        <p:nvSpPr>
          <p:cNvPr id="21" name="ln_173"/>
          <p:cNvSpPr/>
          <p:nvPr/>
        </p:nvSpPr>
        <p:spPr>
          <a:xfrm>
            <a:off x="5554980" y="3959352"/>
            <a:ext cx="0" cy="265176"/>
          </a:xfrm>
          <a:prstGeom prst="line">
            <a:avLst/>
          </a:prstGeom>
          <a:noFill/>
          <a:ln w="19050">
            <a:solidFill>
              <a:srgbClr val="5B21B6"/>
            </a:solidFill>
            <a:prstDash val="solid"/>
          </a:ln>
        </p:spPr>
      </p:sp>
      <p:sp>
        <p:nvSpPr>
          <p:cNvPr id="22" name="txt_174"/>
          <p:cNvSpPr txBox="1"/>
          <p:nvPr/>
        </p:nvSpPr>
        <p:spPr>
          <a:xfrm>
            <a:off x="4732020" y="4224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</a:rPr>
              <a:t>宛先IP</a:t>
            </a:r>
            <a:endParaRPr lang="en-US" sz="1200" dirty="0"/>
          </a:p>
        </p:txBody>
      </p:sp>
      <p:sp>
        <p:nvSpPr>
          <p:cNvPr id="23" name="ln_175"/>
          <p:cNvSpPr/>
          <p:nvPr/>
        </p:nvSpPr>
        <p:spPr>
          <a:xfrm>
            <a:off x="6812280" y="3959352"/>
            <a:ext cx="0" cy="685800"/>
          </a:xfrm>
          <a:prstGeom prst="line">
            <a:avLst/>
          </a:prstGeom>
          <a:noFill/>
          <a:ln w="19050">
            <a:solidFill>
              <a:srgbClr val="5B21B6"/>
            </a:solidFill>
            <a:prstDash val="solid"/>
          </a:ln>
        </p:spPr>
      </p:sp>
      <p:sp>
        <p:nvSpPr>
          <p:cNvPr id="24" name="txt_176"/>
          <p:cNvSpPr txBox="1"/>
          <p:nvPr/>
        </p:nvSpPr>
        <p:spPr>
          <a:xfrm>
            <a:off x="5989320" y="4645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</a:rPr>
              <a:t>宛先ポート</a:t>
            </a:r>
            <a:endParaRPr lang="en-US" sz="1200" dirty="0"/>
          </a:p>
        </p:txBody>
      </p:sp>
      <p:sp>
        <p:nvSpPr>
          <p:cNvPr id="25" name="card_177"/>
          <p:cNvSpPr/>
          <p:nvPr/>
        </p:nvSpPr>
        <p:spPr>
          <a:xfrm>
            <a:off x="685800" y="5074920"/>
            <a:ext cx="10789920" cy="868680"/>
          </a:xfrm>
          <a:prstGeom prst="roundRect">
            <a:avLst>
              <a:gd name="adj" fmla="val 6316"/>
            </a:avLst>
          </a:prstGeom>
          <a:solidFill>
            <a:srgbClr val="FFF7E0"/>
          </a:solidFill>
          <a:ln w="12700">
            <a:solidFill>
              <a:srgbClr val="F0D68A"/>
            </a:solidFill>
            <a:prstDash val="solid"/>
          </a:ln>
        </p:spPr>
      </p:sp>
      <p:sp>
        <p:nvSpPr>
          <p:cNvPr id="26" name="txt_178"/>
          <p:cNvSpPr txBox="1"/>
          <p:nvPr/>
        </p:nvSpPr>
        <p:spPr>
          <a:xfrm>
            <a:off x="960120" y="507492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5200"/>
                </a:solidFill>
              </a:rPr>
              <a:t>接続する側のポート番号（54321）は自分で決めていません。</a:t>
            </a:r>
            <a:pPr indent="0" marL="0">
              <a:buNone/>
            </a:pPr>
            <a:r>
              <a:rPr lang="en-US" sz="1500" dirty="0">
                <a:solidFill>
                  <a:srgbClr val="6E5200"/>
                </a:solidFill>
              </a:rPr>
              <a:t>　OSが自動で割り当てます。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507F"/>
                </a:solidFill>
              </a:rPr>
              <a:t>ポート番号は 0〜65535。3つに分かれている</a:t>
            </a:r>
            <a:endParaRPr lang="en-US" sz="3000" dirty="0"/>
          </a:p>
        </p:txBody>
      </p:sp>
      <p:sp>
        <p:nvSpPr>
          <p:cNvPr id="3" name="card_179"/>
          <p:cNvSpPr/>
          <p:nvPr/>
        </p:nvSpPr>
        <p:spPr>
          <a:xfrm>
            <a:off x="685800" y="1481328"/>
            <a:ext cx="10789920" cy="1335024"/>
          </a:xfrm>
          <a:prstGeom prst="roundRect">
            <a:avLst>
              <a:gd name="adj" fmla="val 4110"/>
            </a:avLst>
          </a:prstGeom>
          <a:solidFill>
            <a:srgbClr val="FDECEC"/>
          </a:solidFill>
          <a:ln w="12700">
            <a:solidFill>
              <a:srgbClr val="F3B9B9"/>
            </a:solidFill>
            <a:prstDash val="solid"/>
          </a:ln>
        </p:spPr>
      </p:sp>
      <p:sp>
        <p:nvSpPr>
          <p:cNvPr id="4" name="txt_180"/>
          <p:cNvSpPr txBox="1"/>
          <p:nvPr/>
        </p:nvSpPr>
        <p:spPr>
          <a:xfrm>
            <a:off x="960120" y="16276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0 〜 1023</a:t>
            </a:r>
            <a:endParaRPr lang="en-US" sz="1700" dirty="0"/>
          </a:p>
        </p:txBody>
      </p:sp>
      <p:sp>
        <p:nvSpPr>
          <p:cNvPr id="5" name="txt_181"/>
          <p:cNvSpPr txBox="1"/>
          <p:nvPr/>
        </p:nvSpPr>
        <p:spPr>
          <a:xfrm>
            <a:off x="960120" y="20482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ウェルノウンポート</a:t>
            </a:r>
            <a:endParaRPr lang="en-US" sz="1500" dirty="0"/>
          </a:p>
        </p:txBody>
      </p:sp>
      <p:sp>
        <p:nvSpPr>
          <p:cNvPr id="6" name="txt_182"/>
          <p:cNvSpPr txBox="1"/>
          <p:nvPr/>
        </p:nvSpPr>
        <p:spPr>
          <a:xfrm>
            <a:off x="3429000" y="164592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654"/>
                </a:solidFill>
              </a:rPr>
              <a:t>番号と役割が世界中で決まっている。HTTP は 80、HTTPS は 443、SSH は 22。</a:t>
            </a:r>
            <a:endParaRPr lang="en-US" sz="1400" dirty="0"/>
          </a:p>
        </p:txBody>
      </p:sp>
      <p:sp>
        <p:nvSpPr>
          <p:cNvPr id="7" name="chip_183"/>
          <p:cNvSpPr/>
          <p:nvPr/>
        </p:nvSpPr>
        <p:spPr>
          <a:xfrm>
            <a:off x="8458200" y="1901952"/>
            <a:ext cx="2788920" cy="493776"/>
          </a:xfrm>
          <a:prstGeom prst="roundRect">
            <a:avLst>
              <a:gd name="adj" fmla="val 9259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xt_184"/>
          <p:cNvSpPr txBox="1"/>
          <p:nvPr/>
        </p:nvSpPr>
        <p:spPr>
          <a:xfrm>
            <a:off x="8458200" y="1901952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使わない（管理者権限が必要）</a:t>
            </a:r>
            <a:endParaRPr lang="en-US" sz="1200" dirty="0"/>
          </a:p>
        </p:txBody>
      </p:sp>
      <p:sp>
        <p:nvSpPr>
          <p:cNvPr id="9" name="card_185"/>
          <p:cNvSpPr/>
          <p:nvPr/>
        </p:nvSpPr>
        <p:spPr>
          <a:xfrm>
            <a:off x="685800" y="2926080"/>
            <a:ext cx="10789920" cy="1335024"/>
          </a:xfrm>
          <a:prstGeom prst="roundRect">
            <a:avLst>
              <a:gd name="adj" fmla="val 4110"/>
            </a:avLst>
          </a:prstGeom>
          <a:solidFill>
            <a:srgbClr val="EAFAF0"/>
          </a:solidFill>
          <a:ln w="12700">
            <a:solidFill>
              <a:srgbClr val="B9E4C8"/>
            </a:solidFill>
            <a:prstDash val="solid"/>
          </a:ln>
        </p:spPr>
      </p:sp>
      <p:sp>
        <p:nvSpPr>
          <p:cNvPr id="10" name="txt_186"/>
          <p:cNvSpPr txBox="1"/>
          <p:nvPr/>
        </p:nvSpPr>
        <p:spPr>
          <a:xfrm>
            <a:off x="960120" y="30723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9E4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1024 〜 49151</a:t>
            </a:r>
            <a:endParaRPr lang="en-US" sz="1700" dirty="0"/>
          </a:p>
        </p:txBody>
      </p:sp>
      <p:sp>
        <p:nvSpPr>
          <p:cNvPr id="11" name="txt_187"/>
          <p:cNvSpPr txBox="1"/>
          <p:nvPr/>
        </p:nvSpPr>
        <p:spPr>
          <a:xfrm>
            <a:off x="960120" y="34930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登録済みポート</a:t>
            </a:r>
            <a:endParaRPr lang="en-US" sz="1500" dirty="0"/>
          </a:p>
        </p:txBody>
      </p:sp>
      <p:sp>
        <p:nvSpPr>
          <p:cNvPr id="12" name="txt_188"/>
          <p:cNvSpPr txBox="1"/>
          <p:nvPr/>
        </p:nvSpPr>
        <p:spPr>
          <a:xfrm>
            <a:off x="3429000" y="3090672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654"/>
                </a:solidFill>
              </a:rPr>
              <a:t>主要なソフトウェアが申請して押さえている帯。空いている番号は自由に使える。</a:t>
            </a:r>
            <a:endParaRPr lang="en-US" sz="1400" dirty="0"/>
          </a:p>
        </p:txBody>
      </p:sp>
      <p:sp>
        <p:nvSpPr>
          <p:cNvPr id="13" name="chip_189"/>
          <p:cNvSpPr/>
          <p:nvPr/>
        </p:nvSpPr>
        <p:spPr>
          <a:xfrm>
            <a:off x="8458200" y="3346704"/>
            <a:ext cx="2788920" cy="493776"/>
          </a:xfrm>
          <a:prstGeom prst="roundRect">
            <a:avLst>
              <a:gd name="adj" fmla="val 92593"/>
            </a:avLst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14" name="txt_190"/>
          <p:cNvSpPr txBox="1"/>
          <p:nvPr/>
        </p:nvSpPr>
        <p:spPr>
          <a:xfrm>
            <a:off x="8458200" y="3346704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この授業で使う　40001</a:t>
            </a:r>
            <a:endParaRPr lang="en-US" sz="1200" dirty="0"/>
          </a:p>
        </p:txBody>
      </p:sp>
      <p:sp>
        <p:nvSpPr>
          <p:cNvPr id="15" name="card_191"/>
          <p:cNvSpPr/>
          <p:nvPr/>
        </p:nvSpPr>
        <p:spPr>
          <a:xfrm>
            <a:off x="685800" y="4370832"/>
            <a:ext cx="10789920" cy="1335024"/>
          </a:xfrm>
          <a:prstGeom prst="roundRect">
            <a:avLst>
              <a:gd name="adj" fmla="val 4110"/>
            </a:avLst>
          </a:prstGeom>
          <a:solidFill>
            <a:srgbClr val="FFF4E2"/>
          </a:solidFill>
          <a:ln w="12700">
            <a:solidFill>
              <a:srgbClr val="F0CD9A"/>
            </a:solidFill>
            <a:prstDash val="solid"/>
          </a:ln>
        </p:spPr>
      </p:sp>
      <p:sp>
        <p:nvSpPr>
          <p:cNvPr id="16" name="txt_192"/>
          <p:cNvSpPr txBox="1"/>
          <p:nvPr/>
        </p:nvSpPr>
        <p:spPr>
          <a:xfrm>
            <a:off x="960120" y="451713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49152 〜 65535</a:t>
            </a:r>
            <a:endParaRPr lang="en-US" sz="1700" dirty="0"/>
          </a:p>
        </p:txBody>
      </p:sp>
      <p:sp>
        <p:nvSpPr>
          <p:cNvPr id="17" name="txt_193"/>
          <p:cNvSpPr txBox="1"/>
          <p:nvPr/>
        </p:nvSpPr>
        <p:spPr>
          <a:xfrm>
            <a:off x="960120" y="4937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動的・一時ポート</a:t>
            </a:r>
            <a:endParaRPr lang="en-US" sz="1500" dirty="0"/>
          </a:p>
        </p:txBody>
      </p:sp>
      <p:sp>
        <p:nvSpPr>
          <p:cNvPr id="18" name="txt_194"/>
          <p:cNvSpPr txBox="1"/>
          <p:nvPr/>
        </p:nvSpPr>
        <p:spPr>
          <a:xfrm>
            <a:off x="3429000" y="4535424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654"/>
                </a:solidFill>
              </a:rPr>
              <a:t>OSが自動で割り当てる帯。接続する側は、この中から勝手に1つ選ばれる。</a:t>
            </a:r>
            <a:endParaRPr lang="en-US" sz="1400" dirty="0"/>
          </a:p>
        </p:txBody>
      </p:sp>
      <p:sp>
        <p:nvSpPr>
          <p:cNvPr id="19" name="chip_195"/>
          <p:cNvSpPr/>
          <p:nvPr/>
        </p:nvSpPr>
        <p:spPr>
          <a:xfrm>
            <a:off x="8458200" y="4791456"/>
            <a:ext cx="2788920" cy="493776"/>
          </a:xfrm>
          <a:prstGeom prst="roundRect">
            <a:avLst>
              <a:gd name="adj" fmla="val 9259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xt_196"/>
          <p:cNvSpPr txBox="1"/>
          <p:nvPr/>
        </p:nvSpPr>
        <p:spPr>
          <a:xfrm>
            <a:off x="8458200" y="4791456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待ち受けには使わない</a:t>
            </a:r>
            <a:endParaRPr lang="en-US" sz="1200" dirty="0"/>
          </a:p>
        </p:txBody>
      </p:sp>
      <p:sp>
        <p:nvSpPr>
          <p:cNvPr id="21" name="card_197"/>
          <p:cNvSpPr/>
          <p:nvPr/>
        </p:nvSpPr>
        <p:spPr>
          <a:xfrm>
            <a:off x="685800" y="5815584"/>
            <a:ext cx="10789920" cy="0"/>
          </a:xfrm>
          <a:prstGeom prst="roundRect">
            <a:avLst>
              <a:gd name="adj" fmla="val Infinity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507F"/>
                </a:solidFill>
              </a:rPr>
              <a:t>この授業が 40001 を選んだ理由</a:t>
            </a:r>
            <a:endParaRPr lang="en-US" sz="3000" dirty="0"/>
          </a:p>
        </p:txBody>
      </p:sp>
      <p:sp>
        <p:nvSpPr>
          <p:cNvPr id="3" name="card_198"/>
          <p:cNvSpPr/>
          <p:nvPr/>
        </p:nvSpPr>
        <p:spPr>
          <a:xfrm>
            <a:off x="685800" y="1508760"/>
            <a:ext cx="3474720" cy="2514600"/>
          </a:xfrm>
          <a:prstGeom prst="roundRect">
            <a:avLst>
              <a:gd name="adj" fmla="val 2182"/>
            </a:avLst>
          </a:prstGeom>
          <a:solidFill>
            <a:srgbClr val="FDECEC"/>
          </a:solidFill>
          <a:ln w="12700">
            <a:solidFill>
              <a:srgbClr val="F3B9B9"/>
            </a:solidFill>
            <a:prstDash val="solid"/>
          </a:ln>
        </p:spPr>
      </p:sp>
      <p:sp>
        <p:nvSpPr>
          <p:cNvPr id="4" name="txt_199"/>
          <p:cNvSpPr txBox="1"/>
          <p:nvPr/>
        </p:nvSpPr>
        <p:spPr>
          <a:xfrm>
            <a:off x="914400" y="17190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1024 未満</a:t>
            </a:r>
            <a:endParaRPr lang="en-US" sz="1800" dirty="0"/>
          </a:p>
        </p:txBody>
      </p:sp>
      <p:sp>
        <p:nvSpPr>
          <p:cNvPr id="5" name="chip_200"/>
          <p:cNvSpPr/>
          <p:nvPr/>
        </p:nvSpPr>
        <p:spPr>
          <a:xfrm>
            <a:off x="914400" y="2176272"/>
            <a:ext cx="1508760" cy="402336"/>
          </a:xfrm>
          <a:prstGeom prst="roundRect">
            <a:avLst>
              <a:gd name="adj" fmla="val 11363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xt_201"/>
          <p:cNvSpPr txBox="1"/>
          <p:nvPr/>
        </p:nvSpPr>
        <p:spPr>
          <a:xfrm>
            <a:off x="914400" y="2176272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使えない</a:t>
            </a:r>
            <a:endParaRPr lang="en-US" sz="1300" dirty="0"/>
          </a:p>
        </p:txBody>
      </p:sp>
      <p:sp>
        <p:nvSpPr>
          <p:cNvPr id="7" name="txt_202"/>
          <p:cNvSpPr txBox="1"/>
          <p:nvPr/>
        </p:nvSpPr>
        <p:spPr>
          <a:xfrm>
            <a:off x="914400" y="2724912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654"/>
                </a:solidFill>
              </a:rPr>
              <a:t>多くのOSが、待ち受けに管理者権限を要求する。この教室のPCに管理者権限はない。</a:t>
            </a:r>
            <a:endParaRPr lang="en-US" sz="1400" dirty="0"/>
          </a:p>
        </p:txBody>
      </p:sp>
      <p:sp>
        <p:nvSpPr>
          <p:cNvPr id="8" name="card_203"/>
          <p:cNvSpPr/>
          <p:nvPr/>
        </p:nvSpPr>
        <p:spPr>
          <a:xfrm>
            <a:off x="4434840" y="1508760"/>
            <a:ext cx="3474720" cy="2514600"/>
          </a:xfrm>
          <a:prstGeom prst="roundRect">
            <a:avLst>
              <a:gd name="adj" fmla="val 2182"/>
            </a:avLst>
          </a:prstGeom>
          <a:solidFill>
            <a:srgbClr val="EAFAF0"/>
          </a:solidFill>
          <a:ln w="12700">
            <a:solidFill>
              <a:srgbClr val="B9E4C8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9" name="txt_204"/>
          <p:cNvSpPr txBox="1"/>
          <p:nvPr/>
        </p:nvSpPr>
        <p:spPr>
          <a:xfrm>
            <a:off x="4663440" y="17190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40001 番台</a:t>
            </a:r>
            <a:endParaRPr lang="en-US" sz="1800" dirty="0"/>
          </a:p>
        </p:txBody>
      </p:sp>
      <p:sp>
        <p:nvSpPr>
          <p:cNvPr id="10" name="chip_205"/>
          <p:cNvSpPr/>
          <p:nvPr/>
        </p:nvSpPr>
        <p:spPr>
          <a:xfrm>
            <a:off x="4663440" y="2176272"/>
            <a:ext cx="1508760" cy="402336"/>
          </a:xfrm>
          <a:prstGeom prst="roundRect">
            <a:avLst>
              <a:gd name="adj" fmla="val 113636"/>
            </a:avLst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11" name="txt_206"/>
          <p:cNvSpPr txBox="1"/>
          <p:nvPr/>
        </p:nvSpPr>
        <p:spPr>
          <a:xfrm>
            <a:off x="4663440" y="2176272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ここを使う</a:t>
            </a:r>
            <a:endParaRPr lang="en-US" sz="1300" dirty="0"/>
          </a:p>
        </p:txBody>
      </p:sp>
      <p:sp>
        <p:nvSpPr>
          <p:cNvPr id="12" name="txt_207"/>
          <p:cNvSpPr txBox="1"/>
          <p:nvPr/>
        </p:nvSpPr>
        <p:spPr>
          <a:xfrm>
            <a:off x="4663440" y="2724912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654"/>
                </a:solidFill>
              </a:rPr>
              <a:t>権限が要らず、OSの自動割り当てともぶつからない。両方を避けた真ん中の帯。</a:t>
            </a:r>
            <a:endParaRPr lang="en-US" sz="1400" dirty="0"/>
          </a:p>
        </p:txBody>
      </p:sp>
      <p:sp>
        <p:nvSpPr>
          <p:cNvPr id="13" name="card_208"/>
          <p:cNvSpPr/>
          <p:nvPr/>
        </p:nvSpPr>
        <p:spPr>
          <a:xfrm>
            <a:off x="8183880" y="1508760"/>
            <a:ext cx="3474720" cy="2514600"/>
          </a:xfrm>
          <a:prstGeom prst="roundRect">
            <a:avLst>
              <a:gd name="adj" fmla="val 2182"/>
            </a:avLst>
          </a:prstGeom>
          <a:solidFill>
            <a:srgbClr val="FFF4E2"/>
          </a:solidFill>
          <a:ln w="12700">
            <a:solidFill>
              <a:srgbClr val="F0CD9A"/>
            </a:solidFill>
            <a:prstDash val="solid"/>
          </a:ln>
        </p:spPr>
      </p:sp>
      <p:sp>
        <p:nvSpPr>
          <p:cNvPr id="14" name="txt_209"/>
          <p:cNvSpPr txBox="1"/>
          <p:nvPr/>
        </p:nvSpPr>
        <p:spPr>
          <a:xfrm>
            <a:off x="8412480" y="17190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49152 以上</a:t>
            </a:r>
            <a:endParaRPr lang="en-US" sz="1800" dirty="0"/>
          </a:p>
        </p:txBody>
      </p:sp>
      <p:sp>
        <p:nvSpPr>
          <p:cNvPr id="15" name="chip_210"/>
          <p:cNvSpPr/>
          <p:nvPr/>
        </p:nvSpPr>
        <p:spPr>
          <a:xfrm>
            <a:off x="8412480" y="2176272"/>
            <a:ext cx="1508760" cy="402336"/>
          </a:xfrm>
          <a:prstGeom prst="roundRect">
            <a:avLst>
              <a:gd name="adj" fmla="val 11363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xt_211"/>
          <p:cNvSpPr txBox="1"/>
          <p:nvPr/>
        </p:nvSpPr>
        <p:spPr>
          <a:xfrm>
            <a:off x="8412480" y="2176272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避ける</a:t>
            </a:r>
            <a:endParaRPr lang="en-US" sz="1300" dirty="0"/>
          </a:p>
        </p:txBody>
      </p:sp>
      <p:sp>
        <p:nvSpPr>
          <p:cNvPr id="17" name="txt_212"/>
          <p:cNvSpPr txBox="1"/>
          <p:nvPr/>
        </p:nvSpPr>
        <p:spPr>
          <a:xfrm>
            <a:off x="8412480" y="2724912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654"/>
                </a:solidFill>
              </a:rPr>
              <a:t>OSが接続側に自動で割り当てる帯。先に取られていて起動できないことがある。</a:t>
            </a:r>
            <a:endParaRPr lang="en-US" sz="1400" dirty="0"/>
          </a:p>
        </p:txBody>
      </p:sp>
      <p:sp>
        <p:nvSpPr>
          <p:cNvPr id="18" name="card_213"/>
          <p:cNvSpPr/>
          <p:nvPr/>
        </p:nvSpPr>
        <p:spPr>
          <a:xfrm>
            <a:off x="685800" y="4279392"/>
            <a:ext cx="107899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E4C8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19" name="txt_214"/>
          <p:cNvSpPr txBox="1"/>
          <p:nvPr/>
        </p:nvSpPr>
        <p:spPr>
          <a:xfrm>
            <a:off x="1005840" y="4279392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631"/>
                </a:solidFill>
              </a:rPr>
              <a:t>Address already in use が出たら
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前に起動した EchoServer がまだ生きています。そのウィンドウで Ctrl + C。番号を変える必要はありません。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507F"/>
                </a:solidFill>
              </a:rPr>
              <a:t>GitHub Copilot は使ってよい。ただし条件がある</a:t>
            </a:r>
            <a:endParaRPr lang="en-US" sz="3000" dirty="0"/>
          </a:p>
        </p:txBody>
      </p:sp>
      <p:sp>
        <p:nvSpPr>
          <p:cNvPr id="3" name="card_215"/>
          <p:cNvSpPr/>
          <p:nvPr/>
        </p:nvSpPr>
        <p:spPr>
          <a:xfrm>
            <a:off x="685800" y="1371600"/>
            <a:ext cx="10789920" cy="914400"/>
          </a:xfrm>
          <a:prstGeom prst="roundRect">
            <a:avLst>
              <a:gd name="adj" fmla="val 6000"/>
            </a:avLst>
          </a:prstGeom>
          <a:solidFill>
            <a:srgbClr val="FFF1F0"/>
          </a:solidFill>
          <a:ln w="12700">
            <a:solidFill>
              <a:srgbClr val="F0B4AE"/>
            </a:solidFill>
            <a:prstDash val="solid"/>
          </a:ln>
        </p:spPr>
      </p:sp>
      <p:sp>
        <p:nvSpPr>
          <p:cNvPr id="4" name="txt_216"/>
          <p:cNvSpPr txBox="1"/>
          <p:nvPr/>
        </p:nvSpPr>
        <p:spPr>
          <a:xfrm>
            <a:off x="960120" y="13716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F1F"/>
                </a:solidFill>
              </a:rPr>
              <a:t>評価は「動いたか」ではなく「説明できるか」。</a:t>
            </a:r>
            <a:pPr indent="0" marL="0">
              <a:buNone/>
            </a:pPr>
            <a:r>
              <a:rPr lang="en-US" sz="1700" dirty="0">
                <a:solidFill>
                  <a:srgbClr val="7A1F1F"/>
                </a:solidFill>
              </a:rPr>
              <a:t>　提出コードの任意の行について、口頭で説明を求めることがあります。</a:t>
            </a:r>
            <a:endParaRPr lang="en-US" sz="1700" dirty="0"/>
          </a:p>
        </p:txBody>
      </p:sp>
      <p:sp>
        <p:nvSpPr>
          <p:cNvPr id="5" name="card_217"/>
          <p:cNvSpPr/>
          <p:nvPr/>
        </p:nvSpPr>
        <p:spPr>
          <a:xfrm>
            <a:off x="685800" y="2514600"/>
            <a:ext cx="5285232" cy="1298448"/>
          </a:xfrm>
          <a:prstGeom prst="roundRect">
            <a:avLst>
              <a:gd name="adj" fmla="val 4225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6" name="chip_218"/>
          <p:cNvSpPr/>
          <p:nvPr/>
        </p:nvSpPr>
        <p:spPr>
          <a:xfrm>
            <a:off x="914400" y="2752344"/>
            <a:ext cx="402336" cy="402336"/>
          </a:xfrm>
          <a:prstGeom prst="roundRect">
            <a:avLst>
              <a:gd name="adj" fmla="val 113636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7" name="txt_219"/>
          <p:cNvSpPr txBox="1"/>
          <p:nvPr/>
        </p:nvSpPr>
        <p:spPr>
          <a:xfrm>
            <a:off x="914400" y="2752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xt_220"/>
          <p:cNvSpPr txBox="1"/>
          <p:nvPr/>
        </p:nvSpPr>
        <p:spPr>
          <a:xfrm>
            <a:off x="1481328" y="2715768"/>
            <a:ext cx="4233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Tab を押す前に、提案を読む</a:t>
            </a:r>
            <a:endParaRPr lang="en-US" sz="1600" dirty="0"/>
          </a:p>
        </p:txBody>
      </p:sp>
      <p:sp>
        <p:nvSpPr>
          <p:cNvPr id="9" name="txt_221"/>
          <p:cNvSpPr txBox="1"/>
          <p:nvPr/>
        </p:nvSpPr>
        <p:spPr>
          <a:xfrm>
            <a:off x="1481328" y="3172968"/>
            <a:ext cx="4233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読まずに押した行は、自分のコードではありません</a:t>
            </a:r>
            <a:endParaRPr lang="en-US" sz="1300" dirty="0"/>
          </a:p>
        </p:txBody>
      </p:sp>
      <p:sp>
        <p:nvSpPr>
          <p:cNvPr id="10" name="card_222"/>
          <p:cNvSpPr/>
          <p:nvPr/>
        </p:nvSpPr>
        <p:spPr>
          <a:xfrm>
            <a:off x="6190488" y="2514600"/>
            <a:ext cx="5285232" cy="1298448"/>
          </a:xfrm>
          <a:prstGeom prst="roundRect">
            <a:avLst>
              <a:gd name="adj" fmla="val 4225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11" name="chip_223"/>
          <p:cNvSpPr/>
          <p:nvPr/>
        </p:nvSpPr>
        <p:spPr>
          <a:xfrm>
            <a:off x="6419088" y="2752344"/>
            <a:ext cx="402336" cy="402336"/>
          </a:xfrm>
          <a:prstGeom prst="roundRect">
            <a:avLst>
              <a:gd name="adj" fmla="val 113636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xt_224"/>
          <p:cNvSpPr txBox="1"/>
          <p:nvPr/>
        </p:nvSpPr>
        <p:spPr>
          <a:xfrm>
            <a:off x="6419088" y="2752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xt_225"/>
          <p:cNvSpPr txBox="1"/>
          <p:nvPr/>
        </p:nvSpPr>
        <p:spPr>
          <a:xfrm>
            <a:off x="6986016" y="2715768"/>
            <a:ext cx="4233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プロンプトを記録する</a:t>
            </a:r>
            <a:endParaRPr lang="en-US" sz="1600" dirty="0"/>
          </a:p>
        </p:txBody>
      </p:sp>
      <p:sp>
        <p:nvSpPr>
          <p:cNvPr id="14" name="txt_226"/>
          <p:cNvSpPr txBox="1"/>
          <p:nvPr/>
        </p:nvSpPr>
        <p:spPr>
          <a:xfrm>
            <a:off x="6986016" y="3172968"/>
            <a:ext cx="4233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提出物に prompt_log.md が含まれます</a:t>
            </a:r>
            <a:endParaRPr lang="en-US" sz="1300" dirty="0"/>
          </a:p>
        </p:txBody>
      </p:sp>
      <p:sp>
        <p:nvSpPr>
          <p:cNvPr id="15" name="card_227"/>
          <p:cNvSpPr/>
          <p:nvPr/>
        </p:nvSpPr>
        <p:spPr>
          <a:xfrm>
            <a:off x="685800" y="4032504"/>
            <a:ext cx="5285232" cy="1298448"/>
          </a:xfrm>
          <a:prstGeom prst="roundRect">
            <a:avLst>
              <a:gd name="adj" fmla="val 4225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16" name="chip_228"/>
          <p:cNvSpPr/>
          <p:nvPr/>
        </p:nvSpPr>
        <p:spPr>
          <a:xfrm>
            <a:off x="914400" y="4270248"/>
            <a:ext cx="402336" cy="402336"/>
          </a:xfrm>
          <a:prstGeom prst="roundRect">
            <a:avLst>
              <a:gd name="adj" fmla="val 113636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7" name="txt_229"/>
          <p:cNvSpPr txBox="1"/>
          <p:nvPr/>
        </p:nvSpPr>
        <p:spPr>
          <a:xfrm>
            <a:off x="914400" y="4270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xt_230"/>
          <p:cNvSpPr txBox="1"/>
          <p:nvPr/>
        </p:nvSpPr>
        <p:spPr>
          <a:xfrm>
            <a:off x="1481328" y="4233672"/>
            <a:ext cx="4233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入力してはいけないもの</a:t>
            </a:r>
            <a:endParaRPr lang="en-US" sz="1600" dirty="0"/>
          </a:p>
        </p:txBody>
      </p:sp>
      <p:sp>
        <p:nvSpPr>
          <p:cNvPr id="19" name="txt_231"/>
          <p:cNvSpPr txBox="1"/>
          <p:nvPr/>
        </p:nvSpPr>
        <p:spPr>
          <a:xfrm>
            <a:off x="1481328" y="4690872"/>
            <a:ext cx="4233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学籍番号・氏名・パスワード・未公開の配布資料</a:t>
            </a:r>
            <a:endParaRPr lang="en-US" sz="1300" dirty="0"/>
          </a:p>
        </p:txBody>
      </p:sp>
      <p:sp>
        <p:nvSpPr>
          <p:cNvPr id="20" name="card_232"/>
          <p:cNvSpPr/>
          <p:nvPr/>
        </p:nvSpPr>
        <p:spPr>
          <a:xfrm>
            <a:off x="6190488" y="4032504"/>
            <a:ext cx="5285232" cy="1298448"/>
          </a:xfrm>
          <a:prstGeom prst="roundRect">
            <a:avLst>
              <a:gd name="adj" fmla="val 4225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21" name="chip_233"/>
          <p:cNvSpPr/>
          <p:nvPr/>
        </p:nvSpPr>
        <p:spPr>
          <a:xfrm>
            <a:off x="6419088" y="4270248"/>
            <a:ext cx="402336" cy="402336"/>
          </a:xfrm>
          <a:prstGeom prst="roundRect">
            <a:avLst>
              <a:gd name="adj" fmla="val 113636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2" name="txt_234"/>
          <p:cNvSpPr txBox="1"/>
          <p:nvPr/>
        </p:nvSpPr>
        <p:spPr>
          <a:xfrm>
            <a:off x="6419088" y="4270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xt_235"/>
          <p:cNvSpPr txBox="1"/>
          <p:nvPr/>
        </p:nvSpPr>
        <p:spPr>
          <a:xfrm>
            <a:off x="6986016" y="4233672"/>
            <a:ext cx="4233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動いても、理由は別問題</a:t>
            </a:r>
            <a:endParaRPr lang="en-US" sz="1600" dirty="0"/>
          </a:p>
        </p:txBody>
      </p:sp>
      <p:sp>
        <p:nvSpPr>
          <p:cNvPr id="24" name="txt_236"/>
          <p:cNvSpPr txBox="1"/>
          <p:nvPr/>
        </p:nvSpPr>
        <p:spPr>
          <a:xfrm>
            <a:off x="6986016" y="4690872"/>
            <a:ext cx="4233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期待した理由で動いているとは限りません。必ず自分で実行して確認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507F"/>
                </a:solidFill>
              </a:rPr>
              <a:t>ネットワークのコードで、Copilot が特に間違える3点</a:t>
            </a:r>
            <a:endParaRPr lang="en-US" sz="3000" dirty="0"/>
          </a:p>
        </p:txBody>
      </p:sp>
      <p:sp>
        <p:nvSpPr>
          <p:cNvPr id="3" name="card_237"/>
          <p:cNvSpPr/>
          <p:nvPr/>
        </p:nvSpPr>
        <p:spPr>
          <a:xfrm>
            <a:off x="685800" y="1463040"/>
            <a:ext cx="1078992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4" name="chip_238"/>
          <p:cNvSpPr/>
          <p:nvPr/>
        </p:nvSpPr>
        <p:spPr>
          <a:xfrm>
            <a:off x="960120" y="1700784"/>
            <a:ext cx="402336" cy="402336"/>
          </a:xfrm>
          <a:prstGeom prst="roundRect">
            <a:avLst>
              <a:gd name="adj" fmla="val 11363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xt_239"/>
          <p:cNvSpPr txBox="1"/>
          <p:nvPr/>
        </p:nvSpPr>
        <p:spPr>
          <a:xfrm>
            <a:off x="960120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xt_240"/>
          <p:cNvSpPr txBox="1"/>
          <p:nvPr/>
        </p:nvSpPr>
        <p:spPr>
          <a:xfrm>
            <a:off x="1536192" y="16642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タイムアウトを設定しない</a:t>
            </a:r>
            <a:endParaRPr lang="en-US" sz="1600" dirty="0"/>
          </a:p>
        </p:txBody>
      </p:sp>
      <p:sp>
        <p:nvSpPr>
          <p:cNvPr id="7" name="txt_241"/>
          <p:cNvSpPr txBox="1"/>
          <p:nvPr/>
        </p:nvSpPr>
        <p:spPr>
          <a:xfrm>
            <a:off x="1536192" y="215798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前者はタイムアウトを指定できません。今日の課題では後者を使います。</a:t>
            </a:r>
            <a:endParaRPr lang="en-US" sz="1250" dirty="0"/>
          </a:p>
        </p:txBody>
      </p:sp>
      <p:sp>
        <p:nvSpPr>
          <p:cNvPr id="8" name="txt_242"/>
          <p:cNvSpPr txBox="1"/>
          <p:nvPr/>
        </p:nvSpPr>
        <p:spPr>
          <a:xfrm>
            <a:off x="5669280" y="173736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</a:rPr>
              <a:t>✕</a:t>
            </a:r>
            <a:endParaRPr lang="en-US" sz="1500" dirty="0"/>
          </a:p>
        </p:txBody>
      </p:sp>
      <p:sp>
        <p:nvSpPr>
          <p:cNvPr id="9" name="txt_243"/>
          <p:cNvSpPr txBox="1"/>
          <p:nvPr/>
        </p:nvSpPr>
        <p:spPr>
          <a:xfrm>
            <a:off x="5989320" y="173736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0392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new Socket(host, port)</a:t>
            </a:r>
            <a:endParaRPr lang="en-US" sz="1350" dirty="0"/>
          </a:p>
        </p:txBody>
      </p:sp>
      <p:sp>
        <p:nvSpPr>
          <p:cNvPr id="10" name="txt_244"/>
          <p:cNvSpPr txBox="1"/>
          <p:nvPr/>
        </p:nvSpPr>
        <p:spPr>
          <a:xfrm>
            <a:off x="5669280" y="226771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9E44"/>
                </a:solidFill>
              </a:rPr>
              <a:t>✓</a:t>
            </a:r>
            <a:endParaRPr lang="en-US" sz="1500" dirty="0"/>
          </a:p>
        </p:txBody>
      </p:sp>
      <p:sp>
        <p:nvSpPr>
          <p:cNvPr id="11" name="txt_245"/>
          <p:cNvSpPr txBox="1"/>
          <p:nvPr/>
        </p:nvSpPr>
        <p:spPr>
          <a:xfrm>
            <a:off x="5989320" y="226771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6631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socket.connect(addr, 2000)</a:t>
            </a:r>
            <a:endParaRPr lang="en-US" sz="1350" dirty="0"/>
          </a:p>
        </p:txBody>
      </p:sp>
      <p:sp>
        <p:nvSpPr>
          <p:cNvPr id="12" name="card_246"/>
          <p:cNvSpPr/>
          <p:nvPr/>
        </p:nvSpPr>
        <p:spPr>
          <a:xfrm>
            <a:off x="685800" y="3017520"/>
            <a:ext cx="1078992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13" name="chip_247"/>
          <p:cNvSpPr/>
          <p:nvPr/>
        </p:nvSpPr>
        <p:spPr>
          <a:xfrm>
            <a:off x="960120" y="3255264"/>
            <a:ext cx="402336" cy="402336"/>
          </a:xfrm>
          <a:prstGeom prst="roundRect">
            <a:avLst>
              <a:gd name="adj" fmla="val 11363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xt_248"/>
          <p:cNvSpPr txBox="1"/>
          <p:nvPr/>
        </p:nvSpPr>
        <p:spPr>
          <a:xfrm>
            <a:off x="960120" y="3255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xt_249"/>
          <p:cNvSpPr txBox="1"/>
          <p:nvPr/>
        </p:nvSpPr>
        <p:spPr>
          <a:xfrm>
            <a:off x="1536192" y="32186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例外をまとめて捕まえる</a:t>
            </a:r>
            <a:endParaRPr lang="en-US" sz="1600" dirty="0"/>
          </a:p>
        </p:txBody>
      </p:sp>
      <p:sp>
        <p:nvSpPr>
          <p:cNvPr id="16" name="txt_250"/>
          <p:cNvSpPr txBox="1"/>
          <p:nvPr/>
        </p:nvSpPr>
        <p:spPr>
          <a:xfrm>
            <a:off x="1536192" y="371246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今日の学習内容そのものなので、これをやると課題が通りません。</a:t>
            </a:r>
            <a:endParaRPr lang="en-US" sz="1250" dirty="0"/>
          </a:p>
        </p:txBody>
      </p:sp>
      <p:sp>
        <p:nvSpPr>
          <p:cNvPr id="17" name="txt_251"/>
          <p:cNvSpPr txBox="1"/>
          <p:nvPr/>
        </p:nvSpPr>
        <p:spPr>
          <a:xfrm>
            <a:off x="5669280" y="329184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</a:rPr>
              <a:t>✕</a:t>
            </a:r>
            <a:endParaRPr lang="en-US" sz="1500" dirty="0"/>
          </a:p>
        </p:txBody>
      </p:sp>
      <p:sp>
        <p:nvSpPr>
          <p:cNvPr id="18" name="txt_252"/>
          <p:cNvSpPr txBox="1"/>
          <p:nvPr/>
        </p:nvSpPr>
        <p:spPr>
          <a:xfrm>
            <a:off x="5989320" y="329184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0392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catch (Exception e)</a:t>
            </a:r>
            <a:endParaRPr lang="en-US" sz="1350" dirty="0"/>
          </a:p>
        </p:txBody>
      </p:sp>
      <p:sp>
        <p:nvSpPr>
          <p:cNvPr id="19" name="txt_253"/>
          <p:cNvSpPr txBox="1"/>
          <p:nvPr/>
        </p:nvSpPr>
        <p:spPr>
          <a:xfrm>
            <a:off x="5669280" y="382219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9E44"/>
                </a:solidFill>
              </a:rPr>
              <a:t>✓</a:t>
            </a:r>
            <a:endParaRPr lang="en-US" sz="1500" dirty="0"/>
          </a:p>
        </p:txBody>
      </p:sp>
      <p:sp>
        <p:nvSpPr>
          <p:cNvPr id="20" name="txt_254"/>
          <p:cNvSpPr txBox="1"/>
          <p:nvPr/>
        </p:nvSpPr>
        <p:spPr>
          <a:xfrm>
            <a:off x="5989320" y="382219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6631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3種類に分けて catch</a:t>
            </a:r>
            <a:endParaRPr lang="en-US" sz="1350" dirty="0"/>
          </a:p>
        </p:txBody>
      </p:sp>
      <p:sp>
        <p:nvSpPr>
          <p:cNvPr id="21" name="card_255"/>
          <p:cNvSpPr/>
          <p:nvPr/>
        </p:nvSpPr>
        <p:spPr>
          <a:xfrm>
            <a:off x="685800" y="4572000"/>
            <a:ext cx="1078992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22" name="chip_256"/>
          <p:cNvSpPr/>
          <p:nvPr/>
        </p:nvSpPr>
        <p:spPr>
          <a:xfrm>
            <a:off x="960120" y="4809744"/>
            <a:ext cx="402336" cy="402336"/>
          </a:xfrm>
          <a:prstGeom prst="roundRect">
            <a:avLst>
              <a:gd name="adj" fmla="val 11363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xt_257"/>
          <p:cNvSpPr txBox="1"/>
          <p:nvPr/>
        </p:nvSpPr>
        <p:spPr>
          <a:xfrm>
            <a:off x="960120" y="4809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xt_258"/>
          <p:cNvSpPr txBox="1"/>
          <p:nvPr/>
        </p:nvSpPr>
        <p:spPr>
          <a:xfrm>
            <a:off x="1536192" y="47731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文字コードを指定しない</a:t>
            </a:r>
            <a:endParaRPr lang="en-US" sz="1600" dirty="0"/>
          </a:p>
        </p:txBody>
      </p:sp>
      <p:sp>
        <p:nvSpPr>
          <p:cNvPr id="25" name="txt_259"/>
          <p:cNvSpPr txBox="1"/>
          <p:nvPr/>
        </p:nvSpPr>
        <p:spPr>
          <a:xfrm>
            <a:off x="1536192" y="526694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第2回で必ず問題になります。</a:t>
            </a:r>
            <a:endParaRPr lang="en-US" sz="1250" dirty="0"/>
          </a:p>
        </p:txBody>
      </p:sp>
      <p:sp>
        <p:nvSpPr>
          <p:cNvPr id="26" name="txt_260"/>
          <p:cNvSpPr txBox="1"/>
          <p:nvPr/>
        </p:nvSpPr>
        <p:spPr>
          <a:xfrm>
            <a:off x="5669280" y="484632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</a:rPr>
              <a:t>✕</a:t>
            </a:r>
            <a:endParaRPr lang="en-US" sz="1500" dirty="0"/>
          </a:p>
        </p:txBody>
      </p:sp>
      <p:sp>
        <p:nvSpPr>
          <p:cNvPr id="27" name="txt_261"/>
          <p:cNvSpPr txBox="1"/>
          <p:nvPr/>
        </p:nvSpPr>
        <p:spPr>
          <a:xfrm>
            <a:off x="5989320" y="484632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0392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new InputStreamReader(in)</a:t>
            </a:r>
            <a:endParaRPr lang="en-US" sz="1350" dirty="0"/>
          </a:p>
        </p:txBody>
      </p:sp>
      <p:sp>
        <p:nvSpPr>
          <p:cNvPr id="28" name="txt_262"/>
          <p:cNvSpPr txBox="1"/>
          <p:nvPr/>
        </p:nvSpPr>
        <p:spPr>
          <a:xfrm>
            <a:off x="5669280" y="537667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9E44"/>
                </a:solidFill>
              </a:rPr>
              <a:t>✓</a:t>
            </a:r>
            <a:endParaRPr lang="en-US" sz="1500" dirty="0"/>
          </a:p>
        </p:txBody>
      </p:sp>
      <p:sp>
        <p:nvSpPr>
          <p:cNvPr id="29" name="txt_263"/>
          <p:cNvSpPr txBox="1"/>
          <p:nvPr/>
        </p:nvSpPr>
        <p:spPr>
          <a:xfrm>
            <a:off x="5989320" y="537667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6631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StandardCharsets.UTF_8 を渡す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264"/>
          <p:cNvSpPr txBox="1"/>
          <p:nvPr/>
        </p:nvSpPr>
        <p:spPr>
          <a:xfrm>
            <a:off x="822960" y="17830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9CC4E4"/>
                </a:solidFill>
              </a:rPr>
              <a:t>PART 2 〜 PART 5</a:t>
            </a:r>
            <a:endParaRPr lang="en-US" sz="17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2402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演習：観察 → 名前解決 → 接続 → バイト列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7033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FE3F2"/>
                </a:solidFill>
              </a:rPr>
              <a:t>下から積みます。前が通ってから次へ進んでください。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507F"/>
                </a:solidFill>
              </a:rPr>
              <a:t>演習A：観察　／　演習B：名前解決</a:t>
            </a:r>
            <a:endParaRPr lang="en-US" sz="3000" dirty="0"/>
          </a:p>
        </p:txBody>
      </p:sp>
      <p:sp>
        <p:nvSpPr>
          <p:cNvPr id="3" name="card_265"/>
          <p:cNvSpPr/>
          <p:nvPr/>
        </p:nvSpPr>
        <p:spPr>
          <a:xfrm>
            <a:off x="685800" y="1417320"/>
            <a:ext cx="5285232" cy="4206240"/>
          </a:xfrm>
          <a:prstGeom prst="roundRect">
            <a:avLst>
              <a:gd name="adj" fmla="val 1304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4" name="chip_266"/>
          <p:cNvSpPr/>
          <p:nvPr/>
        </p:nvSpPr>
        <p:spPr>
          <a:xfrm>
            <a:off x="960120" y="1664208"/>
            <a:ext cx="1005840" cy="384048"/>
          </a:xfrm>
          <a:prstGeom prst="roundRect">
            <a:avLst>
              <a:gd name="adj" fmla="val 119048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xt_267"/>
          <p:cNvSpPr txBox="1"/>
          <p:nvPr/>
        </p:nvSpPr>
        <p:spPr>
          <a:xfrm>
            <a:off x="960120" y="16642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演習A</a:t>
            </a:r>
            <a:endParaRPr lang="en-US" sz="1200" dirty="0"/>
          </a:p>
        </p:txBody>
      </p:sp>
      <p:sp>
        <p:nvSpPr>
          <p:cNvPr id="6" name="txt_268"/>
          <p:cNvSpPr txBox="1"/>
          <p:nvPr/>
        </p:nvSpPr>
        <p:spPr>
          <a:xfrm>
            <a:off x="2103120" y="16642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自分のPCを観察する</a:t>
            </a:r>
            <a:endParaRPr lang="en-US" sz="1700" dirty="0"/>
          </a:p>
        </p:txBody>
      </p:sp>
      <p:sp>
        <p:nvSpPr>
          <p:cNvPr id="7" name="txt_269"/>
          <p:cNvSpPr txBox="1"/>
          <p:nvPr/>
        </p:nvSpPr>
        <p:spPr>
          <a:xfrm>
            <a:off x="960120" y="21762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まだ Java を書きません。</a:t>
            </a:r>
            <a:endParaRPr lang="en-US" sz="1300" dirty="0"/>
          </a:p>
        </p:txBody>
      </p:sp>
      <p:sp>
        <p:nvSpPr>
          <p:cNvPr id="8" name="code_270"/>
          <p:cNvSpPr/>
          <p:nvPr/>
        </p:nvSpPr>
        <p:spPr>
          <a:xfrm>
            <a:off x="960120" y="2542032"/>
            <a:ext cx="4736592" cy="1417320"/>
          </a:xfrm>
          <a:prstGeom prst="roundRect">
            <a:avLst>
              <a:gd name="adj" fmla="val 2581"/>
            </a:avLst>
          </a:prstGeom>
          <a:solidFill>
            <a:srgbClr val="F4F6F9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9" name="txt_271"/>
          <p:cNvSpPr txBox="1"/>
          <p:nvPr/>
        </p:nvSpPr>
        <p:spPr>
          <a:xfrm>
            <a:off x="1124712" y="2670048"/>
            <a:ext cx="440740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ipconfig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ping localhost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nslookup www.doshisha.ac.jp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netstat -an | findstr LISTENING</a:t>
            </a:r>
            <a:endParaRPr lang="en-US" sz="1250" dirty="0"/>
          </a:p>
        </p:txBody>
      </p:sp>
      <p:sp>
        <p:nvSpPr>
          <p:cNvPr id="10" name="txt_272"/>
          <p:cNvSpPr txBox="1"/>
          <p:nvPr/>
        </p:nvSpPr>
        <p:spPr>
          <a:xfrm>
            <a:off x="960120" y="411480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8507F"/>
                </a:solidFill>
              </a:rPr>
              <a:t>控えること
</a:t>
            </a:r>
            <a:pPr indent="0" marL="0">
              <a:buNone/>
            </a:pPr>
            <a:r>
              <a:rPr lang="en-US" sz="1350" dirty="0">
                <a:solidFill>
                  <a:srgbClr val="3A4654"/>
                </a:solidFill>
              </a:rPr>
              <a:t>・自分のIPv4アドレス</a:t>
            </a:r>
            <a:endParaRPr lang="en-US" sz="1300" dirty="0"/>
          </a:p>
          <a:p>
            <a:pPr indent="0" marL="0">
              <a:buNone/>
            </a:pPr>
            <a:r>
              <a:rPr lang="en-US" sz="1350" dirty="0">
                <a:solidFill>
                  <a:srgbClr val="3A4654"/>
                </a:solidFill>
              </a:rPr>
              <a:t>・LISTENING のポート番号</a:t>
            </a:r>
            <a:endParaRPr lang="en-US" sz="1300" dirty="0"/>
          </a:p>
          <a:p>
            <a:pPr indent="0" marL="0">
              <a:buNone/>
            </a:pPr>
            <a:r>
              <a:rPr lang="en-US" sz="1350" dirty="0">
                <a:solidFill>
                  <a:srgbClr val="3A4654"/>
                </a:solidFill>
              </a:rPr>
              <a:t>・ping の応答時間（演習Cで比べます）</a:t>
            </a:r>
            <a:endParaRPr lang="en-US" sz="1300" dirty="0"/>
          </a:p>
        </p:txBody>
      </p:sp>
      <p:sp>
        <p:nvSpPr>
          <p:cNvPr id="11" name="card_273"/>
          <p:cNvSpPr/>
          <p:nvPr/>
        </p:nvSpPr>
        <p:spPr>
          <a:xfrm>
            <a:off x="6190488" y="1417320"/>
            <a:ext cx="5285232" cy="4206240"/>
          </a:xfrm>
          <a:prstGeom prst="roundRect">
            <a:avLst>
              <a:gd name="adj" fmla="val 1304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12" name="chip_274"/>
          <p:cNvSpPr/>
          <p:nvPr/>
        </p:nvSpPr>
        <p:spPr>
          <a:xfrm>
            <a:off x="6464808" y="1664208"/>
            <a:ext cx="1005840" cy="384048"/>
          </a:xfrm>
          <a:prstGeom prst="roundRect">
            <a:avLst>
              <a:gd name="adj" fmla="val 119048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xt_275"/>
          <p:cNvSpPr txBox="1"/>
          <p:nvPr/>
        </p:nvSpPr>
        <p:spPr>
          <a:xfrm>
            <a:off x="6464808" y="16642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演習B</a:t>
            </a:r>
            <a:endParaRPr lang="en-US" sz="1200" dirty="0"/>
          </a:p>
        </p:txBody>
      </p:sp>
      <p:sp>
        <p:nvSpPr>
          <p:cNvPr id="14" name="txt_276"/>
          <p:cNvSpPr txBox="1"/>
          <p:nvPr/>
        </p:nvSpPr>
        <p:spPr>
          <a:xfrm>
            <a:off x="7607808" y="16642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名前解決を Java で書く</a:t>
            </a:r>
            <a:endParaRPr lang="en-US" sz="1700" dirty="0"/>
          </a:p>
        </p:txBody>
      </p:sp>
      <p:sp>
        <p:nvSpPr>
          <p:cNvPr id="15" name="txt_277"/>
          <p:cNvSpPr txBox="1"/>
          <p:nvPr/>
        </p:nvSpPr>
        <p:spPr>
          <a:xfrm>
            <a:off x="6464808" y="21762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Copilot を使うのは、ここが初めて。</a:t>
            </a:r>
            <a:endParaRPr lang="en-US" sz="1300" dirty="0"/>
          </a:p>
        </p:txBody>
      </p:sp>
      <p:sp>
        <p:nvSpPr>
          <p:cNvPr id="16" name="code_278"/>
          <p:cNvSpPr/>
          <p:nvPr/>
        </p:nvSpPr>
        <p:spPr>
          <a:xfrm>
            <a:off x="6464808" y="2542032"/>
            <a:ext cx="4736592" cy="1417320"/>
          </a:xfrm>
          <a:prstGeom prst="roundRect">
            <a:avLst>
              <a:gd name="adj" fmla="val 2581"/>
            </a:avLst>
          </a:prstGeom>
          <a:solidFill>
            <a:srgbClr val="F4F6F9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7" name="txt_279"/>
          <p:cNvSpPr txBox="1"/>
          <p:nvPr/>
        </p:nvSpPr>
        <p:spPr>
          <a:xfrm>
            <a:off x="6629400" y="2670048"/>
            <a:ext cx="440740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// 引数のホスト名を InetAddress で解決し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// ホスト名とIPを1行ずつ表示する。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// 解決できなければ UnknownHostException を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// 捕まえて UNKNOWN_HOST と表示する。</a:t>
            </a:r>
            <a:endParaRPr lang="en-US" sz="1250" dirty="0"/>
          </a:p>
        </p:txBody>
      </p:sp>
      <p:sp>
        <p:nvSpPr>
          <p:cNvPr id="18" name="txt_280"/>
          <p:cNvSpPr txBox="1"/>
          <p:nvPr/>
        </p:nvSpPr>
        <p:spPr>
          <a:xfrm>
            <a:off x="6464808" y="411480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8507F"/>
                </a:solidFill>
              </a:rPr>
              <a:t>Tab を押す前に確認
</a:t>
            </a:r>
            <a:pPr indent="0" marL="0">
              <a:buNone/>
            </a:pPr>
            <a:r>
              <a:rPr lang="en-US" sz="1350" dirty="0">
                <a:solidFill>
                  <a:srgbClr val="3A4654"/>
                </a:solidFill>
              </a:rPr>
              <a:t>・catch は UnknownHostException か</a:t>
            </a:r>
            <a:endParaRPr lang="en-US" sz="1300" dirty="0"/>
          </a:p>
          <a:p>
            <a:pPr indent="0" marL="0">
              <a:buNone/>
            </a:pPr>
            <a:r>
              <a:rPr lang="en-US" sz="1350" dirty="0">
                <a:solidFill>
                  <a:srgbClr val="3A4654"/>
                </a:solidFill>
              </a:rPr>
              <a:t>・使っているのは InetAddress か</a:t>
            </a:r>
            <a:endParaRPr lang="en-US" sz="1300" dirty="0"/>
          </a:p>
          <a:p>
            <a:pPr indent="0" marL="0">
              <a:buNone/>
            </a:pPr>
            <a:r>
              <a:rPr lang="en-US" sz="1350" dirty="0">
                <a:solidFill>
                  <a:srgbClr val="3A4654"/>
                </a:solidFill>
              </a:rPr>
              <a:t>・違えば Esc で消して、コメントを足して出し直す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507F"/>
                </a:solidFill>
              </a:rPr>
              <a:t>「つながらない」は1種類ではない</a:t>
            </a:r>
            <a:endParaRPr lang="en-US" sz="3000" dirty="0"/>
          </a:p>
        </p:txBody>
      </p:sp>
      <p:sp>
        <p:nvSpPr>
          <p:cNvPr id="3" name="txt_281"/>
          <p:cNvSpPr txBox="1"/>
          <p:nvPr/>
        </p:nvSpPr>
        <p:spPr>
          <a:xfrm>
            <a:off x="3154680" y="1261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2606D"/>
                </a:solidFill>
              </a:rPr>
              <a:t>① 名前を引く</a:t>
            </a:r>
            <a:endParaRPr lang="en-US" sz="1250" dirty="0"/>
          </a:p>
        </p:txBody>
      </p:sp>
      <p:sp>
        <p:nvSpPr>
          <p:cNvPr id="4" name="txt_282"/>
          <p:cNvSpPr txBox="1"/>
          <p:nvPr/>
        </p:nvSpPr>
        <p:spPr>
          <a:xfrm>
            <a:off x="5532120" y="1261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2606D"/>
                </a:solidFill>
              </a:rPr>
              <a:t>② 接続要求を送る</a:t>
            </a:r>
            <a:endParaRPr lang="en-US" sz="1250" dirty="0"/>
          </a:p>
        </p:txBody>
      </p:sp>
      <p:sp>
        <p:nvSpPr>
          <p:cNvPr id="5" name="txt_283"/>
          <p:cNvSpPr txBox="1"/>
          <p:nvPr/>
        </p:nvSpPr>
        <p:spPr>
          <a:xfrm>
            <a:off x="7909560" y="1261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2606D"/>
                </a:solidFill>
              </a:rPr>
              <a:t>③ 相手が応答する</a:t>
            </a:r>
            <a:endParaRPr lang="en-US" sz="1250" dirty="0"/>
          </a:p>
        </p:txBody>
      </p:sp>
      <p:sp>
        <p:nvSpPr>
          <p:cNvPr id="6" name="ln_284"/>
          <p:cNvSpPr/>
          <p:nvPr/>
        </p:nvSpPr>
        <p:spPr>
          <a:xfrm>
            <a:off x="685800" y="1627632"/>
            <a:ext cx="10789920" cy="0"/>
          </a:xfrm>
          <a:prstGeom prst="line">
            <a:avLst/>
          </a:prstGeom>
          <a:noFill/>
          <a:ln w="19050">
            <a:solidFill>
              <a:srgbClr val="D9DEE5"/>
            </a:solidFill>
            <a:prstDash val="solid"/>
          </a:ln>
        </p:spPr>
      </p:sp>
      <p:sp>
        <p:nvSpPr>
          <p:cNvPr id="7" name="card_285"/>
          <p:cNvSpPr/>
          <p:nvPr/>
        </p:nvSpPr>
        <p:spPr>
          <a:xfrm>
            <a:off x="685800" y="1874520"/>
            <a:ext cx="2971800" cy="566928"/>
          </a:xfrm>
          <a:prstGeom prst="roundRect">
            <a:avLst>
              <a:gd name="adj" fmla="val 9677"/>
            </a:avLst>
          </a:prstGeom>
          <a:solidFill>
            <a:srgbClr val="FDECEC"/>
          </a:solidFill>
          <a:ln w="12700">
            <a:solidFill>
              <a:srgbClr val="F3B9B9"/>
            </a:solidFill>
            <a:prstDash val="solid"/>
          </a:ln>
        </p:spPr>
      </p:sp>
      <p:sp>
        <p:nvSpPr>
          <p:cNvPr id="8" name="txt_286"/>
          <p:cNvSpPr txBox="1"/>
          <p:nvPr/>
        </p:nvSpPr>
        <p:spPr>
          <a:xfrm>
            <a:off x="685800" y="187452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F1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UNKNOWN_HOST</a:t>
            </a:r>
            <a:endParaRPr lang="en-US" sz="1500" dirty="0"/>
          </a:p>
        </p:txBody>
      </p:sp>
      <p:sp>
        <p:nvSpPr>
          <p:cNvPr id="9" name="ln_287"/>
          <p:cNvSpPr/>
          <p:nvPr/>
        </p:nvSpPr>
        <p:spPr>
          <a:xfrm>
            <a:off x="3749040" y="2157984"/>
            <a:ext cx="63093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dash"/>
          </a:ln>
        </p:spPr>
      </p:sp>
      <p:sp>
        <p:nvSpPr>
          <p:cNvPr id="10" name="ln_288"/>
          <p:cNvSpPr/>
          <p:nvPr/>
        </p:nvSpPr>
        <p:spPr>
          <a:xfrm>
            <a:off x="3749040" y="2157984"/>
            <a:ext cx="411480" cy="0"/>
          </a:xfrm>
          <a:prstGeom prst="line">
            <a:avLst/>
          </a:prstGeom>
          <a:noFill/>
          <a:ln w="31750">
            <a:solidFill>
              <a:srgbClr val="52606D"/>
            </a:solidFill>
            <a:prstDash val="solid"/>
          </a:ln>
        </p:spPr>
      </p:sp>
      <p:sp>
        <p:nvSpPr>
          <p:cNvPr id="11" name="el_289"/>
          <p:cNvSpPr/>
          <p:nvPr/>
        </p:nvSpPr>
        <p:spPr>
          <a:xfrm>
            <a:off x="3959352" y="1956816"/>
            <a:ext cx="402336" cy="402336"/>
          </a:xfrm>
          <a:prstGeom prst="ellipse">
            <a:avLst/>
          </a:prstGeom>
          <a:solidFill>
            <a:srgbClr val="FDECEC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2" name="txt_290"/>
          <p:cNvSpPr txBox="1"/>
          <p:nvPr/>
        </p:nvSpPr>
        <p:spPr>
          <a:xfrm>
            <a:off x="3959352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✕</a:t>
            </a:r>
            <a:endParaRPr lang="en-US" sz="1400" dirty="0"/>
          </a:p>
        </p:txBody>
      </p:sp>
      <p:sp>
        <p:nvSpPr>
          <p:cNvPr id="13" name="el_291"/>
          <p:cNvSpPr/>
          <p:nvPr/>
        </p:nvSpPr>
        <p:spPr>
          <a:xfrm>
            <a:off x="6336792" y="1956816"/>
            <a:ext cx="402336" cy="402336"/>
          </a:xfrm>
          <a:prstGeom prst="ellipse">
            <a:avLst/>
          </a:prstGeom>
          <a:solidFill>
            <a:srgbClr val="F4F6F9"/>
          </a:solidFill>
          <a:ln w="25400">
            <a:solidFill>
              <a:srgbClr val="CBD5E1"/>
            </a:solidFill>
            <a:prstDash val="dash"/>
          </a:ln>
        </p:spPr>
      </p:sp>
      <p:sp>
        <p:nvSpPr>
          <p:cNvPr id="14" name="el_292"/>
          <p:cNvSpPr/>
          <p:nvPr/>
        </p:nvSpPr>
        <p:spPr>
          <a:xfrm>
            <a:off x="8714232" y="1956816"/>
            <a:ext cx="402336" cy="402336"/>
          </a:xfrm>
          <a:prstGeom prst="ellipse">
            <a:avLst/>
          </a:prstGeom>
          <a:solidFill>
            <a:srgbClr val="F4F6F9"/>
          </a:solidFill>
          <a:ln w="25400">
            <a:solidFill>
              <a:srgbClr val="CBD5E1"/>
            </a:solidFill>
            <a:prstDash val="dash"/>
          </a:ln>
        </p:spPr>
      </p:sp>
      <p:sp>
        <p:nvSpPr>
          <p:cNvPr id="15" name="txt_293"/>
          <p:cNvSpPr txBox="1"/>
          <p:nvPr/>
        </p:nvSpPr>
        <p:spPr>
          <a:xfrm>
            <a:off x="10195560" y="18745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≒ 0ms</a:t>
            </a:r>
            <a:endParaRPr lang="en-US" sz="1300" dirty="0"/>
          </a:p>
        </p:txBody>
      </p:sp>
      <p:sp>
        <p:nvSpPr>
          <p:cNvPr id="16" name="txt_294"/>
          <p:cNvSpPr txBox="1"/>
          <p:nvPr/>
        </p:nvSpPr>
        <p:spPr>
          <a:xfrm>
            <a:off x="3749040" y="247802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名前をIPアドレスに変換できない。まだ1バイトも送信していない</a:t>
            </a:r>
            <a:endParaRPr lang="en-US" sz="1250" dirty="0"/>
          </a:p>
        </p:txBody>
      </p:sp>
      <p:sp>
        <p:nvSpPr>
          <p:cNvPr id="17" name="card_295"/>
          <p:cNvSpPr/>
          <p:nvPr/>
        </p:nvSpPr>
        <p:spPr>
          <a:xfrm>
            <a:off x="685800" y="2971800"/>
            <a:ext cx="2971800" cy="566928"/>
          </a:xfrm>
          <a:prstGeom prst="roundRect">
            <a:avLst>
              <a:gd name="adj" fmla="val 9677"/>
            </a:avLst>
          </a:prstGeom>
          <a:solidFill>
            <a:srgbClr val="FDECEC"/>
          </a:solidFill>
          <a:ln w="12700">
            <a:solidFill>
              <a:srgbClr val="F3B9B9"/>
            </a:solidFill>
            <a:prstDash val="solid"/>
          </a:ln>
        </p:spPr>
      </p:sp>
      <p:sp>
        <p:nvSpPr>
          <p:cNvPr id="18" name="txt_296"/>
          <p:cNvSpPr txBox="1"/>
          <p:nvPr/>
        </p:nvSpPr>
        <p:spPr>
          <a:xfrm>
            <a:off x="685800" y="29718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F1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REFUSED</a:t>
            </a:r>
            <a:endParaRPr lang="en-US" sz="1500" dirty="0"/>
          </a:p>
        </p:txBody>
      </p:sp>
      <p:sp>
        <p:nvSpPr>
          <p:cNvPr id="19" name="ln_297"/>
          <p:cNvSpPr/>
          <p:nvPr/>
        </p:nvSpPr>
        <p:spPr>
          <a:xfrm>
            <a:off x="3749040" y="3255264"/>
            <a:ext cx="63093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dash"/>
          </a:ln>
        </p:spPr>
      </p:sp>
      <p:sp>
        <p:nvSpPr>
          <p:cNvPr id="20" name="ln_298"/>
          <p:cNvSpPr/>
          <p:nvPr/>
        </p:nvSpPr>
        <p:spPr>
          <a:xfrm>
            <a:off x="3749040" y="3255264"/>
            <a:ext cx="5166360" cy="0"/>
          </a:xfrm>
          <a:prstGeom prst="line">
            <a:avLst/>
          </a:prstGeom>
          <a:noFill/>
          <a:ln w="31750">
            <a:solidFill>
              <a:srgbClr val="52606D"/>
            </a:solidFill>
            <a:prstDash val="solid"/>
          </a:ln>
        </p:spPr>
      </p:sp>
      <p:sp>
        <p:nvSpPr>
          <p:cNvPr id="21" name="el_299"/>
          <p:cNvSpPr/>
          <p:nvPr/>
        </p:nvSpPr>
        <p:spPr>
          <a:xfrm>
            <a:off x="3959352" y="3054096"/>
            <a:ext cx="402336" cy="402336"/>
          </a:xfrm>
          <a:prstGeom prst="ellipse">
            <a:avLst/>
          </a:prstGeom>
          <a:solidFill>
            <a:srgbClr val="EAFAF0"/>
          </a:solidFill>
          <a:ln w="25400">
            <a:solidFill>
              <a:srgbClr val="2F9E44"/>
            </a:solidFill>
            <a:prstDash val="solid"/>
          </a:ln>
        </p:spPr>
      </p:sp>
      <p:sp>
        <p:nvSpPr>
          <p:cNvPr id="22" name="txt_300"/>
          <p:cNvSpPr txBox="1"/>
          <p:nvPr/>
        </p:nvSpPr>
        <p:spPr>
          <a:xfrm>
            <a:off x="3959352" y="3054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el_301"/>
          <p:cNvSpPr/>
          <p:nvPr/>
        </p:nvSpPr>
        <p:spPr>
          <a:xfrm>
            <a:off x="6336792" y="3054096"/>
            <a:ext cx="402336" cy="402336"/>
          </a:xfrm>
          <a:prstGeom prst="ellipse">
            <a:avLst/>
          </a:prstGeom>
          <a:solidFill>
            <a:srgbClr val="EAFAF0"/>
          </a:solidFill>
          <a:ln w="25400">
            <a:solidFill>
              <a:srgbClr val="2F9E44"/>
            </a:solidFill>
            <a:prstDash val="solid"/>
          </a:ln>
        </p:spPr>
      </p:sp>
      <p:sp>
        <p:nvSpPr>
          <p:cNvPr id="24" name="txt_302"/>
          <p:cNvSpPr txBox="1"/>
          <p:nvPr/>
        </p:nvSpPr>
        <p:spPr>
          <a:xfrm>
            <a:off x="6336792" y="3054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el_303"/>
          <p:cNvSpPr/>
          <p:nvPr/>
        </p:nvSpPr>
        <p:spPr>
          <a:xfrm>
            <a:off x="8714232" y="3054096"/>
            <a:ext cx="402336" cy="402336"/>
          </a:xfrm>
          <a:prstGeom prst="ellipse">
            <a:avLst/>
          </a:prstGeom>
          <a:solidFill>
            <a:srgbClr val="FDECEC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26" name="txt_304"/>
          <p:cNvSpPr txBox="1"/>
          <p:nvPr/>
        </p:nvSpPr>
        <p:spPr>
          <a:xfrm>
            <a:off x="8714232" y="3054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✕</a:t>
            </a:r>
            <a:endParaRPr lang="en-US" sz="1400" dirty="0"/>
          </a:p>
        </p:txBody>
      </p:sp>
      <p:sp>
        <p:nvSpPr>
          <p:cNvPr id="27" name="txt_305"/>
          <p:cNvSpPr txBox="1"/>
          <p:nvPr/>
        </p:nvSpPr>
        <p:spPr>
          <a:xfrm>
            <a:off x="10195560" y="29718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≒ 1ms</a:t>
            </a:r>
            <a:endParaRPr lang="en-US" sz="1300" dirty="0"/>
          </a:p>
        </p:txBody>
      </p:sp>
      <p:sp>
        <p:nvSpPr>
          <p:cNvPr id="28" name="txt_306"/>
          <p:cNvSpPr txBox="1"/>
          <p:nvPr/>
        </p:nvSpPr>
        <p:spPr>
          <a:xfrm>
            <a:off x="3749040" y="357530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相手のPCは居る。しかしその番号で誰も待っていない → 拒否がすぐ返る</a:t>
            </a:r>
            <a:endParaRPr lang="en-US" sz="1250" dirty="0"/>
          </a:p>
        </p:txBody>
      </p:sp>
      <p:sp>
        <p:nvSpPr>
          <p:cNvPr id="29" name="card_307"/>
          <p:cNvSpPr/>
          <p:nvPr/>
        </p:nvSpPr>
        <p:spPr>
          <a:xfrm>
            <a:off x="685800" y="4069080"/>
            <a:ext cx="2971800" cy="566928"/>
          </a:xfrm>
          <a:prstGeom prst="roundRect">
            <a:avLst>
              <a:gd name="adj" fmla="val 9677"/>
            </a:avLst>
          </a:prstGeom>
          <a:solidFill>
            <a:srgbClr val="FDECEC"/>
          </a:solidFill>
          <a:ln w="12700">
            <a:solidFill>
              <a:srgbClr val="F3B9B9"/>
            </a:solidFill>
            <a:prstDash val="solid"/>
          </a:ln>
        </p:spPr>
      </p:sp>
      <p:sp>
        <p:nvSpPr>
          <p:cNvPr id="30" name="txt_308"/>
          <p:cNvSpPr txBox="1"/>
          <p:nvPr/>
        </p:nvSpPr>
        <p:spPr>
          <a:xfrm>
            <a:off x="685800" y="406908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F1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TIMEOUT</a:t>
            </a:r>
            <a:endParaRPr lang="en-US" sz="1500" dirty="0"/>
          </a:p>
        </p:txBody>
      </p:sp>
      <p:sp>
        <p:nvSpPr>
          <p:cNvPr id="31" name="ln_309"/>
          <p:cNvSpPr/>
          <p:nvPr/>
        </p:nvSpPr>
        <p:spPr>
          <a:xfrm>
            <a:off x="3749040" y="4352544"/>
            <a:ext cx="63093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dash"/>
          </a:ln>
        </p:spPr>
      </p:sp>
      <p:sp>
        <p:nvSpPr>
          <p:cNvPr id="32" name="ln_310"/>
          <p:cNvSpPr/>
          <p:nvPr/>
        </p:nvSpPr>
        <p:spPr>
          <a:xfrm>
            <a:off x="3749040" y="4352544"/>
            <a:ext cx="2788920" cy="0"/>
          </a:xfrm>
          <a:prstGeom prst="line">
            <a:avLst/>
          </a:prstGeom>
          <a:noFill/>
          <a:ln w="31750">
            <a:solidFill>
              <a:srgbClr val="52606D"/>
            </a:solidFill>
            <a:prstDash val="solid"/>
          </a:ln>
        </p:spPr>
      </p:sp>
      <p:sp>
        <p:nvSpPr>
          <p:cNvPr id="33" name="el_311"/>
          <p:cNvSpPr/>
          <p:nvPr/>
        </p:nvSpPr>
        <p:spPr>
          <a:xfrm>
            <a:off x="3959352" y="4151376"/>
            <a:ext cx="402336" cy="402336"/>
          </a:xfrm>
          <a:prstGeom prst="ellipse">
            <a:avLst/>
          </a:prstGeom>
          <a:solidFill>
            <a:srgbClr val="EAFAF0"/>
          </a:solidFill>
          <a:ln w="25400">
            <a:solidFill>
              <a:srgbClr val="2F9E44"/>
            </a:solidFill>
            <a:prstDash val="solid"/>
          </a:ln>
        </p:spPr>
      </p:sp>
      <p:sp>
        <p:nvSpPr>
          <p:cNvPr id="34" name="txt_312"/>
          <p:cNvSpPr txBox="1"/>
          <p:nvPr/>
        </p:nvSpPr>
        <p:spPr>
          <a:xfrm>
            <a:off x="3959352" y="4151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35" name="el_313"/>
          <p:cNvSpPr/>
          <p:nvPr/>
        </p:nvSpPr>
        <p:spPr>
          <a:xfrm>
            <a:off x="6336792" y="4151376"/>
            <a:ext cx="402336" cy="402336"/>
          </a:xfrm>
          <a:prstGeom prst="ellipse">
            <a:avLst/>
          </a:prstGeom>
          <a:solidFill>
            <a:srgbClr val="EAFAF0"/>
          </a:solidFill>
          <a:ln w="25400">
            <a:solidFill>
              <a:srgbClr val="2F9E44"/>
            </a:solidFill>
            <a:prstDash val="solid"/>
          </a:ln>
        </p:spPr>
      </p:sp>
      <p:sp>
        <p:nvSpPr>
          <p:cNvPr id="36" name="txt_314"/>
          <p:cNvSpPr txBox="1"/>
          <p:nvPr/>
        </p:nvSpPr>
        <p:spPr>
          <a:xfrm>
            <a:off x="6336792" y="4151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37" name="el_315"/>
          <p:cNvSpPr/>
          <p:nvPr/>
        </p:nvSpPr>
        <p:spPr>
          <a:xfrm>
            <a:off x="8714232" y="4151376"/>
            <a:ext cx="402336" cy="402336"/>
          </a:xfrm>
          <a:prstGeom prst="ellipse">
            <a:avLst/>
          </a:prstGeom>
          <a:solidFill>
            <a:srgbClr val="F4F6F9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38" name="txt_316"/>
          <p:cNvSpPr txBox="1"/>
          <p:nvPr/>
        </p:nvSpPr>
        <p:spPr>
          <a:xfrm>
            <a:off x="8714232" y="4151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7A3"/>
                </a:solidFill>
              </a:rPr>
              <a:t>無</a:t>
            </a:r>
            <a:endParaRPr lang="en-US" sz="1100" dirty="0"/>
          </a:p>
        </p:txBody>
      </p:sp>
      <p:sp>
        <p:nvSpPr>
          <p:cNvPr id="39" name="txt_317"/>
          <p:cNvSpPr txBox="1"/>
          <p:nvPr/>
        </p:nvSpPr>
        <p:spPr>
          <a:xfrm>
            <a:off x="10195560" y="40690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≒ 2000ms</a:t>
            </a:r>
            <a:endParaRPr lang="en-US" sz="1300" dirty="0"/>
          </a:p>
        </p:txBody>
      </p:sp>
      <p:sp>
        <p:nvSpPr>
          <p:cNvPr id="40" name="txt_318"/>
          <p:cNvSpPr txBox="1"/>
          <p:nvPr/>
        </p:nvSpPr>
        <p:spPr>
          <a:xfrm>
            <a:off x="3749040" y="467258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拒否すら返ってこない。指定した2秒を待ちきってから諦める</a:t>
            </a:r>
            <a:endParaRPr lang="en-US" sz="1250" dirty="0"/>
          </a:p>
        </p:txBody>
      </p:sp>
      <p:sp>
        <p:nvSpPr>
          <p:cNvPr id="41" name="card_319"/>
          <p:cNvSpPr/>
          <p:nvPr/>
        </p:nvSpPr>
        <p:spPr>
          <a:xfrm>
            <a:off x="685800" y="5257800"/>
            <a:ext cx="107899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BCDCF2"/>
            </a:solidFill>
            <a:prstDash val="solid"/>
          </a:ln>
        </p:spPr>
      </p:sp>
      <p:sp>
        <p:nvSpPr>
          <p:cNvPr id="42" name="txt_320"/>
          <p:cNvSpPr txBox="1"/>
          <p:nvPr/>
        </p:nvSpPr>
        <p:spPr>
          <a:xfrm>
            <a:off x="960120" y="52578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7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ELAPSED_MS を3つ並べて比べること。</a:t>
            </a:r>
            <a:pPr indent="0" marL="0">
              <a:buNone/>
            </a:pPr>
            <a:r>
              <a:rPr lang="en-US" sz="1500" dirty="0">
                <a:solidFill>
                  <a:srgbClr val="1D4E74"/>
                </a:solidFill>
              </a:rPr>
              <a:t>　どこまで進んで止まったかが、所要時間に表れます。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507F"/>
                </a:solidFill>
              </a:rPr>
              <a:t>次に、成功させる</a:t>
            </a:r>
            <a:endParaRPr lang="en-US" sz="3000" dirty="0"/>
          </a:p>
        </p:txBody>
      </p:sp>
      <p:sp>
        <p:nvSpPr>
          <p:cNvPr id="3" name="txt_321"/>
          <p:cNvSpPr txBox="1"/>
          <p:nvPr/>
        </p:nvSpPr>
        <p:spPr>
          <a:xfrm>
            <a:off x="685800" y="11704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ターミナルをもう1枚開いてください。1枚で両方やろうとすると固まります。</a:t>
            </a:r>
            <a:endParaRPr lang="en-US" sz="1400" dirty="0"/>
          </a:p>
        </p:txBody>
      </p:sp>
      <p:sp>
        <p:nvSpPr>
          <p:cNvPr id="4" name="card_322"/>
          <p:cNvSpPr/>
          <p:nvPr/>
        </p:nvSpPr>
        <p:spPr>
          <a:xfrm>
            <a:off x="685800" y="1627632"/>
            <a:ext cx="5285232" cy="1691640"/>
          </a:xfrm>
          <a:prstGeom prst="roundRect">
            <a:avLst>
              <a:gd name="adj" fmla="val 3243"/>
            </a:avLst>
          </a:prstGeom>
          <a:solidFill>
            <a:srgbClr val="2A2F38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5" name="chip_323"/>
          <p:cNvSpPr/>
          <p:nvPr/>
        </p:nvSpPr>
        <p:spPr>
          <a:xfrm>
            <a:off x="960120" y="1828800"/>
            <a:ext cx="1600200" cy="384048"/>
          </a:xfrm>
          <a:prstGeom prst="roundRect">
            <a:avLst>
              <a:gd name="adj" fmla="val 119048"/>
            </a:avLst>
          </a:prstGeom>
          <a:solidFill>
            <a:srgbClr val="0B6CB5"/>
          </a:solidFill>
          <a:ln w="12700">
            <a:solidFill>
              <a:srgbClr val="0B6CB5"/>
            </a:solidFill>
            <a:prstDash val="solid"/>
          </a:ln>
        </p:spPr>
      </p:sp>
      <p:sp>
        <p:nvSpPr>
          <p:cNvPr id="6" name="txt_324"/>
          <p:cNvSpPr txBox="1"/>
          <p:nvPr/>
        </p:nvSpPr>
        <p:spPr>
          <a:xfrm>
            <a:off x="960120" y="18288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ターミナル ①</a:t>
            </a:r>
            <a:endParaRPr lang="en-US" sz="1200" dirty="0"/>
          </a:p>
        </p:txBody>
      </p:sp>
      <p:sp>
        <p:nvSpPr>
          <p:cNvPr id="7" name="txt_325"/>
          <p:cNvSpPr txBox="1"/>
          <p:nvPr/>
        </p:nvSpPr>
        <p:spPr>
          <a:xfrm>
            <a:off x="2697480" y="18288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479"/>
                </a:solidFill>
              </a:rPr>
              <a:t>起動しっぱなしにする</a:t>
            </a:r>
            <a:endParaRPr lang="en-US" sz="1300" dirty="0"/>
          </a:p>
        </p:txBody>
      </p:sp>
      <p:sp>
        <p:nvSpPr>
          <p:cNvPr id="8" name="txt_326"/>
          <p:cNvSpPr txBox="1"/>
          <p:nvPr/>
        </p:nvSpPr>
        <p:spPr>
          <a:xfrm>
            <a:off x="960120" y="23957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java -jar EchoServer.jar 40001</a:t>
            </a:r>
            <a:endParaRPr lang="en-US" sz="1450" dirty="0"/>
          </a:p>
        </p:txBody>
      </p:sp>
      <p:sp>
        <p:nvSpPr>
          <p:cNvPr id="9" name="card_327"/>
          <p:cNvSpPr/>
          <p:nvPr/>
        </p:nvSpPr>
        <p:spPr>
          <a:xfrm>
            <a:off x="6190488" y="1627632"/>
            <a:ext cx="5285232" cy="1691640"/>
          </a:xfrm>
          <a:prstGeom prst="roundRect">
            <a:avLst>
              <a:gd name="adj" fmla="val 3243"/>
            </a:avLst>
          </a:prstGeom>
          <a:solidFill>
            <a:srgbClr val="2A2F38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10" name="chip_328"/>
          <p:cNvSpPr/>
          <p:nvPr/>
        </p:nvSpPr>
        <p:spPr>
          <a:xfrm>
            <a:off x="6464808" y="1828800"/>
            <a:ext cx="1600200" cy="384048"/>
          </a:xfrm>
          <a:prstGeom prst="roundRect">
            <a:avLst>
              <a:gd name="adj" fmla="val 119048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xt_329"/>
          <p:cNvSpPr txBox="1"/>
          <p:nvPr/>
        </p:nvSpPr>
        <p:spPr>
          <a:xfrm>
            <a:off x="6464808" y="18288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ターミナル ②</a:t>
            </a:r>
            <a:endParaRPr lang="en-US" sz="1200" dirty="0"/>
          </a:p>
        </p:txBody>
      </p:sp>
      <p:sp>
        <p:nvSpPr>
          <p:cNvPr id="12" name="txt_330"/>
          <p:cNvSpPr txBox="1"/>
          <p:nvPr/>
        </p:nvSpPr>
        <p:spPr>
          <a:xfrm>
            <a:off x="8202168" y="18288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479"/>
                </a:solidFill>
              </a:rPr>
              <a:t>別ウィンドウで実行する</a:t>
            </a:r>
            <a:endParaRPr lang="en-US" sz="1300" dirty="0"/>
          </a:p>
        </p:txBody>
      </p:sp>
      <p:sp>
        <p:nvSpPr>
          <p:cNvPr id="13" name="txt_331"/>
          <p:cNvSpPr txBox="1"/>
          <p:nvPr/>
        </p:nvSpPr>
        <p:spPr>
          <a:xfrm>
            <a:off x="6464808" y="23957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java Connect localhost 40001</a:t>
            </a:r>
            <a:endParaRPr lang="en-US" sz="1450" dirty="0"/>
          </a:p>
        </p:txBody>
      </p:sp>
      <p:sp>
        <p:nvSpPr>
          <p:cNvPr id="14" name="card_332"/>
          <p:cNvSpPr/>
          <p:nvPr/>
        </p:nvSpPr>
        <p:spPr>
          <a:xfrm>
            <a:off x="685800" y="3566160"/>
            <a:ext cx="10789920" cy="658368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rgbClr val="C7D6E4"/>
            </a:solidFill>
            <a:prstDash val="solid"/>
          </a:ln>
        </p:spPr>
      </p:sp>
      <p:sp>
        <p:nvSpPr>
          <p:cNvPr id="15" name="chip_333"/>
          <p:cNvSpPr/>
          <p:nvPr/>
        </p:nvSpPr>
        <p:spPr>
          <a:xfrm>
            <a:off x="960120" y="3694176"/>
            <a:ext cx="402336" cy="402336"/>
          </a:xfrm>
          <a:prstGeom prst="roundRect">
            <a:avLst>
              <a:gd name="adj" fmla="val 113636"/>
            </a:avLst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16" name="txt_334"/>
          <p:cNvSpPr txBox="1"/>
          <p:nvPr/>
        </p:nvSpPr>
        <p:spPr>
          <a:xfrm>
            <a:off x="960120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txt_335"/>
          <p:cNvSpPr txBox="1"/>
          <p:nvPr/>
        </p:nvSpPr>
        <p:spPr>
          <a:xfrm>
            <a:off x="1536192" y="356616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chemeClr val="tx1"/>
                </a:solidFill>
              </a:rPr>
              <a:t>ターミナル② に CONNECTED が出る</a:t>
            </a:r>
            <a:endParaRPr lang="en-US" sz="1550" dirty="0"/>
          </a:p>
        </p:txBody>
      </p:sp>
      <p:sp>
        <p:nvSpPr>
          <p:cNvPr id="18" name="card_336"/>
          <p:cNvSpPr/>
          <p:nvPr/>
        </p:nvSpPr>
        <p:spPr>
          <a:xfrm>
            <a:off x="685800" y="4315968"/>
            <a:ext cx="10789920" cy="658368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rgbClr val="C7D6E4"/>
            </a:solidFill>
            <a:prstDash val="solid"/>
          </a:ln>
        </p:spPr>
      </p:sp>
      <p:sp>
        <p:nvSpPr>
          <p:cNvPr id="19" name="chip_337"/>
          <p:cNvSpPr/>
          <p:nvPr/>
        </p:nvSpPr>
        <p:spPr>
          <a:xfrm>
            <a:off x="960120" y="4443984"/>
            <a:ext cx="402336" cy="402336"/>
          </a:xfrm>
          <a:prstGeom prst="roundRect">
            <a:avLst>
              <a:gd name="adj" fmla="val 113636"/>
            </a:avLst>
          </a:prstGeom>
          <a:solidFill>
            <a:srgbClr val="0B6CB5"/>
          </a:solidFill>
          <a:ln w="12700">
            <a:solidFill>
              <a:srgbClr val="0B6CB5"/>
            </a:solidFill>
            <a:prstDash val="solid"/>
          </a:ln>
        </p:spPr>
      </p:sp>
      <p:sp>
        <p:nvSpPr>
          <p:cNvPr id="20" name="txt_338"/>
          <p:cNvSpPr txBox="1"/>
          <p:nvPr/>
        </p:nvSpPr>
        <p:spPr>
          <a:xfrm>
            <a:off x="960120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txt_339"/>
          <p:cNvSpPr txBox="1"/>
          <p:nvPr/>
        </p:nvSpPr>
        <p:spPr>
          <a:xfrm>
            <a:off x="1536192" y="43159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chemeClr val="tx1"/>
                </a:solidFill>
              </a:rPr>
              <a:t>netstat をもう一度実行すると、40001 が LISTENING に現れている</a:t>
            </a:r>
            <a:endParaRPr lang="en-US" sz="1550" dirty="0"/>
          </a:p>
        </p:txBody>
      </p:sp>
      <p:sp>
        <p:nvSpPr>
          <p:cNvPr id="22" name="card_340"/>
          <p:cNvSpPr/>
          <p:nvPr/>
        </p:nvSpPr>
        <p:spPr>
          <a:xfrm>
            <a:off x="685800" y="5065776"/>
            <a:ext cx="10789920" cy="658368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rgbClr val="C7D6E4"/>
            </a:solidFill>
            <a:prstDash val="solid"/>
          </a:ln>
        </p:spPr>
      </p:sp>
      <p:sp>
        <p:nvSpPr>
          <p:cNvPr id="23" name="chip_341"/>
          <p:cNvSpPr/>
          <p:nvPr/>
        </p:nvSpPr>
        <p:spPr>
          <a:xfrm>
            <a:off x="960120" y="5193792"/>
            <a:ext cx="402336" cy="402336"/>
          </a:xfrm>
          <a:prstGeom prst="roundRect">
            <a:avLst>
              <a:gd name="adj" fmla="val 11363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xt_342"/>
          <p:cNvSpPr txBox="1"/>
          <p:nvPr/>
        </p:nvSpPr>
        <p:spPr>
          <a:xfrm>
            <a:off x="960120" y="5193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txt_343"/>
          <p:cNvSpPr txBox="1"/>
          <p:nvPr/>
        </p:nvSpPr>
        <p:spPr>
          <a:xfrm>
            <a:off x="1536192" y="5065776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chemeClr val="tx1"/>
                </a:solidFill>
              </a:rPr>
              <a:t>ターミナル① を Ctrl + C で止めると、再び REFUSED に戻る</a:t>
            </a:r>
            <a:endParaRPr lang="en-US" sz="1550" dirty="0"/>
          </a:p>
        </p:txBody>
      </p:sp>
      <p:sp>
        <p:nvSpPr>
          <p:cNvPr id="26" name="card_344"/>
          <p:cNvSpPr/>
          <p:nvPr/>
        </p:nvSpPr>
        <p:spPr>
          <a:xfrm>
            <a:off x="685800" y="5815584"/>
            <a:ext cx="10789920" cy="0"/>
          </a:xfrm>
          <a:prstGeom prst="roundRect">
            <a:avLst>
              <a:gd name="adj" fmla="val Infinity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507F"/>
                </a:solidFill>
              </a:rPr>
              <a:t>送っているのは「文字列」ではなく「バイト列」</a:t>
            </a:r>
            <a:endParaRPr lang="en-US" sz="3000" dirty="0"/>
          </a:p>
        </p:txBody>
      </p:sp>
      <p:sp>
        <p:nvSpPr>
          <p:cNvPr id="3" name="code_345"/>
          <p:cNvSpPr/>
          <p:nvPr/>
        </p:nvSpPr>
        <p:spPr>
          <a:xfrm>
            <a:off x="685800" y="1417320"/>
            <a:ext cx="5285232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4" name="txt_346"/>
          <p:cNvSpPr txBox="1"/>
          <p:nvPr/>
        </p:nvSpPr>
        <p:spPr>
          <a:xfrm>
            <a:off x="850392" y="1545336"/>
            <a:ext cx="495604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HEX:  48 45 4C 4C 4F 0A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TEXT: HELLO</a:t>
            </a:r>
            <a:endParaRPr lang="en-US" sz="1600" dirty="0"/>
          </a:p>
        </p:txBody>
      </p:sp>
      <p:sp>
        <p:nvSpPr>
          <p:cNvPr id="5" name="txt_347"/>
          <p:cNvSpPr txBox="1"/>
          <p:nvPr/>
        </p:nvSpPr>
        <p:spPr>
          <a:xfrm>
            <a:off x="685800" y="2788920"/>
            <a:ext cx="5285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654"/>
                </a:solidFill>
              </a:rPr>
              <a:t>接続後に UTF-8 で "HELLO\n" を送り、返ってきたバイト列を16進で表示します。</a:t>
            </a:r>
            <a:endParaRPr lang="en-US" sz="1350" dirty="0"/>
          </a:p>
        </p:txBody>
      </p:sp>
      <p:sp>
        <p:nvSpPr>
          <p:cNvPr id="6" name="card_348"/>
          <p:cNvSpPr/>
          <p:nvPr/>
        </p:nvSpPr>
        <p:spPr>
          <a:xfrm>
            <a:off x="6190488" y="1417320"/>
            <a:ext cx="528523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7" name="txt_349"/>
          <p:cNvSpPr txBox="1"/>
          <p:nvPr/>
        </p:nvSpPr>
        <p:spPr>
          <a:xfrm>
            <a:off x="6400800" y="1618488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6CB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0A</a:t>
            </a:r>
            <a:endParaRPr lang="en-US" sz="2800" dirty="0"/>
          </a:p>
        </p:txBody>
      </p:sp>
      <p:sp>
        <p:nvSpPr>
          <p:cNvPr id="8" name="txt_350"/>
          <p:cNvSpPr txBox="1"/>
          <p:nvPr/>
        </p:nvSpPr>
        <p:spPr>
          <a:xfrm>
            <a:off x="7498080" y="161848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改行は1バイトの文字</a:t>
            </a:r>
            <a:endParaRPr lang="en-US" sz="1550" dirty="0"/>
          </a:p>
        </p:txBody>
      </p:sp>
      <p:sp>
        <p:nvSpPr>
          <p:cNvPr id="9" name="txt_351"/>
          <p:cNvSpPr txBox="1"/>
          <p:nvPr/>
        </p:nvSpPr>
        <p:spPr>
          <a:xfrm>
            <a:off x="7498080" y="20391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目には見えないが、確かに送られている</a:t>
            </a:r>
            <a:endParaRPr lang="en-US" sz="1250" dirty="0"/>
          </a:p>
        </p:txBody>
      </p:sp>
      <p:sp>
        <p:nvSpPr>
          <p:cNvPr id="10" name="card_352"/>
          <p:cNvSpPr/>
          <p:nvPr/>
        </p:nvSpPr>
        <p:spPr>
          <a:xfrm>
            <a:off x="6190488" y="2715768"/>
            <a:ext cx="528523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11" name="txt_353"/>
          <p:cNvSpPr txBox="1"/>
          <p:nvPr/>
        </p:nvSpPr>
        <p:spPr>
          <a:xfrm>
            <a:off x="6400800" y="2916936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6</a:t>
            </a:r>
            <a:endParaRPr lang="en-US" sz="2800" dirty="0"/>
          </a:p>
        </p:txBody>
      </p:sp>
      <p:sp>
        <p:nvSpPr>
          <p:cNvPr id="12" name="txt_354"/>
          <p:cNvSpPr txBox="1"/>
          <p:nvPr/>
        </p:nvSpPr>
        <p:spPr>
          <a:xfrm>
            <a:off x="7498080" y="291693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5文字なのに6バイト</a:t>
            </a:r>
            <a:endParaRPr lang="en-US" sz="1550" dirty="0"/>
          </a:p>
        </p:txBody>
      </p:sp>
      <p:sp>
        <p:nvSpPr>
          <p:cNvPr id="13" name="txt_355"/>
          <p:cNvSpPr txBox="1"/>
          <p:nvPr/>
        </p:nvSpPr>
        <p:spPr>
          <a:xfrm>
            <a:off x="7498080" y="3337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文字数とバイト数は違う</a:t>
            </a:r>
            <a:endParaRPr lang="en-US" sz="1250" dirty="0"/>
          </a:p>
        </p:txBody>
      </p:sp>
      <p:sp>
        <p:nvSpPr>
          <p:cNvPr id="14" name="card_356"/>
          <p:cNvSpPr/>
          <p:nvPr/>
        </p:nvSpPr>
        <p:spPr>
          <a:xfrm>
            <a:off x="6190488" y="4014216"/>
            <a:ext cx="528523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15" name="txt_357"/>
          <p:cNvSpPr txBox="1"/>
          <p:nvPr/>
        </p:nvSpPr>
        <p:spPr>
          <a:xfrm>
            <a:off x="6400800" y="4215384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xt_358"/>
          <p:cNvSpPr txBox="1"/>
          <p:nvPr/>
        </p:nvSpPr>
        <p:spPr>
          <a:xfrm>
            <a:off x="7498080" y="421538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日本語は1文字3バイト</a:t>
            </a:r>
            <a:endParaRPr lang="en-US" sz="1550" dirty="0"/>
          </a:p>
        </p:txBody>
      </p:sp>
      <p:sp>
        <p:nvSpPr>
          <p:cNvPr id="17" name="txt_359"/>
          <p:cNvSpPr txBox="1"/>
          <p:nvPr/>
        </p:nvSpPr>
        <p:spPr>
          <a:xfrm>
            <a:off x="7498080" y="4636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ここが第2回の主題です</a:t>
            </a:r>
            <a:endParaRPr lang="en-US" sz="1250" dirty="0"/>
          </a:p>
        </p:txBody>
      </p:sp>
      <p:sp>
        <p:nvSpPr>
          <p:cNvPr id="18" name="card_360"/>
          <p:cNvSpPr/>
          <p:nvPr/>
        </p:nvSpPr>
        <p:spPr>
          <a:xfrm>
            <a:off x="685800" y="3749040"/>
            <a:ext cx="5285232" cy="1883664"/>
          </a:xfrm>
          <a:prstGeom prst="roundRect">
            <a:avLst>
              <a:gd name="adj" fmla="val 2913"/>
            </a:avLst>
          </a:prstGeom>
          <a:solidFill>
            <a:srgbClr val="FFF7E0"/>
          </a:solidFill>
          <a:ln w="12700">
            <a:solidFill>
              <a:srgbClr val="F0D68A"/>
            </a:solidFill>
            <a:prstDash val="solid"/>
          </a:ln>
        </p:spPr>
      </p:sp>
      <p:sp>
        <p:nvSpPr>
          <p:cNvPr id="19" name="txt_361"/>
          <p:cNvSpPr txBox="1"/>
          <p:nvPr/>
        </p:nvSpPr>
        <p:spPr>
          <a:xfrm>
            <a:off x="960120" y="39319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A6200"/>
                </a:solidFill>
              </a:rPr>
              <a:t>Wireshark は使いません
</a:t>
            </a:r>
            <a:pPr indent="0" marL="0">
              <a:buNone/>
            </a:pPr>
            <a:r>
              <a:rPr lang="en-US" sz="1350" dirty="0">
                <a:solidFill>
                  <a:srgbClr val="4A3C00"/>
                </a:solidFill>
              </a:rPr>
              <a:t>パケットキャプチャにはドライバの導入が必要で、管理者権限のない環境では使えないためです。代わりに、自分のプログラムが送受信したバイト列を自分で表示します。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362"/>
          <p:cNvSpPr txBox="1"/>
          <p:nvPr/>
        </p:nvSpPr>
        <p:spPr>
          <a:xfrm>
            <a:off x="822960" y="17830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9CC4E4"/>
                </a:solidFill>
              </a:rPr>
              <a:t>PART 6</a:t>
            </a:r>
            <a:endParaRPr lang="en-US" sz="17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2402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課題：NetProbe.java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7033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FE3F2"/>
                </a:solidFill>
              </a:rPr>
              <a:t>全5問。1問ずつ出力を足していき、最後に5行そろえます。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507F"/>
                </a:solidFill>
              </a:rPr>
              <a:t>完成形はこの5行。1問につき1行ずつ増やす</a:t>
            </a:r>
            <a:endParaRPr lang="en-US" sz="3000" dirty="0"/>
          </a:p>
        </p:txBody>
      </p:sp>
      <p:sp>
        <p:nvSpPr>
          <p:cNvPr id="3" name="code_363"/>
          <p:cNvSpPr/>
          <p:nvPr/>
        </p:nvSpPr>
        <p:spPr>
          <a:xfrm>
            <a:off x="685800" y="1325880"/>
            <a:ext cx="5285232" cy="54864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4" name="txt_364"/>
          <p:cNvSpPr txBox="1"/>
          <p:nvPr/>
        </p:nvSpPr>
        <p:spPr>
          <a:xfrm>
            <a:off x="850392" y="1453896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java NetProbe &lt;ホスト名&gt; &lt;ポート番号&gt;</a:t>
            </a:r>
            <a:endParaRPr lang="en-US" sz="1400" dirty="0"/>
          </a:p>
        </p:txBody>
      </p:sp>
      <p:sp>
        <p:nvSpPr>
          <p:cNvPr id="5" name="code_365"/>
          <p:cNvSpPr/>
          <p:nvPr/>
        </p:nvSpPr>
        <p:spPr>
          <a:xfrm>
            <a:off x="685800" y="2011680"/>
            <a:ext cx="5285232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6" name="txt_366"/>
          <p:cNvSpPr txBox="1"/>
          <p:nvPr/>
        </p:nvSpPr>
        <p:spPr>
          <a:xfrm>
            <a:off x="850392" y="2139696"/>
            <a:ext cx="495604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HOST=localhost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ADDR=127.0.0.1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PORT=40001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RESULT=CONNECTED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ELAPSED_MS=3</a:t>
            </a:r>
            <a:endParaRPr lang="en-US" sz="1400" dirty="0"/>
          </a:p>
        </p:txBody>
      </p:sp>
      <p:sp>
        <p:nvSpPr>
          <p:cNvPr id="7" name="txt_367"/>
          <p:cNvSpPr txBox="1"/>
          <p:nvPr/>
        </p:nvSpPr>
        <p:spPr>
          <a:xfrm>
            <a:off x="685800" y="4069080"/>
            <a:ext cx="5285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</a:rPr>
              <a:t>ファイルは1つです。問ごとに新しく作らず、同じ NetProbe.java を育てていきます。</a:t>
            </a:r>
            <a:endParaRPr lang="en-US" sz="1300" dirty="0"/>
          </a:p>
        </p:txBody>
      </p:sp>
      <p:sp>
        <p:nvSpPr>
          <p:cNvPr id="8" name="card_368"/>
          <p:cNvSpPr/>
          <p:nvPr/>
        </p:nvSpPr>
        <p:spPr>
          <a:xfrm>
            <a:off x="6190488" y="1325880"/>
            <a:ext cx="5285232" cy="676656"/>
          </a:xfrm>
          <a:prstGeom prst="roundRect">
            <a:avLst>
              <a:gd name="adj" fmla="val 8108"/>
            </a:avLst>
          </a:prstGeom>
          <a:solidFill>
            <a:schemeClr val="bg2"/>
          </a:solidFill>
          <a:ln w="12700">
            <a:solidFill>
              <a:srgbClr val="C7D6E4"/>
            </a:solidFill>
            <a:prstDash val="solid"/>
          </a:ln>
        </p:spPr>
      </p:sp>
      <p:sp>
        <p:nvSpPr>
          <p:cNvPr id="9" name="chip_369"/>
          <p:cNvSpPr/>
          <p:nvPr/>
        </p:nvSpPr>
        <p:spPr>
          <a:xfrm>
            <a:off x="6400800" y="1472184"/>
            <a:ext cx="685800" cy="384048"/>
          </a:xfrm>
          <a:prstGeom prst="roundRect">
            <a:avLst>
              <a:gd name="adj" fmla="val 119048"/>
            </a:avLst>
          </a:prstGeom>
          <a:solidFill>
            <a:srgbClr val="0B6CB5"/>
          </a:solidFill>
          <a:ln w="12700">
            <a:solidFill>
              <a:srgbClr val="0B6CB5"/>
            </a:solidFill>
            <a:prstDash val="solid"/>
          </a:ln>
        </p:spPr>
      </p:sp>
      <p:sp>
        <p:nvSpPr>
          <p:cNvPr id="10" name="txt_370"/>
          <p:cNvSpPr txBox="1"/>
          <p:nvPr/>
        </p:nvSpPr>
        <p:spPr>
          <a:xfrm>
            <a:off x="6400800" y="147218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問1</a:t>
            </a:r>
            <a:endParaRPr lang="en-US" sz="1200" dirty="0"/>
          </a:p>
        </p:txBody>
      </p:sp>
      <p:sp>
        <p:nvSpPr>
          <p:cNvPr id="11" name="txt_371"/>
          <p:cNvSpPr txBox="1"/>
          <p:nvPr/>
        </p:nvSpPr>
        <p:spPr>
          <a:xfrm>
            <a:off x="7242048" y="1325880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引数をそのまま出す</a:t>
            </a:r>
            <a:endParaRPr lang="en-US" sz="1400" dirty="0"/>
          </a:p>
        </p:txBody>
      </p:sp>
      <p:sp>
        <p:nvSpPr>
          <p:cNvPr id="12" name="txt_372"/>
          <p:cNvSpPr txBox="1"/>
          <p:nvPr/>
        </p:nvSpPr>
        <p:spPr>
          <a:xfrm>
            <a:off x="9875520" y="1325880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8507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HOST= / PORT=</a:t>
            </a:r>
            <a:endParaRPr lang="en-US" sz="1250" dirty="0"/>
          </a:p>
        </p:txBody>
      </p:sp>
      <p:sp>
        <p:nvSpPr>
          <p:cNvPr id="13" name="card_373"/>
          <p:cNvSpPr/>
          <p:nvPr/>
        </p:nvSpPr>
        <p:spPr>
          <a:xfrm>
            <a:off x="6190488" y="2093976"/>
            <a:ext cx="5285232" cy="676656"/>
          </a:xfrm>
          <a:prstGeom prst="roundRect">
            <a:avLst>
              <a:gd name="adj" fmla="val 8108"/>
            </a:avLst>
          </a:prstGeom>
          <a:solidFill>
            <a:schemeClr val="bg2"/>
          </a:solidFill>
          <a:ln w="12700">
            <a:solidFill>
              <a:srgbClr val="C7D6E4"/>
            </a:solidFill>
            <a:prstDash val="solid"/>
          </a:ln>
        </p:spPr>
      </p:sp>
      <p:sp>
        <p:nvSpPr>
          <p:cNvPr id="14" name="chip_374"/>
          <p:cNvSpPr/>
          <p:nvPr/>
        </p:nvSpPr>
        <p:spPr>
          <a:xfrm>
            <a:off x="6400800" y="2240280"/>
            <a:ext cx="685800" cy="384048"/>
          </a:xfrm>
          <a:prstGeom prst="roundRect">
            <a:avLst>
              <a:gd name="adj" fmla="val 119048"/>
            </a:avLst>
          </a:prstGeom>
          <a:solidFill>
            <a:srgbClr val="0B6CB5"/>
          </a:solidFill>
          <a:ln w="12700">
            <a:solidFill>
              <a:srgbClr val="0B6CB5"/>
            </a:solidFill>
            <a:prstDash val="solid"/>
          </a:ln>
        </p:spPr>
      </p:sp>
      <p:sp>
        <p:nvSpPr>
          <p:cNvPr id="15" name="txt_375"/>
          <p:cNvSpPr txBox="1"/>
          <p:nvPr/>
        </p:nvSpPr>
        <p:spPr>
          <a:xfrm>
            <a:off x="6400800" y="22402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問2</a:t>
            </a:r>
            <a:endParaRPr lang="en-US" sz="1200" dirty="0"/>
          </a:p>
        </p:txBody>
      </p:sp>
      <p:sp>
        <p:nvSpPr>
          <p:cNvPr id="16" name="txt_376"/>
          <p:cNvSpPr txBox="1"/>
          <p:nvPr/>
        </p:nvSpPr>
        <p:spPr>
          <a:xfrm>
            <a:off x="7242048" y="2093976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名前解決して足す</a:t>
            </a:r>
            <a:endParaRPr lang="en-US" sz="1400" dirty="0"/>
          </a:p>
        </p:txBody>
      </p:sp>
      <p:sp>
        <p:nvSpPr>
          <p:cNvPr id="17" name="txt_377"/>
          <p:cNvSpPr txBox="1"/>
          <p:nvPr/>
        </p:nvSpPr>
        <p:spPr>
          <a:xfrm>
            <a:off x="9875520" y="2093976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8507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ADDR=</a:t>
            </a:r>
            <a:endParaRPr lang="en-US" sz="1250" dirty="0"/>
          </a:p>
        </p:txBody>
      </p:sp>
      <p:sp>
        <p:nvSpPr>
          <p:cNvPr id="18" name="card_378"/>
          <p:cNvSpPr/>
          <p:nvPr/>
        </p:nvSpPr>
        <p:spPr>
          <a:xfrm>
            <a:off x="6190488" y="2862072"/>
            <a:ext cx="5285232" cy="676656"/>
          </a:xfrm>
          <a:prstGeom prst="roundRect">
            <a:avLst>
              <a:gd name="adj" fmla="val 8108"/>
            </a:avLst>
          </a:prstGeom>
          <a:solidFill>
            <a:schemeClr val="bg2"/>
          </a:solidFill>
          <a:ln w="12700">
            <a:solidFill>
              <a:srgbClr val="C7D6E4"/>
            </a:solidFill>
            <a:prstDash val="solid"/>
          </a:ln>
        </p:spPr>
      </p:sp>
      <p:sp>
        <p:nvSpPr>
          <p:cNvPr id="19" name="chip_379"/>
          <p:cNvSpPr/>
          <p:nvPr/>
        </p:nvSpPr>
        <p:spPr>
          <a:xfrm>
            <a:off x="6400800" y="3008376"/>
            <a:ext cx="685800" cy="384048"/>
          </a:xfrm>
          <a:prstGeom prst="roundRect">
            <a:avLst>
              <a:gd name="adj" fmla="val 119048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xt_380"/>
          <p:cNvSpPr txBox="1"/>
          <p:nvPr/>
        </p:nvSpPr>
        <p:spPr>
          <a:xfrm>
            <a:off x="6400800" y="300837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問3</a:t>
            </a:r>
            <a:endParaRPr lang="en-US" sz="1200" dirty="0"/>
          </a:p>
        </p:txBody>
      </p:sp>
      <p:sp>
        <p:nvSpPr>
          <p:cNvPr id="21" name="txt_381"/>
          <p:cNvSpPr txBox="1"/>
          <p:nvPr/>
        </p:nvSpPr>
        <p:spPr>
          <a:xfrm>
            <a:off x="7242048" y="2862072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接続して結果を分ける</a:t>
            </a:r>
            <a:endParaRPr lang="en-US" sz="1400" dirty="0"/>
          </a:p>
        </p:txBody>
      </p:sp>
      <p:sp>
        <p:nvSpPr>
          <p:cNvPr id="22" name="txt_382"/>
          <p:cNvSpPr txBox="1"/>
          <p:nvPr/>
        </p:nvSpPr>
        <p:spPr>
          <a:xfrm>
            <a:off x="9875520" y="2862072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8507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RESULT=</a:t>
            </a:r>
            <a:endParaRPr lang="en-US" sz="1250" dirty="0"/>
          </a:p>
        </p:txBody>
      </p:sp>
      <p:sp>
        <p:nvSpPr>
          <p:cNvPr id="23" name="card_383"/>
          <p:cNvSpPr/>
          <p:nvPr/>
        </p:nvSpPr>
        <p:spPr>
          <a:xfrm>
            <a:off x="6190488" y="3630168"/>
            <a:ext cx="5285232" cy="676656"/>
          </a:xfrm>
          <a:prstGeom prst="roundRect">
            <a:avLst>
              <a:gd name="adj" fmla="val 8108"/>
            </a:avLst>
          </a:prstGeom>
          <a:solidFill>
            <a:schemeClr val="bg2"/>
          </a:solidFill>
          <a:ln w="12700">
            <a:solidFill>
              <a:srgbClr val="C7D6E4"/>
            </a:solidFill>
            <a:prstDash val="solid"/>
          </a:ln>
        </p:spPr>
      </p:sp>
      <p:sp>
        <p:nvSpPr>
          <p:cNvPr id="24" name="chip_384"/>
          <p:cNvSpPr/>
          <p:nvPr/>
        </p:nvSpPr>
        <p:spPr>
          <a:xfrm>
            <a:off x="6400800" y="3776472"/>
            <a:ext cx="685800" cy="384048"/>
          </a:xfrm>
          <a:prstGeom prst="roundRect">
            <a:avLst>
              <a:gd name="adj" fmla="val 119048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5" name="txt_385"/>
          <p:cNvSpPr txBox="1"/>
          <p:nvPr/>
        </p:nvSpPr>
        <p:spPr>
          <a:xfrm>
            <a:off x="6400800" y="377647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問4</a:t>
            </a:r>
            <a:endParaRPr lang="en-US" sz="1200" dirty="0"/>
          </a:p>
        </p:txBody>
      </p:sp>
      <p:sp>
        <p:nvSpPr>
          <p:cNvPr id="26" name="txt_386"/>
          <p:cNvSpPr txBox="1"/>
          <p:nvPr/>
        </p:nvSpPr>
        <p:spPr>
          <a:xfrm>
            <a:off x="7242048" y="3630168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所要時間を測る</a:t>
            </a:r>
            <a:endParaRPr lang="en-US" sz="1400" dirty="0"/>
          </a:p>
        </p:txBody>
      </p:sp>
      <p:sp>
        <p:nvSpPr>
          <p:cNvPr id="27" name="txt_387"/>
          <p:cNvSpPr txBox="1"/>
          <p:nvPr/>
        </p:nvSpPr>
        <p:spPr>
          <a:xfrm>
            <a:off x="9875520" y="3630168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8507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ELAPSED_MS=</a:t>
            </a:r>
            <a:endParaRPr lang="en-US" sz="1250" dirty="0"/>
          </a:p>
        </p:txBody>
      </p:sp>
      <p:sp>
        <p:nvSpPr>
          <p:cNvPr id="28" name="card_388"/>
          <p:cNvSpPr/>
          <p:nvPr/>
        </p:nvSpPr>
        <p:spPr>
          <a:xfrm>
            <a:off x="6190488" y="4398264"/>
            <a:ext cx="5285232" cy="676656"/>
          </a:xfrm>
          <a:prstGeom prst="roundRect">
            <a:avLst>
              <a:gd name="adj" fmla="val 8108"/>
            </a:avLst>
          </a:prstGeom>
          <a:solidFill>
            <a:schemeClr val="bg2"/>
          </a:solidFill>
          <a:ln w="12700">
            <a:solidFill>
              <a:srgbClr val="C7D6E4"/>
            </a:solidFill>
            <a:prstDash val="solid"/>
          </a:ln>
        </p:spPr>
      </p:sp>
      <p:sp>
        <p:nvSpPr>
          <p:cNvPr id="29" name="chip_389"/>
          <p:cNvSpPr/>
          <p:nvPr/>
        </p:nvSpPr>
        <p:spPr>
          <a:xfrm>
            <a:off x="6400800" y="4544568"/>
            <a:ext cx="685800" cy="384048"/>
          </a:xfrm>
          <a:prstGeom prst="roundRect">
            <a:avLst>
              <a:gd name="adj" fmla="val 119048"/>
            </a:avLst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30" name="txt_390"/>
          <p:cNvSpPr txBox="1"/>
          <p:nvPr/>
        </p:nvSpPr>
        <p:spPr>
          <a:xfrm>
            <a:off x="6400800" y="454456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問5</a:t>
            </a:r>
            <a:endParaRPr lang="en-US" sz="1200" dirty="0"/>
          </a:p>
        </p:txBody>
      </p:sp>
      <p:sp>
        <p:nvSpPr>
          <p:cNvPr id="31" name="txt_391"/>
          <p:cNvSpPr txBox="1"/>
          <p:nvPr/>
        </p:nvSpPr>
        <p:spPr>
          <a:xfrm>
            <a:off x="7242048" y="4398264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自己採点を通して提出する</a:t>
            </a:r>
            <a:endParaRPr lang="en-US" sz="1400" dirty="0"/>
          </a:p>
        </p:txBody>
      </p:sp>
      <p:sp>
        <p:nvSpPr>
          <p:cNvPr id="32" name="txt_392"/>
          <p:cNvSpPr txBox="1"/>
          <p:nvPr/>
        </p:nvSpPr>
        <p:spPr>
          <a:xfrm>
            <a:off x="9875520" y="4398264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8507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4 / 4 passed</a:t>
            </a:r>
            <a:endParaRPr lang="en-US" sz="1250" dirty="0"/>
          </a:p>
        </p:txBody>
      </p:sp>
      <p:sp>
        <p:nvSpPr>
          <p:cNvPr id="33" name="card_393"/>
          <p:cNvSpPr/>
          <p:nvPr/>
        </p:nvSpPr>
        <p:spPr>
          <a:xfrm>
            <a:off x="685800" y="4846320"/>
            <a:ext cx="5285232" cy="1005840"/>
          </a:xfrm>
          <a:prstGeom prst="roundRect">
            <a:avLst>
              <a:gd name="adj" fmla="val 5455"/>
            </a:avLst>
          </a:prstGeom>
          <a:solidFill>
            <a:srgbClr val="FFF1F0"/>
          </a:solidFill>
          <a:ln w="12700">
            <a:solidFill>
              <a:srgbClr val="F0B4AE"/>
            </a:solidFill>
            <a:prstDash val="solid"/>
          </a:ln>
        </p:spPr>
      </p:sp>
      <p:sp>
        <p:nvSpPr>
          <p:cNvPr id="34" name="txt_394"/>
          <p:cNvSpPr txBox="1"/>
          <p:nvPr/>
        </p:nvSpPr>
        <p:spPr>
          <a:xfrm>
            <a:off x="960120" y="48463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F1F"/>
                </a:solidFill>
              </a:rPr>
              <a:t>全問に共通
</a:t>
            </a:r>
            <a:pPr indent="0" marL="0">
              <a:buNone/>
            </a:pPr>
            <a:r>
              <a:rPr lang="en-US" sz="1350" dirty="0">
                <a:solidFill>
                  <a:srgbClr val="7A1F1F"/>
                </a:solidFill>
              </a:rPr>
              <a:t>どの入力でもスタックトレースを出さず、正常終了すること。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507F"/>
                </a:solidFill>
              </a:rPr>
              <a:t>問1　引数を受け取り、そのまま出力する</a:t>
            </a:r>
            <a:endParaRPr lang="en-US" sz="3000" dirty="0"/>
          </a:p>
        </p:txBody>
      </p:sp>
      <p:sp>
        <p:nvSpPr>
          <p:cNvPr id="3" name="card_395"/>
          <p:cNvSpPr/>
          <p:nvPr/>
        </p:nvSpPr>
        <p:spPr>
          <a:xfrm>
            <a:off x="685800" y="1325880"/>
            <a:ext cx="5760720" cy="3246120"/>
          </a:xfrm>
          <a:prstGeom prst="roundRect">
            <a:avLst>
              <a:gd name="adj" fmla="val 1690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4" name="chip_396"/>
          <p:cNvSpPr/>
          <p:nvPr/>
        </p:nvSpPr>
        <p:spPr>
          <a:xfrm>
            <a:off x="914400" y="1536192"/>
            <a:ext cx="1234440" cy="384048"/>
          </a:xfrm>
          <a:prstGeom prst="roundRect">
            <a:avLst>
              <a:gd name="adj" fmla="val 119048"/>
            </a:avLst>
          </a:prstGeom>
          <a:solidFill>
            <a:srgbClr val="0B6CB5"/>
          </a:solidFill>
          <a:ln w="12700">
            <a:solidFill>
              <a:srgbClr val="0B6CB5"/>
            </a:solidFill>
            <a:prstDash val="solid"/>
          </a:ln>
        </p:spPr>
      </p:sp>
      <p:sp>
        <p:nvSpPr>
          <p:cNvPr id="5" name="txt_397"/>
          <p:cNvSpPr txBox="1"/>
          <p:nvPr/>
        </p:nvSpPr>
        <p:spPr>
          <a:xfrm>
            <a:off x="914400" y="15361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やること</a:t>
            </a:r>
            <a:endParaRPr lang="en-US" sz="1200" dirty="0"/>
          </a:p>
        </p:txBody>
      </p:sp>
      <p:sp>
        <p:nvSpPr>
          <p:cNvPr id="6" name="txt_398"/>
          <p:cNvSpPr txBox="1"/>
          <p:nvPr/>
        </p:nvSpPr>
        <p:spPr>
          <a:xfrm>
            <a:off x="914400" y="20574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6CB5"/>
                </a:solidFill>
              </a:rPr>
              <a:t>・</a:t>
            </a:r>
            <a:endParaRPr lang="en-US" sz="1400" dirty="0"/>
          </a:p>
        </p:txBody>
      </p:sp>
      <p:sp>
        <p:nvSpPr>
          <p:cNvPr id="7" name="txt_399"/>
          <p:cNvSpPr txBox="1"/>
          <p:nvPr/>
        </p:nvSpPr>
        <p:spPr>
          <a:xfrm>
            <a:off x="1133856" y="20574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コマンドライン引数を2つ受け取る</a:t>
            </a:r>
            <a:endParaRPr lang="en-US" sz="1350" dirty="0"/>
          </a:p>
        </p:txBody>
      </p:sp>
      <p:sp>
        <p:nvSpPr>
          <p:cNvPr id="8" name="txt_400"/>
          <p:cNvSpPr txBox="1"/>
          <p:nvPr/>
        </p:nvSpPr>
        <p:spPr>
          <a:xfrm>
            <a:off x="914400" y="2532888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6CB5"/>
                </a:solidFill>
              </a:rPr>
              <a:t>・</a:t>
            </a:r>
            <a:endParaRPr lang="en-US" sz="1400" dirty="0"/>
          </a:p>
        </p:txBody>
      </p:sp>
      <p:sp>
        <p:nvSpPr>
          <p:cNvPr id="9" name="txt_401"/>
          <p:cNvSpPr txBox="1"/>
          <p:nvPr/>
        </p:nvSpPr>
        <p:spPr>
          <a:xfrm>
            <a:off x="1133856" y="253288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第1引数を HOST= に、第2引数を PORT= に出す</a:t>
            </a:r>
            <a:endParaRPr lang="en-US" sz="1350" dirty="0"/>
          </a:p>
        </p:txBody>
      </p:sp>
      <p:sp>
        <p:nvSpPr>
          <p:cNvPr id="10" name="txt_402"/>
          <p:cNvSpPr txBox="1"/>
          <p:nvPr/>
        </p:nvSpPr>
        <p:spPr>
          <a:xfrm>
            <a:off x="914400" y="3008376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6CB5"/>
                </a:solidFill>
              </a:rPr>
              <a:t>・</a:t>
            </a:r>
            <a:endParaRPr lang="en-US" sz="1400" dirty="0"/>
          </a:p>
        </p:txBody>
      </p:sp>
      <p:sp>
        <p:nvSpPr>
          <p:cNvPr id="11" name="txt_403"/>
          <p:cNvSpPr txBox="1"/>
          <p:nvPr/>
        </p:nvSpPr>
        <p:spPr>
          <a:xfrm>
            <a:off x="1133856" y="300837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受け取った文字列を加工しない（そのまま出す）</a:t>
            </a:r>
            <a:endParaRPr lang="en-US" sz="1350" dirty="0"/>
          </a:p>
        </p:txBody>
      </p:sp>
      <p:sp>
        <p:nvSpPr>
          <p:cNvPr id="12" name="txt_404"/>
          <p:cNvSpPr txBox="1"/>
          <p:nvPr/>
        </p:nvSpPr>
        <p:spPr>
          <a:xfrm>
            <a:off x="914400" y="3483864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6CB5"/>
                </a:solidFill>
              </a:rPr>
              <a:t>・</a:t>
            </a:r>
            <a:endParaRPr lang="en-US" sz="1400" dirty="0"/>
          </a:p>
        </p:txBody>
      </p:sp>
      <p:sp>
        <p:nvSpPr>
          <p:cNvPr id="13" name="txt_405"/>
          <p:cNvSpPr txBox="1"/>
          <p:nvPr/>
        </p:nvSpPr>
        <p:spPr>
          <a:xfrm>
            <a:off x="1133856" y="348386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まだ接続もしないし、名前解決もしない</a:t>
            </a:r>
            <a:endParaRPr lang="en-US" sz="1350" dirty="0"/>
          </a:p>
        </p:txBody>
      </p:sp>
      <p:sp>
        <p:nvSpPr>
          <p:cNvPr id="14" name="card_406"/>
          <p:cNvSpPr/>
          <p:nvPr/>
        </p:nvSpPr>
        <p:spPr>
          <a:xfrm>
            <a:off x="914400" y="4069080"/>
            <a:ext cx="530352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rgbClr val="C7D6E4"/>
            </a:solidFill>
            <a:prstDash val="solid"/>
          </a:ln>
        </p:spPr>
      </p:sp>
      <p:sp>
        <p:nvSpPr>
          <p:cNvPr id="15" name="txt_407"/>
          <p:cNvSpPr txBox="1"/>
          <p:nvPr/>
        </p:nvSpPr>
        <p:spPr>
          <a:xfrm>
            <a:off x="1115568" y="4069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</a:rPr>
              <a:t>この問で増える行　</a:t>
            </a:r>
            <a:pPr indent="0" marL="0">
              <a:buNone/>
            </a:pPr>
            <a:r>
              <a:rPr lang="en-US" sz="1350" b="1" dirty="0">
                <a:solidFill>
                  <a:srgbClr val="08507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HOST= / PORT=</a:t>
            </a:r>
            <a:endParaRPr lang="en-US" sz="1200" dirty="0"/>
          </a:p>
        </p:txBody>
      </p:sp>
      <p:sp>
        <p:nvSpPr>
          <p:cNvPr id="16" name="card_408"/>
          <p:cNvSpPr/>
          <p:nvPr/>
        </p:nvSpPr>
        <p:spPr>
          <a:xfrm>
            <a:off x="6647688" y="1325880"/>
            <a:ext cx="4828032" cy="3246120"/>
          </a:xfrm>
          <a:prstGeom prst="roundRect">
            <a:avLst>
              <a:gd name="adj" fmla="val 1690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17" name="chip_409"/>
          <p:cNvSpPr/>
          <p:nvPr/>
        </p:nvSpPr>
        <p:spPr>
          <a:xfrm>
            <a:off x="6876288" y="1536192"/>
            <a:ext cx="1051560" cy="384048"/>
          </a:xfrm>
          <a:prstGeom prst="roundRect">
            <a:avLst>
              <a:gd name="adj" fmla="val 119048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xt_410"/>
          <p:cNvSpPr txBox="1"/>
          <p:nvPr/>
        </p:nvSpPr>
        <p:spPr>
          <a:xfrm>
            <a:off x="6876288" y="153619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実行例</a:t>
            </a:r>
            <a:endParaRPr lang="en-US" sz="1200" dirty="0"/>
          </a:p>
        </p:txBody>
      </p:sp>
      <p:sp>
        <p:nvSpPr>
          <p:cNvPr id="19" name="code_411"/>
          <p:cNvSpPr/>
          <p:nvPr/>
        </p:nvSpPr>
        <p:spPr>
          <a:xfrm>
            <a:off x="6876288" y="2057400"/>
            <a:ext cx="4370832" cy="1371600"/>
          </a:xfrm>
          <a:prstGeom prst="roundRect">
            <a:avLst>
              <a:gd name="adj" fmla="val 2667"/>
            </a:avLst>
          </a:prstGeom>
          <a:solidFill>
            <a:srgbClr val="F4F6F9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0" name="txt_412"/>
          <p:cNvSpPr txBox="1"/>
          <p:nvPr/>
        </p:nvSpPr>
        <p:spPr>
          <a:xfrm>
            <a:off x="7040880" y="2185416"/>
            <a:ext cx="40416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&gt; java NetProbe localhost 40001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HOST=localhost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PORT=40001</a:t>
            </a:r>
            <a:endParaRPr lang="en-US" sz="1250" dirty="0"/>
          </a:p>
        </p:txBody>
      </p:sp>
      <p:sp>
        <p:nvSpPr>
          <p:cNvPr id="21" name="card_413"/>
          <p:cNvSpPr/>
          <p:nvPr/>
        </p:nvSpPr>
        <p:spPr>
          <a:xfrm>
            <a:off x="685800" y="4736592"/>
            <a:ext cx="10789920" cy="1225296"/>
          </a:xfrm>
          <a:prstGeom prst="roundRect">
            <a:avLst>
              <a:gd name="adj" fmla="val 4478"/>
            </a:avLst>
          </a:prstGeom>
          <a:solidFill>
            <a:srgbClr val="FFF1F0"/>
          </a:solidFill>
          <a:ln w="12700">
            <a:solidFill>
              <a:srgbClr val="F0B4AE"/>
            </a:solidFill>
            <a:prstDash val="solid"/>
          </a:ln>
        </p:spPr>
      </p:sp>
      <p:sp>
        <p:nvSpPr>
          <p:cNvPr id="22" name="txt_414"/>
          <p:cNvSpPr txBox="1"/>
          <p:nvPr/>
        </p:nvSpPr>
        <p:spPr>
          <a:xfrm>
            <a:off x="960120" y="4736592"/>
            <a:ext cx="102412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1F1F"/>
                </a:solidFill>
              </a:rPr>
              <a:t>ここでつまずく
</a:t>
            </a:r>
            <a:pPr indent="0" marL="0">
              <a:buNone/>
            </a:pPr>
            <a:r>
              <a:rPr lang="en-US" sz="1400" dirty="0">
                <a:solidFill>
                  <a:srgbClr val="7A1F1F"/>
                </a:solidFill>
              </a:rPr>
              <a:t>引数が2つ渡されなかったときに、配列の範囲外で落ちないこと。何も渡されなくても、正常終了させます。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507F"/>
                </a:solidFill>
              </a:rPr>
              <a:t>問2　名前解決して ADDR= を足す</a:t>
            </a:r>
            <a:endParaRPr lang="en-US" sz="3000" dirty="0"/>
          </a:p>
        </p:txBody>
      </p:sp>
      <p:sp>
        <p:nvSpPr>
          <p:cNvPr id="3" name="card_415"/>
          <p:cNvSpPr/>
          <p:nvPr/>
        </p:nvSpPr>
        <p:spPr>
          <a:xfrm>
            <a:off x="685800" y="1325880"/>
            <a:ext cx="5760720" cy="3246120"/>
          </a:xfrm>
          <a:prstGeom prst="roundRect">
            <a:avLst>
              <a:gd name="adj" fmla="val 1690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4" name="chip_416"/>
          <p:cNvSpPr/>
          <p:nvPr/>
        </p:nvSpPr>
        <p:spPr>
          <a:xfrm>
            <a:off x="914400" y="1536192"/>
            <a:ext cx="1234440" cy="384048"/>
          </a:xfrm>
          <a:prstGeom prst="roundRect">
            <a:avLst>
              <a:gd name="adj" fmla="val 119048"/>
            </a:avLst>
          </a:prstGeom>
          <a:solidFill>
            <a:srgbClr val="0B6CB5"/>
          </a:solidFill>
          <a:ln w="12700">
            <a:solidFill>
              <a:srgbClr val="0B6CB5"/>
            </a:solidFill>
            <a:prstDash val="solid"/>
          </a:ln>
        </p:spPr>
      </p:sp>
      <p:sp>
        <p:nvSpPr>
          <p:cNvPr id="5" name="txt_417"/>
          <p:cNvSpPr txBox="1"/>
          <p:nvPr/>
        </p:nvSpPr>
        <p:spPr>
          <a:xfrm>
            <a:off x="914400" y="15361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やること</a:t>
            </a:r>
            <a:endParaRPr lang="en-US" sz="1200" dirty="0"/>
          </a:p>
        </p:txBody>
      </p:sp>
      <p:sp>
        <p:nvSpPr>
          <p:cNvPr id="6" name="txt_418"/>
          <p:cNvSpPr txBox="1"/>
          <p:nvPr/>
        </p:nvSpPr>
        <p:spPr>
          <a:xfrm>
            <a:off x="914400" y="20574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6CB5"/>
                </a:solidFill>
              </a:rPr>
              <a:t>・</a:t>
            </a:r>
            <a:endParaRPr lang="en-US" sz="1400" dirty="0"/>
          </a:p>
        </p:txBody>
      </p:sp>
      <p:sp>
        <p:nvSpPr>
          <p:cNvPr id="7" name="txt_419"/>
          <p:cNvSpPr txBox="1"/>
          <p:nvPr/>
        </p:nvSpPr>
        <p:spPr>
          <a:xfrm>
            <a:off x="1133856" y="20574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InetAddress.getByName() で第1引数を解決する</a:t>
            </a:r>
            <a:endParaRPr lang="en-US" sz="1350" dirty="0"/>
          </a:p>
        </p:txBody>
      </p:sp>
      <p:sp>
        <p:nvSpPr>
          <p:cNvPr id="8" name="txt_420"/>
          <p:cNvSpPr txBox="1"/>
          <p:nvPr/>
        </p:nvSpPr>
        <p:spPr>
          <a:xfrm>
            <a:off x="914400" y="2532888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6CB5"/>
                </a:solidFill>
              </a:rPr>
              <a:t>・</a:t>
            </a:r>
            <a:endParaRPr lang="en-US" sz="1400" dirty="0"/>
          </a:p>
        </p:txBody>
      </p:sp>
      <p:sp>
        <p:nvSpPr>
          <p:cNvPr id="9" name="txt_421"/>
          <p:cNvSpPr txBox="1"/>
          <p:nvPr/>
        </p:nvSpPr>
        <p:spPr>
          <a:xfrm>
            <a:off x="1133856" y="253288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解決できたら、そのIPアドレスを ADDR= に出す</a:t>
            </a:r>
            <a:endParaRPr lang="en-US" sz="1350" dirty="0"/>
          </a:p>
        </p:txBody>
      </p:sp>
      <p:sp>
        <p:nvSpPr>
          <p:cNvPr id="10" name="txt_422"/>
          <p:cNvSpPr txBox="1"/>
          <p:nvPr/>
        </p:nvSpPr>
        <p:spPr>
          <a:xfrm>
            <a:off x="914400" y="3008376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6CB5"/>
                </a:solidFill>
              </a:rPr>
              <a:t>・</a:t>
            </a:r>
            <a:endParaRPr lang="en-US" sz="1400" dirty="0"/>
          </a:p>
        </p:txBody>
      </p:sp>
      <p:sp>
        <p:nvSpPr>
          <p:cNvPr id="11" name="txt_423"/>
          <p:cNvSpPr txBox="1"/>
          <p:nvPr/>
        </p:nvSpPr>
        <p:spPr>
          <a:xfrm>
            <a:off x="1133856" y="300837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UnknownHostException なら ADDR=-（ハイフン1文字）</a:t>
            </a:r>
            <a:endParaRPr lang="en-US" sz="1350" dirty="0"/>
          </a:p>
        </p:txBody>
      </p:sp>
      <p:sp>
        <p:nvSpPr>
          <p:cNvPr id="12" name="txt_424"/>
          <p:cNvSpPr txBox="1"/>
          <p:nvPr/>
        </p:nvSpPr>
        <p:spPr>
          <a:xfrm>
            <a:off x="914400" y="3483864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6CB5"/>
                </a:solidFill>
              </a:rPr>
              <a:t>・</a:t>
            </a:r>
            <a:endParaRPr lang="en-US" sz="1400" dirty="0"/>
          </a:p>
        </p:txBody>
      </p:sp>
      <p:sp>
        <p:nvSpPr>
          <p:cNvPr id="13" name="txt_425"/>
          <p:cNvSpPr txBox="1"/>
          <p:nvPr/>
        </p:nvSpPr>
        <p:spPr>
          <a:xfrm>
            <a:off x="1133856" y="348386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出力の順番は HOST → ADDR → PORT</a:t>
            </a:r>
            <a:endParaRPr lang="en-US" sz="1350" dirty="0"/>
          </a:p>
        </p:txBody>
      </p:sp>
      <p:sp>
        <p:nvSpPr>
          <p:cNvPr id="14" name="card_426"/>
          <p:cNvSpPr/>
          <p:nvPr/>
        </p:nvSpPr>
        <p:spPr>
          <a:xfrm>
            <a:off x="914400" y="4069080"/>
            <a:ext cx="530352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rgbClr val="C7D6E4"/>
            </a:solidFill>
            <a:prstDash val="solid"/>
          </a:ln>
        </p:spPr>
      </p:sp>
      <p:sp>
        <p:nvSpPr>
          <p:cNvPr id="15" name="txt_427"/>
          <p:cNvSpPr txBox="1"/>
          <p:nvPr/>
        </p:nvSpPr>
        <p:spPr>
          <a:xfrm>
            <a:off x="1115568" y="4069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</a:rPr>
              <a:t>この問で増える行　</a:t>
            </a:r>
            <a:pPr indent="0" marL="0">
              <a:buNone/>
            </a:pPr>
            <a:r>
              <a:rPr lang="en-US" sz="1350" b="1" dirty="0">
                <a:solidFill>
                  <a:srgbClr val="08507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ADDR=</a:t>
            </a:r>
            <a:endParaRPr lang="en-US" sz="1200" dirty="0"/>
          </a:p>
        </p:txBody>
      </p:sp>
      <p:sp>
        <p:nvSpPr>
          <p:cNvPr id="16" name="card_428"/>
          <p:cNvSpPr/>
          <p:nvPr/>
        </p:nvSpPr>
        <p:spPr>
          <a:xfrm>
            <a:off x="6647688" y="1325880"/>
            <a:ext cx="4828032" cy="3246120"/>
          </a:xfrm>
          <a:prstGeom prst="roundRect">
            <a:avLst>
              <a:gd name="adj" fmla="val 1690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17" name="chip_429"/>
          <p:cNvSpPr/>
          <p:nvPr/>
        </p:nvSpPr>
        <p:spPr>
          <a:xfrm>
            <a:off x="6876288" y="1536192"/>
            <a:ext cx="1051560" cy="384048"/>
          </a:xfrm>
          <a:prstGeom prst="roundRect">
            <a:avLst>
              <a:gd name="adj" fmla="val 119048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xt_430"/>
          <p:cNvSpPr txBox="1"/>
          <p:nvPr/>
        </p:nvSpPr>
        <p:spPr>
          <a:xfrm>
            <a:off x="6876288" y="153619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実行例</a:t>
            </a:r>
            <a:endParaRPr lang="en-US" sz="1200" dirty="0"/>
          </a:p>
        </p:txBody>
      </p:sp>
      <p:sp>
        <p:nvSpPr>
          <p:cNvPr id="19" name="code_431"/>
          <p:cNvSpPr/>
          <p:nvPr/>
        </p:nvSpPr>
        <p:spPr>
          <a:xfrm>
            <a:off x="6876288" y="2057400"/>
            <a:ext cx="4370832" cy="2377440"/>
          </a:xfrm>
          <a:prstGeom prst="roundRect">
            <a:avLst>
              <a:gd name="adj" fmla="val 1538"/>
            </a:avLst>
          </a:prstGeom>
          <a:solidFill>
            <a:srgbClr val="F4F6F9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0" name="txt_432"/>
          <p:cNvSpPr txBox="1"/>
          <p:nvPr/>
        </p:nvSpPr>
        <p:spPr>
          <a:xfrm>
            <a:off x="7040880" y="2185416"/>
            <a:ext cx="4041648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&gt; java NetProbe localhost 40001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HOST=localhost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ADDR=127.0.0.1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PORT=40001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&gt; java NetProbe no-such-host.invalid 40001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HOST=no-such-host.invalid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ADDR=-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PORT=40001</a:t>
            </a:r>
            <a:endParaRPr lang="en-US" sz="1250" dirty="0"/>
          </a:p>
        </p:txBody>
      </p:sp>
      <p:sp>
        <p:nvSpPr>
          <p:cNvPr id="21" name="card_433"/>
          <p:cNvSpPr/>
          <p:nvPr/>
        </p:nvSpPr>
        <p:spPr>
          <a:xfrm>
            <a:off x="685800" y="4736592"/>
            <a:ext cx="10789920" cy="1225296"/>
          </a:xfrm>
          <a:prstGeom prst="roundRect">
            <a:avLst>
              <a:gd name="adj" fmla="val 4478"/>
            </a:avLst>
          </a:prstGeom>
          <a:solidFill>
            <a:srgbClr val="FFF1F0"/>
          </a:solidFill>
          <a:ln w="12700">
            <a:solidFill>
              <a:srgbClr val="F0B4AE"/>
            </a:solidFill>
            <a:prstDash val="solid"/>
          </a:ln>
        </p:spPr>
      </p:sp>
      <p:sp>
        <p:nvSpPr>
          <p:cNvPr id="22" name="txt_434"/>
          <p:cNvSpPr txBox="1"/>
          <p:nvPr/>
        </p:nvSpPr>
        <p:spPr>
          <a:xfrm>
            <a:off x="960120" y="4736592"/>
            <a:ext cx="102412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1F1F"/>
                </a:solidFill>
              </a:rPr>
              <a:t>ここでつまずく
</a:t>
            </a:r>
            <a:pPr indent="0" marL="0">
              <a:buNone/>
            </a:pPr>
            <a:r>
              <a:rPr lang="en-US" sz="1400" dirty="0">
                <a:solidFill>
                  <a:srgbClr val="7A1F1F"/>
                </a:solidFill>
              </a:rPr>
              <a:t>例外を throws で呼び出し元に逃がさないこと。自分で catch して ADDR=- を出します。演習Bで直したのと同じ箇所です。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507F"/>
                </a:solidFill>
              </a:rPr>
              <a:t>問3　接続して RESULT= を4種に分ける</a:t>
            </a:r>
            <a:endParaRPr lang="en-US" sz="3000" dirty="0"/>
          </a:p>
        </p:txBody>
      </p:sp>
      <p:sp>
        <p:nvSpPr>
          <p:cNvPr id="3" name="card_435"/>
          <p:cNvSpPr/>
          <p:nvPr/>
        </p:nvSpPr>
        <p:spPr>
          <a:xfrm>
            <a:off x="685800" y="1325880"/>
            <a:ext cx="5760720" cy="3246120"/>
          </a:xfrm>
          <a:prstGeom prst="roundRect">
            <a:avLst>
              <a:gd name="adj" fmla="val 1690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4" name="chip_436"/>
          <p:cNvSpPr/>
          <p:nvPr/>
        </p:nvSpPr>
        <p:spPr>
          <a:xfrm>
            <a:off x="914400" y="1536192"/>
            <a:ext cx="1234440" cy="384048"/>
          </a:xfrm>
          <a:prstGeom prst="roundRect">
            <a:avLst>
              <a:gd name="adj" fmla="val 119048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xt_437"/>
          <p:cNvSpPr txBox="1"/>
          <p:nvPr/>
        </p:nvSpPr>
        <p:spPr>
          <a:xfrm>
            <a:off x="914400" y="15361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やること</a:t>
            </a:r>
            <a:endParaRPr lang="en-US" sz="1200" dirty="0"/>
          </a:p>
        </p:txBody>
      </p:sp>
      <p:sp>
        <p:nvSpPr>
          <p:cNvPr id="6" name="txt_438"/>
          <p:cNvSpPr txBox="1"/>
          <p:nvPr/>
        </p:nvSpPr>
        <p:spPr>
          <a:xfrm>
            <a:off x="914400" y="20574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0392B"/>
                </a:solidFill>
              </a:rPr>
              <a:t>・</a:t>
            </a:r>
            <a:endParaRPr lang="en-US" sz="1400" dirty="0"/>
          </a:p>
        </p:txBody>
      </p:sp>
      <p:sp>
        <p:nvSpPr>
          <p:cNvPr id="7" name="txt_439"/>
          <p:cNvSpPr txBox="1"/>
          <p:nvPr/>
        </p:nvSpPr>
        <p:spPr>
          <a:xfrm>
            <a:off x="1133856" y="20574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Socket() を作り、connect(アドレス, 2000) で接続する</a:t>
            </a:r>
            <a:endParaRPr lang="en-US" sz="1350" dirty="0"/>
          </a:p>
        </p:txBody>
      </p:sp>
      <p:sp>
        <p:nvSpPr>
          <p:cNvPr id="8" name="txt_440"/>
          <p:cNvSpPr txBox="1"/>
          <p:nvPr/>
        </p:nvSpPr>
        <p:spPr>
          <a:xfrm>
            <a:off x="914400" y="2532888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0392B"/>
                </a:solidFill>
              </a:rPr>
              <a:t>・</a:t>
            </a:r>
            <a:endParaRPr lang="en-US" sz="1400" dirty="0"/>
          </a:p>
        </p:txBody>
      </p:sp>
      <p:sp>
        <p:nvSpPr>
          <p:cNvPr id="9" name="txt_441"/>
          <p:cNvSpPr txBox="1"/>
          <p:nvPr/>
        </p:nvSpPr>
        <p:spPr>
          <a:xfrm>
            <a:off x="1133856" y="253288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成功したら CONNECTED</a:t>
            </a:r>
            <a:endParaRPr lang="en-US" sz="1350" dirty="0"/>
          </a:p>
        </p:txBody>
      </p:sp>
      <p:sp>
        <p:nvSpPr>
          <p:cNvPr id="10" name="txt_442"/>
          <p:cNvSpPr txBox="1"/>
          <p:nvPr/>
        </p:nvSpPr>
        <p:spPr>
          <a:xfrm>
            <a:off x="914400" y="3008376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0392B"/>
                </a:solidFill>
              </a:rPr>
              <a:t>・</a:t>
            </a:r>
            <a:endParaRPr lang="en-US" sz="1400" dirty="0"/>
          </a:p>
        </p:txBody>
      </p:sp>
      <p:sp>
        <p:nvSpPr>
          <p:cNvPr id="11" name="txt_443"/>
          <p:cNvSpPr txBox="1"/>
          <p:nvPr/>
        </p:nvSpPr>
        <p:spPr>
          <a:xfrm>
            <a:off x="1133856" y="300837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UnknownHostException → UNKNOWN_HOST</a:t>
            </a:r>
            <a:endParaRPr lang="en-US" sz="1350" dirty="0"/>
          </a:p>
        </p:txBody>
      </p:sp>
      <p:sp>
        <p:nvSpPr>
          <p:cNvPr id="12" name="txt_444"/>
          <p:cNvSpPr txBox="1"/>
          <p:nvPr/>
        </p:nvSpPr>
        <p:spPr>
          <a:xfrm>
            <a:off x="914400" y="3483864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0392B"/>
                </a:solidFill>
              </a:rPr>
              <a:t>・</a:t>
            </a:r>
            <a:endParaRPr lang="en-US" sz="1400" dirty="0"/>
          </a:p>
        </p:txBody>
      </p:sp>
      <p:sp>
        <p:nvSpPr>
          <p:cNvPr id="13" name="txt_445"/>
          <p:cNvSpPr txBox="1"/>
          <p:nvPr/>
        </p:nvSpPr>
        <p:spPr>
          <a:xfrm>
            <a:off x="1133856" y="348386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ConnectException → REFUSED ／ SocketTimeoutException → TIMEOUT</a:t>
            </a:r>
            <a:endParaRPr lang="en-US" sz="1350" dirty="0"/>
          </a:p>
        </p:txBody>
      </p:sp>
      <p:sp>
        <p:nvSpPr>
          <p:cNvPr id="14" name="card_446"/>
          <p:cNvSpPr/>
          <p:nvPr/>
        </p:nvSpPr>
        <p:spPr>
          <a:xfrm>
            <a:off x="914400" y="4069080"/>
            <a:ext cx="530352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rgbClr val="C7D6E4"/>
            </a:solidFill>
            <a:prstDash val="solid"/>
          </a:ln>
        </p:spPr>
      </p:sp>
      <p:sp>
        <p:nvSpPr>
          <p:cNvPr id="15" name="txt_447"/>
          <p:cNvSpPr txBox="1"/>
          <p:nvPr/>
        </p:nvSpPr>
        <p:spPr>
          <a:xfrm>
            <a:off x="1115568" y="4069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</a:rPr>
              <a:t>この問で増える行　</a:t>
            </a:r>
            <a:pPr indent="0" marL="0">
              <a:buNone/>
            </a:pPr>
            <a:r>
              <a:rPr lang="en-US" sz="1350" b="1" dirty="0">
                <a:solidFill>
                  <a:srgbClr val="08507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RESULT=</a:t>
            </a:r>
            <a:endParaRPr lang="en-US" sz="1200" dirty="0"/>
          </a:p>
        </p:txBody>
      </p:sp>
      <p:sp>
        <p:nvSpPr>
          <p:cNvPr id="16" name="card_448"/>
          <p:cNvSpPr/>
          <p:nvPr/>
        </p:nvSpPr>
        <p:spPr>
          <a:xfrm>
            <a:off x="6647688" y="1325880"/>
            <a:ext cx="4828032" cy="3246120"/>
          </a:xfrm>
          <a:prstGeom prst="roundRect">
            <a:avLst>
              <a:gd name="adj" fmla="val 1690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17" name="chip_449"/>
          <p:cNvSpPr/>
          <p:nvPr/>
        </p:nvSpPr>
        <p:spPr>
          <a:xfrm>
            <a:off x="6876288" y="1536192"/>
            <a:ext cx="1051560" cy="384048"/>
          </a:xfrm>
          <a:prstGeom prst="roundRect">
            <a:avLst>
              <a:gd name="adj" fmla="val 119048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xt_450"/>
          <p:cNvSpPr txBox="1"/>
          <p:nvPr/>
        </p:nvSpPr>
        <p:spPr>
          <a:xfrm>
            <a:off x="6876288" y="153619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実行例</a:t>
            </a:r>
            <a:endParaRPr lang="en-US" sz="1200" dirty="0"/>
          </a:p>
        </p:txBody>
      </p:sp>
      <p:sp>
        <p:nvSpPr>
          <p:cNvPr id="19" name="code_451"/>
          <p:cNvSpPr/>
          <p:nvPr/>
        </p:nvSpPr>
        <p:spPr>
          <a:xfrm>
            <a:off x="6876288" y="2057400"/>
            <a:ext cx="4370832" cy="2377440"/>
          </a:xfrm>
          <a:prstGeom prst="roundRect">
            <a:avLst>
              <a:gd name="adj" fmla="val 1538"/>
            </a:avLst>
          </a:prstGeom>
          <a:solidFill>
            <a:srgbClr val="F4F6F9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0" name="txt_452"/>
          <p:cNvSpPr txBox="1"/>
          <p:nvPr/>
        </p:nvSpPr>
        <p:spPr>
          <a:xfrm>
            <a:off x="7040880" y="2185416"/>
            <a:ext cx="4041648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&gt; java NetProbe localhost 40099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HOST=localhost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ADDR=127.0.0.1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PORT=40099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RESULT=REFUSED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※ 出る値はこの4種のみ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CONNECTED / UNKNOWN_HOST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REFUSED   / TIMEOUT</a:t>
            </a:r>
            <a:endParaRPr lang="en-US" sz="1250" dirty="0"/>
          </a:p>
        </p:txBody>
      </p:sp>
      <p:sp>
        <p:nvSpPr>
          <p:cNvPr id="21" name="card_453"/>
          <p:cNvSpPr/>
          <p:nvPr/>
        </p:nvSpPr>
        <p:spPr>
          <a:xfrm>
            <a:off x="685800" y="4736592"/>
            <a:ext cx="10789920" cy="1225296"/>
          </a:xfrm>
          <a:prstGeom prst="roundRect">
            <a:avLst>
              <a:gd name="adj" fmla="val 4478"/>
            </a:avLst>
          </a:prstGeom>
          <a:solidFill>
            <a:srgbClr val="FFF1F0"/>
          </a:solidFill>
          <a:ln w="12700">
            <a:solidFill>
              <a:srgbClr val="F0B4AE"/>
            </a:solidFill>
            <a:prstDash val="solid"/>
          </a:ln>
        </p:spPr>
      </p:sp>
      <p:sp>
        <p:nvSpPr>
          <p:cNvPr id="22" name="txt_454"/>
          <p:cNvSpPr txBox="1"/>
          <p:nvPr/>
        </p:nvSpPr>
        <p:spPr>
          <a:xfrm>
            <a:off x="960120" y="4736592"/>
            <a:ext cx="102412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1F1F"/>
                </a:solidFill>
              </a:rPr>
              <a:t>ここが課題の中心。2つとも落としやすい
</a:t>
            </a:r>
            <a:pPr indent="0" marL="0">
              <a:buNone/>
            </a:pPr>
            <a:r>
              <a:rPr lang="en-US" sz="1400" dirty="0">
                <a:solidFill>
                  <a:srgbClr val="7A1F1F"/>
                </a:solidFill>
              </a:rPr>
              <a:t>catch (Exception e) でまとめないこと。もう1つは catch の順番で、広い例外を先に書くと後ろの catch に到達しません。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507F"/>
                </a:solidFill>
              </a:rPr>
              <a:t>問4　所要時間を測り、出力を5行そろえる</a:t>
            </a:r>
            <a:endParaRPr lang="en-US" sz="3000" dirty="0"/>
          </a:p>
        </p:txBody>
      </p:sp>
      <p:sp>
        <p:nvSpPr>
          <p:cNvPr id="3" name="card_455"/>
          <p:cNvSpPr/>
          <p:nvPr/>
        </p:nvSpPr>
        <p:spPr>
          <a:xfrm>
            <a:off x="685800" y="1325880"/>
            <a:ext cx="5760720" cy="3246120"/>
          </a:xfrm>
          <a:prstGeom prst="roundRect">
            <a:avLst>
              <a:gd name="adj" fmla="val 1690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4" name="chip_456"/>
          <p:cNvSpPr/>
          <p:nvPr/>
        </p:nvSpPr>
        <p:spPr>
          <a:xfrm>
            <a:off x="914400" y="1536192"/>
            <a:ext cx="1234440" cy="384048"/>
          </a:xfrm>
          <a:prstGeom prst="roundRect">
            <a:avLst>
              <a:gd name="adj" fmla="val 119048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5" name="txt_457"/>
          <p:cNvSpPr txBox="1"/>
          <p:nvPr/>
        </p:nvSpPr>
        <p:spPr>
          <a:xfrm>
            <a:off x="914400" y="15361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やること</a:t>
            </a:r>
            <a:endParaRPr lang="en-US" sz="1200" dirty="0"/>
          </a:p>
        </p:txBody>
      </p:sp>
      <p:sp>
        <p:nvSpPr>
          <p:cNvPr id="6" name="txt_458"/>
          <p:cNvSpPr txBox="1"/>
          <p:nvPr/>
        </p:nvSpPr>
        <p:spPr>
          <a:xfrm>
            <a:off x="914400" y="20574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38CA"/>
                </a:solidFill>
              </a:rPr>
              <a:t>・</a:t>
            </a:r>
            <a:endParaRPr lang="en-US" sz="1400" dirty="0"/>
          </a:p>
        </p:txBody>
      </p:sp>
      <p:sp>
        <p:nvSpPr>
          <p:cNvPr id="7" name="txt_459"/>
          <p:cNvSpPr txBox="1"/>
          <p:nvPr/>
        </p:nvSpPr>
        <p:spPr>
          <a:xfrm>
            <a:off x="1133856" y="20574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接続を始める直前に System.currentTimeMillis() を記録</a:t>
            </a:r>
            <a:endParaRPr lang="en-US" sz="1350" dirty="0"/>
          </a:p>
        </p:txBody>
      </p:sp>
      <p:sp>
        <p:nvSpPr>
          <p:cNvPr id="8" name="txt_460"/>
          <p:cNvSpPr txBox="1"/>
          <p:nvPr/>
        </p:nvSpPr>
        <p:spPr>
          <a:xfrm>
            <a:off x="914400" y="2532888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38CA"/>
                </a:solidFill>
              </a:rPr>
              <a:t>・</a:t>
            </a:r>
            <a:endParaRPr lang="en-US" sz="1400" dirty="0"/>
          </a:p>
        </p:txBody>
      </p:sp>
      <p:sp>
        <p:nvSpPr>
          <p:cNvPr id="9" name="txt_461"/>
          <p:cNvSpPr txBox="1"/>
          <p:nvPr/>
        </p:nvSpPr>
        <p:spPr>
          <a:xfrm>
            <a:off x="1133856" y="253288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終わったあとの差を ELAPSED_MS= に整数で出す</a:t>
            </a:r>
            <a:endParaRPr lang="en-US" sz="1350" dirty="0"/>
          </a:p>
        </p:txBody>
      </p:sp>
      <p:sp>
        <p:nvSpPr>
          <p:cNvPr id="10" name="txt_462"/>
          <p:cNvSpPr txBox="1"/>
          <p:nvPr/>
        </p:nvSpPr>
        <p:spPr>
          <a:xfrm>
            <a:off x="914400" y="3008376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38CA"/>
                </a:solidFill>
              </a:rPr>
              <a:t>・</a:t>
            </a:r>
            <a:endParaRPr lang="en-US" sz="1400" dirty="0"/>
          </a:p>
        </p:txBody>
      </p:sp>
      <p:sp>
        <p:nvSpPr>
          <p:cNvPr id="11" name="txt_463"/>
          <p:cNvSpPr txBox="1"/>
          <p:nvPr/>
        </p:nvSpPr>
        <p:spPr>
          <a:xfrm>
            <a:off x="1133856" y="300837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どの入力でも、出力はちょうど5行にする</a:t>
            </a:r>
            <a:endParaRPr lang="en-US" sz="1350" dirty="0"/>
          </a:p>
        </p:txBody>
      </p:sp>
      <p:sp>
        <p:nvSpPr>
          <p:cNvPr id="12" name="txt_464"/>
          <p:cNvSpPr txBox="1"/>
          <p:nvPr/>
        </p:nvSpPr>
        <p:spPr>
          <a:xfrm>
            <a:off x="914400" y="3483864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38CA"/>
                </a:solidFill>
              </a:rPr>
              <a:t>・</a:t>
            </a:r>
            <a:endParaRPr lang="en-US" sz="1400" dirty="0"/>
          </a:p>
        </p:txBody>
      </p:sp>
      <p:sp>
        <p:nvSpPr>
          <p:cNvPr id="13" name="txt_465"/>
          <p:cNvSpPr txBox="1"/>
          <p:nvPr/>
        </p:nvSpPr>
        <p:spPr>
          <a:xfrm>
            <a:off x="1133856" y="348386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ポート番号が数値でないときも落ちずに終了する</a:t>
            </a:r>
            <a:endParaRPr lang="en-US" sz="1350" dirty="0"/>
          </a:p>
        </p:txBody>
      </p:sp>
      <p:sp>
        <p:nvSpPr>
          <p:cNvPr id="14" name="card_466"/>
          <p:cNvSpPr/>
          <p:nvPr/>
        </p:nvSpPr>
        <p:spPr>
          <a:xfrm>
            <a:off x="914400" y="4069080"/>
            <a:ext cx="530352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rgbClr val="C7D6E4"/>
            </a:solidFill>
            <a:prstDash val="solid"/>
          </a:ln>
        </p:spPr>
      </p:sp>
      <p:sp>
        <p:nvSpPr>
          <p:cNvPr id="15" name="txt_467"/>
          <p:cNvSpPr txBox="1"/>
          <p:nvPr/>
        </p:nvSpPr>
        <p:spPr>
          <a:xfrm>
            <a:off x="1115568" y="4069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</a:rPr>
              <a:t>この問で増える行　</a:t>
            </a:r>
            <a:pPr indent="0" marL="0">
              <a:buNone/>
            </a:pPr>
            <a:r>
              <a:rPr lang="en-US" sz="1350" b="1" dirty="0">
                <a:solidFill>
                  <a:srgbClr val="08507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ELAPSED_MS=</a:t>
            </a:r>
            <a:endParaRPr lang="en-US" sz="1200" dirty="0"/>
          </a:p>
        </p:txBody>
      </p:sp>
      <p:sp>
        <p:nvSpPr>
          <p:cNvPr id="16" name="card_468"/>
          <p:cNvSpPr/>
          <p:nvPr/>
        </p:nvSpPr>
        <p:spPr>
          <a:xfrm>
            <a:off x="6647688" y="1325880"/>
            <a:ext cx="4828032" cy="3246120"/>
          </a:xfrm>
          <a:prstGeom prst="roundRect">
            <a:avLst>
              <a:gd name="adj" fmla="val 1690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17" name="chip_469"/>
          <p:cNvSpPr/>
          <p:nvPr/>
        </p:nvSpPr>
        <p:spPr>
          <a:xfrm>
            <a:off x="6876288" y="1536192"/>
            <a:ext cx="1051560" cy="384048"/>
          </a:xfrm>
          <a:prstGeom prst="roundRect">
            <a:avLst>
              <a:gd name="adj" fmla="val 119048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xt_470"/>
          <p:cNvSpPr txBox="1"/>
          <p:nvPr/>
        </p:nvSpPr>
        <p:spPr>
          <a:xfrm>
            <a:off x="6876288" y="153619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実行例</a:t>
            </a:r>
            <a:endParaRPr lang="en-US" sz="1200" dirty="0"/>
          </a:p>
        </p:txBody>
      </p:sp>
      <p:sp>
        <p:nvSpPr>
          <p:cNvPr id="19" name="code_471"/>
          <p:cNvSpPr/>
          <p:nvPr/>
        </p:nvSpPr>
        <p:spPr>
          <a:xfrm>
            <a:off x="6876288" y="2057400"/>
            <a:ext cx="4370832" cy="2377440"/>
          </a:xfrm>
          <a:prstGeom prst="roundRect">
            <a:avLst>
              <a:gd name="adj" fmla="val 1538"/>
            </a:avLst>
          </a:prstGeom>
          <a:solidFill>
            <a:srgbClr val="F4F6F9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0" name="txt_472"/>
          <p:cNvSpPr txBox="1"/>
          <p:nvPr/>
        </p:nvSpPr>
        <p:spPr>
          <a:xfrm>
            <a:off x="7040880" y="2185416"/>
            <a:ext cx="4041648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&gt; java NetProbe 10.255.255.1 40001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HOST=10.255.255.1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ADDR=10.255.255.1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PORT=40001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RESULT=TIMEOUT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ELAPSED_MS=2001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※ ELAPSED_MS の値は採点で見ません</a:t>
            </a:r>
            <a:endParaRPr lang="en-US" sz="1250" dirty="0"/>
          </a:p>
        </p:txBody>
      </p:sp>
      <p:sp>
        <p:nvSpPr>
          <p:cNvPr id="21" name="card_473"/>
          <p:cNvSpPr/>
          <p:nvPr/>
        </p:nvSpPr>
        <p:spPr>
          <a:xfrm>
            <a:off x="685800" y="4736592"/>
            <a:ext cx="10789920" cy="1225296"/>
          </a:xfrm>
          <a:prstGeom prst="roundRect">
            <a:avLst>
              <a:gd name="adj" fmla="val 4478"/>
            </a:avLst>
          </a:prstGeom>
          <a:solidFill>
            <a:srgbClr val="FFF1F0"/>
          </a:solidFill>
          <a:ln w="12700">
            <a:solidFill>
              <a:srgbClr val="F0B4AE"/>
            </a:solidFill>
            <a:prstDash val="solid"/>
          </a:ln>
        </p:spPr>
      </p:sp>
      <p:sp>
        <p:nvSpPr>
          <p:cNvPr id="22" name="txt_474"/>
          <p:cNvSpPr txBox="1"/>
          <p:nvPr/>
        </p:nvSpPr>
        <p:spPr>
          <a:xfrm>
            <a:off x="960120" y="4736592"/>
            <a:ext cx="102412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1F1F"/>
                </a:solidFill>
              </a:rPr>
              <a:t>ここでつまずく
</a:t>
            </a:r>
            <a:pPr indent="0" marL="0">
              <a:buNone/>
            </a:pPr>
            <a:r>
              <a:rPr lang="en-US" sz="1400" dirty="0">
                <a:solidFill>
                  <a:srgbClr val="7A1F1F"/>
                </a:solidFill>
              </a:rPr>
              <a:t>デバッグ用に入れた System.out.println の消し忘れ。採点スクリプトが lines=6 として落とします。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507F"/>
                </a:solidFill>
              </a:rPr>
              <a:t>問5　自己採点を通し、記録を添えて提出する</a:t>
            </a:r>
            <a:endParaRPr lang="en-US" sz="3000" dirty="0"/>
          </a:p>
        </p:txBody>
      </p:sp>
      <p:sp>
        <p:nvSpPr>
          <p:cNvPr id="3" name="card_475"/>
          <p:cNvSpPr/>
          <p:nvPr/>
        </p:nvSpPr>
        <p:spPr>
          <a:xfrm>
            <a:off x="685800" y="1325880"/>
            <a:ext cx="5760720" cy="3246120"/>
          </a:xfrm>
          <a:prstGeom prst="roundRect">
            <a:avLst>
              <a:gd name="adj" fmla="val 1690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4" name="chip_476"/>
          <p:cNvSpPr/>
          <p:nvPr/>
        </p:nvSpPr>
        <p:spPr>
          <a:xfrm>
            <a:off x="914400" y="1536192"/>
            <a:ext cx="1234440" cy="384048"/>
          </a:xfrm>
          <a:prstGeom prst="roundRect">
            <a:avLst>
              <a:gd name="adj" fmla="val 119048"/>
            </a:avLst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5" name="txt_477"/>
          <p:cNvSpPr txBox="1"/>
          <p:nvPr/>
        </p:nvSpPr>
        <p:spPr>
          <a:xfrm>
            <a:off x="914400" y="15361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やること</a:t>
            </a:r>
            <a:endParaRPr lang="en-US" sz="1200" dirty="0"/>
          </a:p>
        </p:txBody>
      </p:sp>
      <p:sp>
        <p:nvSpPr>
          <p:cNvPr id="6" name="txt_478"/>
          <p:cNvSpPr txBox="1"/>
          <p:nvPr/>
        </p:nvSpPr>
        <p:spPr>
          <a:xfrm>
            <a:off x="914400" y="20574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9E44"/>
                </a:solidFill>
              </a:rPr>
              <a:t>・</a:t>
            </a:r>
            <a:endParaRPr lang="en-US" sz="1400" dirty="0"/>
          </a:p>
        </p:txBody>
      </p:sp>
      <p:sp>
        <p:nvSpPr>
          <p:cNvPr id="7" name="txt_479"/>
          <p:cNvSpPr txBox="1"/>
          <p:nvPr/>
        </p:nvSpPr>
        <p:spPr>
          <a:xfrm>
            <a:off x="1133856" y="20574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別ウィンドウで EchoServer を 40001 で起動しておく</a:t>
            </a:r>
            <a:endParaRPr lang="en-US" sz="1350" dirty="0"/>
          </a:p>
        </p:txBody>
      </p:sp>
      <p:sp>
        <p:nvSpPr>
          <p:cNvPr id="8" name="txt_480"/>
          <p:cNvSpPr txBox="1"/>
          <p:nvPr/>
        </p:nvSpPr>
        <p:spPr>
          <a:xfrm>
            <a:off x="914400" y="2532888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9E44"/>
                </a:solidFill>
              </a:rPr>
              <a:t>・</a:t>
            </a:r>
            <a:endParaRPr lang="en-US" sz="1400" dirty="0"/>
          </a:p>
        </p:txBody>
      </p:sp>
      <p:sp>
        <p:nvSpPr>
          <p:cNvPr id="9" name="txt_481"/>
          <p:cNvSpPr txBox="1"/>
          <p:nvPr/>
        </p:nvSpPr>
        <p:spPr>
          <a:xfrm>
            <a:off x="1133856" y="253288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check.ps1 を実行し、4 / 4 passed を確認する</a:t>
            </a:r>
            <a:endParaRPr lang="en-US" sz="1350" dirty="0"/>
          </a:p>
        </p:txBody>
      </p:sp>
      <p:sp>
        <p:nvSpPr>
          <p:cNvPr id="10" name="txt_482"/>
          <p:cNvSpPr txBox="1"/>
          <p:nvPr/>
        </p:nvSpPr>
        <p:spPr>
          <a:xfrm>
            <a:off x="914400" y="3008376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9E44"/>
                </a:solidFill>
              </a:rPr>
              <a:t>・</a:t>
            </a:r>
            <a:endParaRPr lang="en-US" sz="1400" dirty="0"/>
          </a:p>
        </p:txBody>
      </p:sp>
      <p:sp>
        <p:nvSpPr>
          <p:cNvPr id="11" name="txt_483"/>
          <p:cNvSpPr txBox="1"/>
          <p:nvPr/>
        </p:nvSpPr>
        <p:spPr>
          <a:xfrm>
            <a:off x="1133856" y="300837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prompt_log.md に、使ったプロンプトを3件、原文のまま書く</a:t>
            </a:r>
            <a:endParaRPr lang="en-US" sz="1350" dirty="0"/>
          </a:p>
        </p:txBody>
      </p:sp>
      <p:sp>
        <p:nvSpPr>
          <p:cNvPr id="12" name="txt_484"/>
          <p:cNvSpPr txBox="1"/>
          <p:nvPr/>
        </p:nvSpPr>
        <p:spPr>
          <a:xfrm>
            <a:off x="914400" y="3483864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9E44"/>
                </a:solidFill>
              </a:rPr>
              <a:t>・</a:t>
            </a:r>
            <a:endParaRPr lang="en-US" sz="1400" dirty="0"/>
          </a:p>
        </p:txBody>
      </p:sp>
      <p:sp>
        <p:nvSpPr>
          <p:cNvPr id="13" name="txt_485"/>
          <p:cNvSpPr txBox="1"/>
          <p:nvPr/>
        </p:nvSpPr>
        <p:spPr>
          <a:xfrm>
            <a:off x="1133856" y="348386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NetProbe.java と prompt_log.md の2ファイルを提出する</a:t>
            </a:r>
            <a:endParaRPr lang="en-US" sz="1350" dirty="0"/>
          </a:p>
        </p:txBody>
      </p:sp>
      <p:sp>
        <p:nvSpPr>
          <p:cNvPr id="14" name="card_486"/>
          <p:cNvSpPr/>
          <p:nvPr/>
        </p:nvSpPr>
        <p:spPr>
          <a:xfrm>
            <a:off x="914400" y="4069080"/>
            <a:ext cx="530352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rgbClr val="C7D6E4"/>
            </a:solidFill>
            <a:prstDash val="solid"/>
          </a:ln>
        </p:spPr>
      </p:sp>
      <p:sp>
        <p:nvSpPr>
          <p:cNvPr id="15" name="txt_487"/>
          <p:cNvSpPr txBox="1"/>
          <p:nvPr/>
        </p:nvSpPr>
        <p:spPr>
          <a:xfrm>
            <a:off x="1115568" y="4069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</a:rPr>
              <a:t>この問で増える行　</a:t>
            </a:r>
            <a:pPr indent="0" marL="0">
              <a:buNone/>
            </a:pPr>
            <a:r>
              <a:rPr lang="en-US" sz="1350" b="1" dirty="0">
                <a:solidFill>
                  <a:srgbClr val="08507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4 / 4 passed</a:t>
            </a:r>
            <a:endParaRPr lang="en-US" sz="1200" dirty="0"/>
          </a:p>
        </p:txBody>
      </p:sp>
      <p:sp>
        <p:nvSpPr>
          <p:cNvPr id="16" name="card_488"/>
          <p:cNvSpPr/>
          <p:nvPr/>
        </p:nvSpPr>
        <p:spPr>
          <a:xfrm>
            <a:off x="6647688" y="1325880"/>
            <a:ext cx="4828032" cy="3246120"/>
          </a:xfrm>
          <a:prstGeom prst="roundRect">
            <a:avLst>
              <a:gd name="adj" fmla="val 1690"/>
            </a:avLst>
          </a:prstGeom>
          <a:solidFill>
            <a:schemeClr val="bg1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17" name="chip_489"/>
          <p:cNvSpPr/>
          <p:nvPr/>
        </p:nvSpPr>
        <p:spPr>
          <a:xfrm>
            <a:off x="6876288" y="1536192"/>
            <a:ext cx="1051560" cy="384048"/>
          </a:xfrm>
          <a:prstGeom prst="roundRect">
            <a:avLst>
              <a:gd name="adj" fmla="val 119048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xt_490"/>
          <p:cNvSpPr txBox="1"/>
          <p:nvPr/>
        </p:nvSpPr>
        <p:spPr>
          <a:xfrm>
            <a:off x="6876288" y="153619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実行例</a:t>
            </a:r>
            <a:endParaRPr lang="en-US" sz="1200" dirty="0"/>
          </a:p>
        </p:txBody>
      </p:sp>
      <p:sp>
        <p:nvSpPr>
          <p:cNvPr id="19" name="code_491"/>
          <p:cNvSpPr/>
          <p:nvPr/>
        </p:nvSpPr>
        <p:spPr>
          <a:xfrm>
            <a:off x="6876288" y="2057400"/>
            <a:ext cx="4370832" cy="2377440"/>
          </a:xfrm>
          <a:prstGeom prst="roundRect">
            <a:avLst>
              <a:gd name="adj" fmla="val 1538"/>
            </a:avLst>
          </a:prstGeom>
          <a:solidFill>
            <a:srgbClr val="F4F6F9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0" name="txt_492"/>
          <p:cNvSpPr txBox="1"/>
          <p:nvPr/>
        </p:nvSpPr>
        <p:spPr>
          <a:xfrm>
            <a:off x="7040880" y="2185416"/>
            <a:ext cx="4041648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&gt; java -jar EchoServer.jar 40001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&gt; powershell -ExecutionPolicy Bypass `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-File check.ps1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PASS  localhost:40001 -&gt; CONNECTED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PASS  localhost:40099 -&gt; REFUSED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...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4 / 4 passed</a:t>
            </a:r>
            <a:endParaRPr lang="en-US" sz="1250" dirty="0"/>
          </a:p>
        </p:txBody>
      </p:sp>
      <p:sp>
        <p:nvSpPr>
          <p:cNvPr id="21" name="card_493"/>
          <p:cNvSpPr/>
          <p:nvPr/>
        </p:nvSpPr>
        <p:spPr>
          <a:xfrm>
            <a:off x="685800" y="4736592"/>
            <a:ext cx="10789920" cy="1225296"/>
          </a:xfrm>
          <a:prstGeom prst="roundRect">
            <a:avLst>
              <a:gd name="adj" fmla="val 4478"/>
            </a:avLst>
          </a:prstGeom>
          <a:solidFill>
            <a:srgbClr val="FFF1F0"/>
          </a:solidFill>
          <a:ln w="12700">
            <a:solidFill>
              <a:srgbClr val="F0B4AE"/>
            </a:solidFill>
            <a:prstDash val="solid"/>
          </a:ln>
        </p:spPr>
      </p:sp>
      <p:sp>
        <p:nvSpPr>
          <p:cNvPr id="22" name="txt_494"/>
          <p:cNvSpPr txBox="1"/>
          <p:nvPr/>
        </p:nvSpPr>
        <p:spPr>
          <a:xfrm>
            <a:off x="960120" y="4736592"/>
            <a:ext cx="102412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1F1F"/>
                </a:solidFill>
              </a:rPr>
              <a:t>ケース4 が TIMEOUT にならなかったら
</a:t>
            </a:r>
            <a:pPr indent="0" marL="0">
              <a:buNone/>
            </a:pPr>
            <a:r>
              <a:rPr lang="en-US" sz="1400" dirty="0">
                <a:solidFill>
                  <a:srgbClr val="7A1F1F"/>
                </a:solidFill>
              </a:rPr>
              <a:t>実際に出た結果と実行環境を prompt_log.md の末尾に書いてください。そのケースは減点しません。合わせるために RESULT を決め打ちするほうが減点対象です。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507F"/>
                </a:solidFill>
              </a:rPr>
              <a:t>採点スクリプトが実行する4ケース</a:t>
            </a:r>
            <a:endParaRPr lang="en-US" sz="3000" dirty="0"/>
          </a:p>
        </p:txBody>
      </p:sp>
      <p:sp>
        <p:nvSpPr>
          <p:cNvPr id="3" name="card_495"/>
          <p:cNvSpPr/>
          <p:nvPr/>
        </p:nvSpPr>
        <p:spPr>
          <a:xfrm>
            <a:off x="685800" y="1463040"/>
            <a:ext cx="10789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4" name="chip_496"/>
          <p:cNvSpPr/>
          <p:nvPr/>
        </p:nvSpPr>
        <p:spPr>
          <a:xfrm>
            <a:off x="960120" y="1673352"/>
            <a:ext cx="402336" cy="402336"/>
          </a:xfrm>
          <a:prstGeom prst="roundRect">
            <a:avLst>
              <a:gd name="adj" fmla="val 113636"/>
            </a:avLst>
          </a:prstGeom>
          <a:solidFill>
            <a:srgbClr val="0B6CB5"/>
          </a:solidFill>
          <a:ln w="12700">
            <a:solidFill>
              <a:srgbClr val="0B6CB5"/>
            </a:solidFill>
            <a:prstDash val="solid"/>
          </a:ln>
        </p:spPr>
      </p:sp>
      <p:sp>
        <p:nvSpPr>
          <p:cNvPr id="5" name="txt_497"/>
          <p:cNvSpPr txBox="1"/>
          <p:nvPr/>
        </p:nvSpPr>
        <p:spPr>
          <a:xfrm>
            <a:off x="960120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xt_498"/>
          <p:cNvSpPr txBox="1"/>
          <p:nvPr/>
        </p:nvSpPr>
        <p:spPr>
          <a:xfrm>
            <a:off x="1554480" y="14630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localhost 40001</a:t>
            </a:r>
            <a:endParaRPr lang="en-US" sz="1400" dirty="0"/>
          </a:p>
        </p:txBody>
      </p:sp>
      <p:sp>
        <p:nvSpPr>
          <p:cNvPr id="7" name="txt_499"/>
          <p:cNvSpPr txBox="1"/>
          <p:nvPr/>
        </p:nvSpPr>
        <p:spPr>
          <a:xfrm>
            <a:off x="557784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EchoServer 起動中</a:t>
            </a:r>
            <a:endParaRPr lang="en-US" sz="1250" dirty="0"/>
          </a:p>
        </p:txBody>
      </p:sp>
      <p:sp>
        <p:nvSpPr>
          <p:cNvPr id="8" name="chip_500"/>
          <p:cNvSpPr/>
          <p:nvPr/>
        </p:nvSpPr>
        <p:spPr>
          <a:xfrm>
            <a:off x="8412480" y="1645920"/>
            <a:ext cx="2834640" cy="457200"/>
          </a:xfrm>
          <a:prstGeom prst="roundRect">
            <a:avLst>
              <a:gd name="adj" fmla="val 100000"/>
            </a:avLst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9" name="txt_501"/>
          <p:cNvSpPr txBox="1"/>
          <p:nvPr/>
        </p:nvSpPr>
        <p:spPr>
          <a:xfrm>
            <a:off x="841248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CONNECTED</a:t>
            </a:r>
            <a:endParaRPr lang="en-US" sz="1300" dirty="0"/>
          </a:p>
        </p:txBody>
      </p:sp>
      <p:sp>
        <p:nvSpPr>
          <p:cNvPr id="10" name="card_502"/>
          <p:cNvSpPr/>
          <p:nvPr/>
        </p:nvSpPr>
        <p:spPr>
          <a:xfrm>
            <a:off x="685800" y="2377440"/>
            <a:ext cx="10789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11" name="chip_503"/>
          <p:cNvSpPr/>
          <p:nvPr/>
        </p:nvSpPr>
        <p:spPr>
          <a:xfrm>
            <a:off x="960120" y="2587752"/>
            <a:ext cx="402336" cy="402336"/>
          </a:xfrm>
          <a:prstGeom prst="roundRect">
            <a:avLst>
              <a:gd name="adj" fmla="val 113636"/>
            </a:avLst>
          </a:prstGeom>
          <a:solidFill>
            <a:srgbClr val="0B6CB5"/>
          </a:solidFill>
          <a:ln w="12700">
            <a:solidFill>
              <a:srgbClr val="0B6CB5"/>
            </a:solidFill>
            <a:prstDash val="solid"/>
          </a:ln>
        </p:spPr>
      </p:sp>
      <p:sp>
        <p:nvSpPr>
          <p:cNvPr id="12" name="txt_504"/>
          <p:cNvSpPr txBox="1"/>
          <p:nvPr/>
        </p:nvSpPr>
        <p:spPr>
          <a:xfrm>
            <a:off x="960120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xt_505"/>
          <p:cNvSpPr txBox="1"/>
          <p:nvPr/>
        </p:nvSpPr>
        <p:spPr>
          <a:xfrm>
            <a:off x="1554480" y="23774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localhost 40099</a:t>
            </a:r>
            <a:endParaRPr lang="en-US" sz="1400" dirty="0"/>
          </a:p>
        </p:txBody>
      </p:sp>
      <p:sp>
        <p:nvSpPr>
          <p:cNvPr id="14" name="txt_506"/>
          <p:cNvSpPr txBox="1"/>
          <p:nvPr/>
        </p:nvSpPr>
        <p:spPr>
          <a:xfrm>
            <a:off x="5577840" y="2377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誰もいないポート</a:t>
            </a:r>
            <a:endParaRPr lang="en-US" sz="1250" dirty="0"/>
          </a:p>
        </p:txBody>
      </p:sp>
      <p:sp>
        <p:nvSpPr>
          <p:cNvPr id="15" name="chip_507"/>
          <p:cNvSpPr/>
          <p:nvPr/>
        </p:nvSpPr>
        <p:spPr>
          <a:xfrm>
            <a:off x="8412480" y="2560320"/>
            <a:ext cx="2834640" cy="457200"/>
          </a:xfrm>
          <a:prstGeom prst="roundRect">
            <a:avLst>
              <a:gd name="adj" fmla="val 10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xt_508"/>
          <p:cNvSpPr txBox="1"/>
          <p:nvPr/>
        </p:nvSpPr>
        <p:spPr>
          <a:xfrm>
            <a:off x="8412480" y="2560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REFUSED</a:t>
            </a:r>
            <a:endParaRPr lang="en-US" sz="1300" dirty="0"/>
          </a:p>
        </p:txBody>
      </p:sp>
      <p:sp>
        <p:nvSpPr>
          <p:cNvPr id="17" name="card_509"/>
          <p:cNvSpPr/>
          <p:nvPr/>
        </p:nvSpPr>
        <p:spPr>
          <a:xfrm>
            <a:off x="685800" y="3291840"/>
            <a:ext cx="10789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18" name="chip_510"/>
          <p:cNvSpPr/>
          <p:nvPr/>
        </p:nvSpPr>
        <p:spPr>
          <a:xfrm>
            <a:off x="960120" y="3502152"/>
            <a:ext cx="402336" cy="402336"/>
          </a:xfrm>
          <a:prstGeom prst="roundRect">
            <a:avLst>
              <a:gd name="adj" fmla="val 113636"/>
            </a:avLst>
          </a:prstGeom>
          <a:solidFill>
            <a:srgbClr val="0B6CB5"/>
          </a:solidFill>
          <a:ln w="12700">
            <a:solidFill>
              <a:srgbClr val="0B6CB5"/>
            </a:solidFill>
            <a:prstDash val="solid"/>
          </a:ln>
        </p:spPr>
      </p:sp>
      <p:sp>
        <p:nvSpPr>
          <p:cNvPr id="19" name="txt_511"/>
          <p:cNvSpPr txBox="1"/>
          <p:nvPr/>
        </p:nvSpPr>
        <p:spPr>
          <a:xfrm>
            <a:off x="960120" y="3502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xt_512"/>
          <p:cNvSpPr txBox="1"/>
          <p:nvPr/>
        </p:nvSpPr>
        <p:spPr>
          <a:xfrm>
            <a:off x="1554480" y="32918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no-such-host.invalid 40001</a:t>
            </a:r>
            <a:endParaRPr lang="en-US" sz="1400" dirty="0"/>
          </a:p>
        </p:txBody>
      </p:sp>
      <p:sp>
        <p:nvSpPr>
          <p:cNvPr id="21" name="txt_513"/>
          <p:cNvSpPr txBox="1"/>
          <p:nvPr/>
        </p:nvSpPr>
        <p:spPr>
          <a:xfrm>
            <a:off x="5577840" y="3291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ADDR=- になること</a:t>
            </a:r>
            <a:endParaRPr lang="en-US" sz="1250" dirty="0"/>
          </a:p>
        </p:txBody>
      </p:sp>
      <p:sp>
        <p:nvSpPr>
          <p:cNvPr id="22" name="chip_514"/>
          <p:cNvSpPr/>
          <p:nvPr/>
        </p:nvSpPr>
        <p:spPr>
          <a:xfrm>
            <a:off x="8412480" y="3474720"/>
            <a:ext cx="2834640" cy="457200"/>
          </a:xfrm>
          <a:prstGeom prst="roundRect">
            <a:avLst>
              <a:gd name="adj" fmla="val 10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xt_515"/>
          <p:cNvSpPr txBox="1"/>
          <p:nvPr/>
        </p:nvSpPr>
        <p:spPr>
          <a:xfrm>
            <a:off x="8412480" y="3474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UNKNOWN_HOST</a:t>
            </a:r>
            <a:endParaRPr lang="en-US" sz="1300" dirty="0"/>
          </a:p>
        </p:txBody>
      </p:sp>
      <p:sp>
        <p:nvSpPr>
          <p:cNvPr id="24" name="card_516"/>
          <p:cNvSpPr/>
          <p:nvPr/>
        </p:nvSpPr>
        <p:spPr>
          <a:xfrm>
            <a:off x="685800" y="4206240"/>
            <a:ext cx="10789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12700" dir="5400000">
              <a:srgbClr val="1F2933">
                <a:alpha val="10000"/>
              </a:srgbClr>
            </a:outerShdw>
          </a:effectLst>
        </p:spPr>
      </p:sp>
      <p:sp>
        <p:nvSpPr>
          <p:cNvPr id="25" name="chip_517"/>
          <p:cNvSpPr/>
          <p:nvPr/>
        </p:nvSpPr>
        <p:spPr>
          <a:xfrm>
            <a:off x="960120" y="4416552"/>
            <a:ext cx="402336" cy="402336"/>
          </a:xfrm>
          <a:prstGeom prst="roundRect">
            <a:avLst>
              <a:gd name="adj" fmla="val 113636"/>
            </a:avLst>
          </a:prstGeom>
          <a:solidFill>
            <a:srgbClr val="0B6CB5"/>
          </a:solidFill>
          <a:ln w="12700">
            <a:solidFill>
              <a:srgbClr val="0B6CB5"/>
            </a:solidFill>
            <a:prstDash val="solid"/>
          </a:ln>
        </p:spPr>
      </p:sp>
      <p:sp>
        <p:nvSpPr>
          <p:cNvPr id="26" name="txt_518"/>
          <p:cNvSpPr txBox="1"/>
          <p:nvPr/>
        </p:nvSpPr>
        <p:spPr>
          <a:xfrm>
            <a:off x="960120" y="4416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xt_519"/>
          <p:cNvSpPr txBox="1"/>
          <p:nvPr/>
        </p:nvSpPr>
        <p:spPr>
          <a:xfrm>
            <a:off x="1554480" y="42062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10.255.255.1 40001</a:t>
            </a:r>
            <a:endParaRPr lang="en-US" sz="1400" dirty="0"/>
          </a:p>
        </p:txBody>
      </p:sp>
      <p:sp>
        <p:nvSpPr>
          <p:cNvPr id="28" name="txt_520"/>
          <p:cNvSpPr txBox="1"/>
          <p:nvPr/>
        </p:nvSpPr>
        <p:spPr>
          <a:xfrm>
            <a:off x="5577840" y="42062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</a:rPr>
              <a:t>環境により変わります</a:t>
            </a:r>
            <a:endParaRPr lang="en-US" sz="1250" dirty="0"/>
          </a:p>
        </p:txBody>
      </p:sp>
      <p:sp>
        <p:nvSpPr>
          <p:cNvPr id="29" name="chip_521"/>
          <p:cNvSpPr/>
          <p:nvPr/>
        </p:nvSpPr>
        <p:spPr>
          <a:xfrm>
            <a:off x="8412480" y="4389120"/>
            <a:ext cx="2834640" cy="457200"/>
          </a:xfrm>
          <a:prstGeom prst="roundRect">
            <a:avLst>
              <a:gd name="adj" fmla="val 10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xt_522"/>
          <p:cNvSpPr txBox="1"/>
          <p:nvPr/>
        </p:nvSpPr>
        <p:spPr>
          <a:xfrm>
            <a:off x="8412480" y="4389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TIMEOUT</a:t>
            </a:r>
            <a:endParaRPr lang="en-US" sz="1300" dirty="0"/>
          </a:p>
        </p:txBody>
      </p:sp>
      <p:sp>
        <p:nvSpPr>
          <p:cNvPr id="31" name="card_523"/>
          <p:cNvSpPr/>
          <p:nvPr/>
        </p:nvSpPr>
        <p:spPr>
          <a:xfrm>
            <a:off x="685800" y="5102352"/>
            <a:ext cx="107899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BCDCF2"/>
            </a:solidFill>
            <a:prstDash val="solid"/>
          </a:ln>
        </p:spPr>
      </p:sp>
      <p:sp>
        <p:nvSpPr>
          <p:cNvPr id="32" name="txt_524"/>
          <p:cNvSpPr txBox="1"/>
          <p:nvPr/>
        </p:nvSpPr>
        <p:spPr>
          <a:xfrm>
            <a:off x="960120" y="510235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74"/>
                </a:solidFill>
              </a:rPr>
              <a:t>赤い FAIL は故障ではありません。</a:t>
            </a:r>
            <a:pPr indent="0" marL="0">
              <a:buNone/>
            </a:pPr>
            <a:r>
              <a:rPr lang="en-US" sz="1500" dirty="0">
                <a:solidFill>
                  <a:srgbClr val="1D4E74"/>
                </a:solidFill>
              </a:rPr>
              <a:t>　作りかけなら落ちて当然です。1つずつ PASS に変えていってください。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525"/>
          <p:cNvSpPr txBox="1"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9CC4E4"/>
                </a:solidFill>
              </a:rPr>
              <a:t>まとめ</a:t>
            </a:r>
            <a:endParaRPr lang="en-US" sz="1700" dirty="0"/>
          </a:p>
        </p:txBody>
      </p:sp>
      <p:sp>
        <p:nvSpPr>
          <p:cNvPr id="3" name="txt_526"/>
          <p:cNvSpPr txBox="1"/>
          <p:nvPr/>
        </p:nvSpPr>
        <p:spPr>
          <a:xfrm>
            <a:off x="822960" y="1234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ネットワークのプログラムは、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成功したときより失敗したときの処理が長くなる</a:t>
            </a:r>
            <a:endParaRPr lang="en-US" sz="2800" dirty="0"/>
          </a:p>
        </p:txBody>
      </p:sp>
      <p:sp>
        <p:nvSpPr>
          <p:cNvPr id="4" name="txt_527"/>
          <p:cNvSpPr txBox="1"/>
          <p:nvPr/>
        </p:nvSpPr>
        <p:spPr>
          <a:xfrm>
            <a:off x="822960" y="25420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F2"/>
                </a:solidFill>
              </a:rPr>
              <a:t>第13回まで、ずっとそうです。今日それを最初に体験しました。</a:t>
            </a:r>
            <a:endParaRPr lang="en-US" sz="1600" dirty="0"/>
          </a:p>
        </p:txBody>
      </p:sp>
      <p:sp>
        <p:nvSpPr>
          <p:cNvPr id="5" name="card_528"/>
          <p:cNvSpPr/>
          <p:nvPr/>
        </p:nvSpPr>
        <p:spPr>
          <a:xfrm>
            <a:off x="822960" y="3337560"/>
            <a:ext cx="10515600" cy="658368"/>
          </a:xfrm>
          <a:prstGeom prst="roundRect">
            <a:avLst>
              <a:gd name="adj" fmla="val 8333"/>
            </a:avLst>
          </a:prstGeom>
          <a:solidFill>
            <a:srgbClr val="0A5F94"/>
          </a:solidFill>
          <a:ln w="12700">
            <a:solidFill>
              <a:srgbClr val="1A7AB5"/>
            </a:solidFill>
            <a:prstDash val="solid"/>
          </a:ln>
        </p:spPr>
      </p:sp>
      <p:sp>
        <p:nvSpPr>
          <p:cNvPr id="6" name="txt_529"/>
          <p:cNvSpPr txBox="1"/>
          <p:nvPr/>
        </p:nvSpPr>
        <p:spPr>
          <a:xfrm>
            <a:off x="1097280" y="333756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C4E4"/>
                </a:solidFill>
              </a:rPr>
              <a:t>提出先</a:t>
            </a:r>
            <a:endParaRPr lang="en-US" sz="1400" dirty="0"/>
          </a:p>
        </p:txBody>
      </p:sp>
      <p:sp>
        <p:nvSpPr>
          <p:cNvPr id="7" name="txt_530"/>
          <p:cNvSpPr txBox="1"/>
          <p:nvPr/>
        </p:nvSpPr>
        <p:spPr>
          <a:xfrm>
            <a:off x="2834640" y="33375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</a:rPr>
              <a:t>eclass</a:t>
            </a:r>
            <a:endParaRPr lang="en-US" sz="1550" dirty="0"/>
          </a:p>
        </p:txBody>
      </p:sp>
      <p:sp>
        <p:nvSpPr>
          <p:cNvPr id="8" name="card_531"/>
          <p:cNvSpPr/>
          <p:nvPr/>
        </p:nvSpPr>
        <p:spPr>
          <a:xfrm>
            <a:off x="822960" y="4087368"/>
            <a:ext cx="10515600" cy="658368"/>
          </a:xfrm>
          <a:prstGeom prst="roundRect">
            <a:avLst>
              <a:gd name="adj" fmla="val 8333"/>
            </a:avLst>
          </a:prstGeom>
          <a:solidFill>
            <a:srgbClr val="0A5F94"/>
          </a:solidFill>
          <a:ln w="12700">
            <a:solidFill>
              <a:srgbClr val="1A7AB5"/>
            </a:solidFill>
            <a:prstDash val="solid"/>
          </a:ln>
        </p:spPr>
      </p:sp>
      <p:sp>
        <p:nvSpPr>
          <p:cNvPr id="9" name="txt_532"/>
          <p:cNvSpPr txBox="1"/>
          <p:nvPr/>
        </p:nvSpPr>
        <p:spPr>
          <a:xfrm>
            <a:off x="1097280" y="408736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C4E4"/>
                </a:solidFill>
              </a:rPr>
              <a:t>締切</a:t>
            </a:r>
            <a:endParaRPr lang="en-US" sz="1400" dirty="0"/>
          </a:p>
        </p:txBody>
      </p:sp>
      <p:sp>
        <p:nvSpPr>
          <p:cNvPr id="10" name="txt_533"/>
          <p:cNvSpPr txBox="1"/>
          <p:nvPr/>
        </p:nvSpPr>
        <p:spPr>
          <a:xfrm>
            <a:off x="2834640" y="4087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</a:rPr>
              <a:t>次回授業の開始まで</a:t>
            </a:r>
            <a:endParaRPr lang="en-US" sz="1550" dirty="0"/>
          </a:p>
        </p:txBody>
      </p:sp>
      <p:sp>
        <p:nvSpPr>
          <p:cNvPr id="11" name="card_534"/>
          <p:cNvSpPr/>
          <p:nvPr/>
        </p:nvSpPr>
        <p:spPr>
          <a:xfrm>
            <a:off x="822960" y="4837176"/>
            <a:ext cx="10515600" cy="658368"/>
          </a:xfrm>
          <a:prstGeom prst="roundRect">
            <a:avLst>
              <a:gd name="adj" fmla="val 8333"/>
            </a:avLst>
          </a:prstGeom>
          <a:solidFill>
            <a:srgbClr val="0A5F94"/>
          </a:solidFill>
          <a:ln w="12700">
            <a:solidFill>
              <a:srgbClr val="1A7AB5"/>
            </a:solidFill>
            <a:prstDash val="solid"/>
          </a:ln>
        </p:spPr>
      </p:sp>
      <p:sp>
        <p:nvSpPr>
          <p:cNvPr id="12" name="txt_535"/>
          <p:cNvSpPr txBox="1"/>
          <p:nvPr/>
        </p:nvSpPr>
        <p:spPr>
          <a:xfrm>
            <a:off x="1097280" y="483717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C4E4"/>
                </a:solidFill>
              </a:rPr>
              <a:t>提出物</a:t>
            </a:r>
            <a:endParaRPr lang="en-US" sz="1400" dirty="0"/>
          </a:p>
        </p:txBody>
      </p:sp>
      <p:sp>
        <p:nvSpPr>
          <p:cNvPr id="13" name="txt_536"/>
          <p:cNvSpPr txBox="1"/>
          <p:nvPr/>
        </p:nvSpPr>
        <p:spPr>
          <a:xfrm>
            <a:off x="2834640" y="483717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</a:rPr>
              <a:t>NetProbe.java ／ prompt_log.md の2ファイル（ZIP不可）</a:t>
            </a:r>
            <a:endParaRPr lang="en-US" sz="1550" dirty="0"/>
          </a:p>
        </p:txBody>
      </p:sp>
      <p:sp>
        <p:nvSpPr>
          <p:cNvPr id="14" name="txt_537"/>
          <p:cNvSpPr txBox="1"/>
          <p:nvPr/>
        </p:nvSpPr>
        <p:spPr>
          <a:xfrm>
            <a:off x="822960" y="56875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C4E4"/>
                </a:solidFill>
              </a:rPr>
              <a:t>次回　第2回：TCPクライアント　ストリーム・文字コード・行単位プロトコル</a:t>
            </a:r>
            <a:endParaRPr lang="en-US" sz="1400" dirty="0"/>
          </a:p>
        </p:txBody>
      </p:sp>
      <p:sp>
        <p:nvSpPr>
          <p:cNvPr id="16" name="Text 0"/>
          <p:cNvSpPr/>
          <p:nvPr>
            <p:ph idx="100" type="title" hasCustomPrompt="1"/>
          </p:nvPr>
        </p:nvSpPr>
        <p:spPr>
          <a:xfrm>
            <a:off x="822960" y="22402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17" name="Text 0"/>
          <p:cNvSpPr/>
          <p:nvPr>
            <p:ph idx="101" type="body" hasCustomPrompt="1"/>
          </p:nvPr>
        </p:nvSpPr>
        <p:spPr>
          <a:xfrm>
            <a:off x="822960" y="37033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workApps">
  <a:themeElements>
    <a:clrScheme name="NetworkApps">
      <a:dk1>
        <a:srgbClr val="1F2933"/>
      </a:dk1>
      <a:lt1>
        <a:srgbClr val="FFFFFF"/>
      </a:lt1>
      <a:dk2>
        <a:srgbClr val="08507F"/>
      </a:dk2>
      <a:lt2>
        <a:srgbClr val="EEF4F9"/>
      </a:lt2>
      <a:accent1>
        <a:srgbClr val="0B6CB5"/>
      </a:accent1>
      <a:accent2>
        <a:srgbClr val="0F766E"/>
      </a:accent2>
      <a:accent3>
        <a:srgbClr val="C0392B"/>
      </a:accent3>
      <a:accent4>
        <a:srgbClr val="2F9E44"/>
      </a:accent4>
      <a:accent5>
        <a:srgbClr val="4338CA"/>
      </a:accent5>
      <a:accent6>
        <a:srgbClr val="D97706"/>
      </a:accent6>
      <a:hlink>
        <a:srgbClr val="0B6CB5"/>
      </a:hlink>
      <a:folHlink>
        <a:srgbClr val="4338CA"/>
      </a:folHlink>
    </a:clrScheme>
    <a:fontScheme name="NetworkApps">
      <a:majorFont>
        <a:latin typeface="Meiryo"/>
        <a:ea typeface="Meiryo"/>
        <a:cs typeface=""/>
        <a:font script="Jpan" typeface="Meiryo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Meiryo"/>
        <a:cs typeface=""/>
        <a:font script="Jpan" typeface="Meiryo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ネットワーク応用 第1回 ソケットとポート</dc:title>
  <dc:subject>PptxGenJS Presentation</dc:subject>
  <dc:creator>小板隆浩</dc:creator>
  <cp:lastModifiedBy>小板隆浩</cp:lastModifiedBy>
  <cp:revision>1</cp:revision>
  <dcterms:created xsi:type="dcterms:W3CDTF">2026-10-05T05:04:00Z</dcterms:created>
  <dcterms:modified xsi:type="dcterms:W3CDTF">2026-10-05T05:04:00Z</dcterms:modified>
</cp:coreProperties>
</file>