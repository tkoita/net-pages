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/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/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91440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spc="200" kern="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ネットワーク応用 ／ 第 2 回</a:t>
            </a:r>
            <a:endParaRPr lang="ja-JP" alt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11064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56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ストリームと文字コード</a:t>
            </a:r>
            <a:endParaRPr lang="ja-JP" altLang="en-US" sz="5600" dirty="0"/>
          </a:p>
        </p:txBody>
      </p:sp>
      <p:sp>
        <p:nvSpPr>
          <p:cNvPr id="5" name="Shape 2"/>
          <p:cNvSpPr/>
          <p:nvPr/>
        </p:nvSpPr>
        <p:spPr>
          <a:xfrm>
            <a:off x="548640" y="2560320"/>
            <a:ext cx="1280160" cy="54864"/>
          </a:xfrm>
          <a:prstGeom prst="rect">
            <a:avLst/>
          </a:prstGeom>
          <a:solidFill>
            <a:srgbClr val="E8A31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283464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ja-JP" altLang="en-US" sz="22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線の上を流れているのはバイトだけ。</a:t>
            </a:r>
            <a:endParaRPr lang="ja-JP" altLang="en-US" sz="2200" dirty="0"/>
          </a:p>
          <a:p>
            <a:pPr indent="0" marL="0">
              <a:lnSpc>
                <a:spcPct val="140000"/>
              </a:lnSpc>
              <a:buNone/>
            </a:pPr>
            <a:r>
              <a:rPr lang="ja-JP" altLang="en-US" sz="22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文字は、両端でそう解釈しているだけ。</a:t>
            </a:r>
            <a:endParaRPr lang="ja-JP" altLang="en-US" sz="2200" dirty="0"/>
          </a:p>
        </p:txBody>
      </p:sp>
      <p:sp>
        <p:nvSpPr>
          <p:cNvPr id="7" name="card"/>
          <p:cNvSpPr/>
          <p:nvPr/>
        </p:nvSpPr>
        <p:spPr>
          <a:xfrm>
            <a:off x="548640" y="4343400"/>
            <a:ext cx="3566160" cy="1234440"/>
          </a:xfrm>
          <a:prstGeom prst="roundRect">
            <a:avLst>
              <a:gd name="adj" fmla="val 5185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4498848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</a:t>
            </a:r>
            <a:endParaRPr lang="ja-JP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4809744"/>
            <a:ext cx="3163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講義20 ／ 演習55 ／ 宿題15</a:t>
            </a:r>
            <a:endParaRPr lang="ja-JP" alt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4343400"/>
            <a:ext cx="3566160" cy="1234440"/>
          </a:xfrm>
          <a:prstGeom prst="roundRect">
            <a:avLst>
              <a:gd name="adj" fmla="val 5185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98848" y="4498848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環境</a:t>
            </a:r>
            <a:endParaRPr lang="ja-JP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4498848" y="4809744"/>
            <a:ext cx="3163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JDK 17以降 ／ 管理者権限なし</a:t>
            </a:r>
            <a:endParaRPr lang="ja-JP" alt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8046720" y="4343400"/>
            <a:ext cx="3566160" cy="1234440"/>
          </a:xfrm>
          <a:prstGeom prst="roundRect">
            <a:avLst>
              <a:gd name="adj" fmla="val 5185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47888" y="4498848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使うもの</a:t>
            </a:r>
            <a:endParaRPr lang="ja-JP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8247888" y="4809744"/>
            <a:ext cx="3163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EchoServer.jar ／ ポート 40001</a:t>
            </a:r>
            <a:endParaRPr lang="ja-JP" alt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A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685800"/>
            <a:ext cx="110642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ja-JP" altLang="en-US" sz="4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第1回は「つながらない」で止まった。</a:t>
            </a:r>
            <a:endParaRPr lang="ja-JP" altLang="en-US" sz="4200" dirty="0"/>
          </a:p>
          <a:p>
            <a:pPr indent="0" marL="0">
              <a:lnSpc>
                <a:spcPct val="125000"/>
              </a:lnSpc>
              <a:buNone/>
            </a:pPr>
            <a:r>
              <a:rPr lang="ja-JP" altLang="en-US" sz="4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今日は「つながったまま」止まる。</a:t>
            </a:r>
            <a:endParaRPr lang="ja-JP" altLang="en-US" sz="4200" dirty="0"/>
          </a:p>
        </p:txBody>
      </p:sp>
      <p:sp>
        <p:nvSpPr>
          <p:cNvPr id="4" name="card"/>
          <p:cNvSpPr/>
          <p:nvPr/>
        </p:nvSpPr>
        <p:spPr>
          <a:xfrm>
            <a:off x="548640" y="2651760"/>
            <a:ext cx="5394960" cy="1920240"/>
          </a:xfrm>
          <a:prstGeom prst="roundRect">
            <a:avLst>
              <a:gd name="adj" fmla="val 3333"/>
            </a:avLst>
          </a:prstGeom>
          <a:solidFill>
            <a:srgbClr val="1C2027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283464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第1回</a:t>
            </a:r>
            <a:endParaRPr lang="ja-JP" alt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49808" y="310896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例外が出た</a:t>
            </a:r>
            <a:endParaRPr lang="ja-JP" alt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3529584"/>
            <a:ext cx="49926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ConnectException が出る。</a:t>
            </a:r>
            <a:endParaRPr lang="ja-JP" alt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どこが悪いか、画面が教えてくれる</a:t>
            </a:r>
            <a:endParaRPr lang="ja-JP" altLang="en-US" sz="1600" dirty="0"/>
          </a:p>
        </p:txBody>
      </p:sp>
      <p:sp>
        <p:nvSpPr>
          <p:cNvPr id="8" name="card"/>
          <p:cNvSpPr/>
          <p:nvPr/>
        </p:nvSpPr>
        <p:spPr>
          <a:xfrm>
            <a:off x="6217920" y="2651760"/>
            <a:ext cx="5394960" cy="1920240"/>
          </a:xfrm>
          <a:prstGeom prst="roundRect">
            <a:avLst>
              <a:gd name="adj" fmla="val 3333"/>
            </a:avLst>
          </a:prstGeom>
          <a:solidFill>
            <a:srgbClr val="1C2027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19088" y="283464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今日</a:t>
            </a:r>
            <a:endParaRPr lang="ja-JP" alt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19088" y="310896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何も出ない</a:t>
            </a:r>
            <a:endParaRPr lang="ja-JP" alt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419088" y="3529584"/>
            <a:ext cx="49926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例外もログも出ない。</a:t>
            </a:r>
            <a:endParaRPr lang="ja-JP" alt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ただ返ってこない</a:t>
            </a:r>
            <a:endParaRPr lang="ja-JP" alt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846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dirty="0">
                <a:solidFill>
                  <a:srgbClr val="5A3D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どちらもコードは1文字も間違っていない。間違っているのは思い込みのほう。</a:t>
            </a:r>
            <a:endParaRPr lang="ja-JP" alt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第1回は、ここまでだった</a:t>
            </a:r>
            <a:endParaRPr lang="ja-JP" altLang="en-US" sz="3000" dirty="0"/>
          </a:p>
        </p:txBody>
      </p:sp>
      <p:sp>
        <p:nvSpPr>
          <p:cNvPr id="4" name="codepanel"/>
          <p:cNvSpPr/>
          <p:nvPr/>
        </p:nvSpPr>
        <p:spPr>
          <a:xfrm>
            <a:off x="548640" y="1325880"/>
            <a:ext cx="11064240" cy="1272642"/>
          </a:xfrm>
          <a:prstGeom prst="roundRect">
            <a:avLst>
              <a:gd name="adj" fmla="val 5748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472184"/>
            <a:ext cx="10661904" cy="980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Socket socket = 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new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Socket();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socket.connect(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new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InetSocketAddress(host, port), 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2000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);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System.out.println(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"CONNECTED"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);</a:t>
            </a:r>
            <a:endParaRPr lang="ja-JP" altLang="en-US" sz="1700" dirty="0"/>
          </a:p>
        </p:txBody>
      </p:sp>
      <p:sp>
        <p:nvSpPr>
          <p:cNvPr id="6" name="card"/>
          <p:cNvSpPr/>
          <p:nvPr/>
        </p:nvSpPr>
        <p:spPr>
          <a:xfrm>
            <a:off x="548640" y="3010002"/>
            <a:ext cx="53949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8D2C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3192882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この時点で、送ったのは 0 バイト</a:t>
            </a:r>
            <a:endParaRPr lang="ja-JP" alt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3613506"/>
            <a:ext cx="499262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接続とは「送る準備ができた」という状態にすぎない</a:t>
            </a:r>
            <a:endParaRPr lang="ja-JP" altLang="en-US" sz="1600" dirty="0"/>
          </a:p>
        </p:txBody>
      </p:sp>
      <p:sp>
        <p:nvSpPr>
          <p:cNvPr id="9" name="card"/>
          <p:cNvSpPr/>
          <p:nvPr/>
        </p:nvSpPr>
        <p:spPr>
          <a:xfrm>
            <a:off x="6217920" y="3010002"/>
            <a:ext cx="5394960" cy="1600200"/>
          </a:xfrm>
          <a:prstGeom prst="roundRect">
            <a:avLst>
              <a:gd name="adj" fmla="val 4000"/>
            </a:avLst>
          </a:prstGeom>
          <a:solidFill>
            <a:srgbClr val="E6F1FB"/>
          </a:solidFill>
          <a:ln w="19050">
            <a:solidFill>
              <a:srgbClr val="1668B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19088" y="3192882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1668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今日やるのは、この次の1行目</a:t>
            </a:r>
            <a:endParaRPr lang="ja-JP" alt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6419088" y="3613506"/>
            <a:ext cx="499262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getOutputStream() と getInputStream()</a:t>
            </a:r>
            <a:endParaRPr lang="ja-JP" alt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この2つを、どう扱うか</a:t>
            </a:r>
            <a:endParaRPr lang="ja-JP" altLang="en-US" sz="16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 CONNECTED が出なかった人は、まず EchoServer.jar が起動しているか確認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ソケットから出てくるのは、バイトだけ</a:t>
            </a:r>
            <a:endParaRPr lang="ja-JP" altLang="en-US" sz="3000" dirty="0"/>
          </a:p>
        </p:txBody>
      </p:sp>
      <p:sp>
        <p:nvSpPr>
          <p:cNvPr id="4" name="figbox"/>
          <p:cNvSpPr/>
          <p:nvPr/>
        </p:nvSpPr>
        <p:spPr>
          <a:xfrm>
            <a:off x="1417320" y="1325880"/>
            <a:ext cx="9098280" cy="886968"/>
          </a:xfrm>
          <a:prstGeom prst="roundRect">
            <a:avLst>
              <a:gd name="adj" fmla="val 6186"/>
            </a:avLst>
          </a:prstGeom>
          <a:solidFill>
            <a:srgbClr val="141820"/>
          </a:solidFill>
          <a:ln w="22225">
            <a:solidFill>
              <a:srgbClr val="4FC3B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673352" y="1508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BufferedReader</a:t>
            </a:r>
            <a:endParaRPr lang="ja-JP" alt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673352" y="18562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改行までを1行と決める</a:t>
            </a:r>
            <a:endParaRPr lang="ja-JP" altLang="en-US" sz="1300" dirty="0"/>
          </a:p>
        </p:txBody>
      </p:sp>
      <p:sp>
        <p:nvSpPr>
          <p:cNvPr id="7" name="figarrow"/>
          <p:cNvSpPr/>
          <p:nvPr/>
        </p:nvSpPr>
        <p:spPr>
          <a:xfrm>
            <a:off x="6080760" y="1769364"/>
            <a:ext cx="594360" cy="0"/>
          </a:xfrm>
          <a:prstGeom prst="line">
            <a:avLst/>
          </a:prstGeom>
          <a:noFill/>
          <a:ln w="17780">
            <a:solidFill>
              <a:srgbClr val="4FC3B4"/>
            </a:solidFill>
            <a:prstDash val="solid"/>
            <a:tailEnd type="triangle"/>
          </a:ln>
        </p:spPr>
      </p:sp>
      <p:sp>
        <p:nvSpPr>
          <p:cNvPr id="8" name="figbox"/>
          <p:cNvSpPr/>
          <p:nvPr/>
        </p:nvSpPr>
        <p:spPr>
          <a:xfrm>
            <a:off x="6812280" y="1536192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171C24"/>
          </a:solidFill>
          <a:ln w="15875">
            <a:solidFill>
              <a:srgbClr val="4FC3B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03720" y="15361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500" b="1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String</a:t>
            </a:r>
            <a:endParaRPr lang="ja-JP" alt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1586484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4FC3B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演習D</a:t>
            </a:r>
            <a:endParaRPr lang="ja-JP" altLang="en-US" sz="1250" dirty="0"/>
          </a:p>
        </p:txBody>
      </p:sp>
      <p:sp>
        <p:nvSpPr>
          <p:cNvPr id="11" name="figbox"/>
          <p:cNvSpPr/>
          <p:nvPr/>
        </p:nvSpPr>
        <p:spPr>
          <a:xfrm>
            <a:off x="1417320" y="2487168"/>
            <a:ext cx="9098280" cy="886968"/>
          </a:xfrm>
          <a:prstGeom prst="roundRect">
            <a:avLst>
              <a:gd name="adj" fmla="val 6186"/>
            </a:avLst>
          </a:prstGeom>
          <a:solidFill>
            <a:srgbClr val="141820"/>
          </a:solidFill>
          <a:ln w="22225">
            <a:solidFill>
              <a:srgbClr val="E8A31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673352" y="26700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InputStreamReader</a:t>
            </a:r>
            <a:endParaRPr lang="ja-JP" alt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73352" y="3017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文字コードを指定して束ねる</a:t>
            </a:r>
            <a:endParaRPr lang="ja-JP" altLang="en-US" sz="1300" dirty="0"/>
          </a:p>
        </p:txBody>
      </p:sp>
      <p:sp>
        <p:nvSpPr>
          <p:cNvPr id="14" name="figarrow"/>
          <p:cNvSpPr/>
          <p:nvPr/>
        </p:nvSpPr>
        <p:spPr>
          <a:xfrm>
            <a:off x="6080760" y="2930652"/>
            <a:ext cx="594360" cy="0"/>
          </a:xfrm>
          <a:prstGeom prst="line">
            <a:avLst/>
          </a:prstGeom>
          <a:noFill/>
          <a:ln w="17780">
            <a:solidFill>
              <a:srgbClr val="E8A317"/>
            </a:solidFill>
            <a:prstDash val="solid"/>
            <a:tailEnd type="triangle"/>
          </a:ln>
        </p:spPr>
      </p:sp>
      <p:sp>
        <p:nvSpPr>
          <p:cNvPr id="15" name="figbox"/>
          <p:cNvSpPr/>
          <p:nvPr/>
        </p:nvSpPr>
        <p:spPr>
          <a:xfrm>
            <a:off x="6812280" y="269748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171C24"/>
          </a:solidFill>
          <a:ln w="15875">
            <a:solidFill>
              <a:srgbClr val="E8A31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26974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50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char</a:t>
            </a:r>
            <a:endParaRPr lang="ja-JP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0" y="2747772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演習B</a:t>
            </a:r>
            <a:endParaRPr lang="ja-JP" altLang="en-US" sz="1250" dirty="0"/>
          </a:p>
        </p:txBody>
      </p:sp>
      <p:sp>
        <p:nvSpPr>
          <p:cNvPr id="18" name="figbox"/>
          <p:cNvSpPr/>
          <p:nvPr/>
        </p:nvSpPr>
        <p:spPr>
          <a:xfrm>
            <a:off x="1417320" y="3648456"/>
            <a:ext cx="9098280" cy="886968"/>
          </a:xfrm>
          <a:prstGeom prst="roundRect">
            <a:avLst>
              <a:gd name="adj" fmla="val 6186"/>
            </a:avLst>
          </a:prstGeom>
          <a:solidFill>
            <a:srgbClr val="141820"/>
          </a:solidFill>
          <a:ln w="22225">
            <a:solidFill>
              <a:srgbClr val="5FA8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673352" y="38313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InputStream</a:t>
            </a:r>
            <a:endParaRPr lang="ja-JP" alt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673352" y="41788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何も解釈しない</a:t>
            </a:r>
            <a:endParaRPr lang="ja-JP" altLang="en-US" sz="1300" dirty="0"/>
          </a:p>
        </p:txBody>
      </p:sp>
      <p:sp>
        <p:nvSpPr>
          <p:cNvPr id="21" name="figarrow"/>
          <p:cNvSpPr/>
          <p:nvPr/>
        </p:nvSpPr>
        <p:spPr>
          <a:xfrm>
            <a:off x="6080760" y="4091940"/>
            <a:ext cx="594360" cy="0"/>
          </a:xfrm>
          <a:prstGeom prst="line">
            <a:avLst/>
          </a:prstGeom>
          <a:noFill/>
          <a:ln w="17780">
            <a:solidFill>
              <a:srgbClr val="5FA8E6"/>
            </a:solidFill>
            <a:prstDash val="solid"/>
            <a:tailEnd type="triangle"/>
          </a:ln>
        </p:spPr>
      </p:sp>
      <p:sp>
        <p:nvSpPr>
          <p:cNvPr id="22" name="figbox"/>
          <p:cNvSpPr/>
          <p:nvPr/>
        </p:nvSpPr>
        <p:spPr>
          <a:xfrm>
            <a:off x="6812280" y="3858768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171C24"/>
          </a:solidFill>
          <a:ln w="15875">
            <a:solidFill>
              <a:srgbClr val="5FA8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3720" y="38587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5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byte[]</a:t>
            </a:r>
            <a:endParaRPr lang="ja-JP" alt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503920" y="390906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5FA8E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演習A</a:t>
            </a:r>
            <a:endParaRPr lang="ja-JP" altLang="en-US" sz="1250" dirty="0"/>
          </a:p>
        </p:txBody>
      </p:sp>
      <p:sp>
        <p:nvSpPr>
          <p:cNvPr id="25" name="figarrow"/>
          <p:cNvSpPr/>
          <p:nvPr/>
        </p:nvSpPr>
        <p:spPr>
          <a:xfrm>
            <a:off x="3017520" y="3374136"/>
            <a:ext cx="0" cy="274320"/>
          </a:xfrm>
          <a:prstGeom prst="line">
            <a:avLst/>
          </a:prstGeom>
          <a:noFill/>
          <a:ln w="17780">
            <a:solidFill>
              <a:srgbClr val="AFB7C2"/>
            </a:solidFill>
            <a:prstDash val="solid"/>
            <a:headEnd type="triangle"/>
          </a:ln>
        </p:spPr>
      </p:sp>
      <p:sp>
        <p:nvSpPr>
          <p:cNvPr id="26" name="figarrow"/>
          <p:cNvSpPr/>
          <p:nvPr/>
        </p:nvSpPr>
        <p:spPr>
          <a:xfrm>
            <a:off x="3017520" y="2212848"/>
            <a:ext cx="0" cy="274320"/>
          </a:xfrm>
          <a:prstGeom prst="line">
            <a:avLst/>
          </a:prstGeom>
          <a:noFill/>
          <a:ln w="17780">
            <a:solidFill>
              <a:srgbClr val="AFB7C2"/>
            </a:solidFill>
            <a:prstDash val="solid"/>
            <a:headEnd type="triangle"/>
          </a:ln>
        </p:spPr>
      </p:sp>
      <p:sp>
        <p:nvSpPr>
          <p:cNvPr id="27" name="figarrow"/>
          <p:cNvSpPr/>
          <p:nvPr/>
        </p:nvSpPr>
        <p:spPr>
          <a:xfrm>
            <a:off x="3017520" y="4535424"/>
            <a:ext cx="0" cy="310896"/>
          </a:xfrm>
          <a:prstGeom prst="line">
            <a:avLst/>
          </a:prstGeom>
          <a:noFill/>
          <a:ln w="17780">
            <a:solidFill>
              <a:srgbClr val="AFB7C2"/>
            </a:solidFill>
            <a:prstDash val="solid"/>
            <a:headEnd type="triangle"/>
          </a:ln>
        </p:spPr>
      </p:sp>
      <p:sp>
        <p:nvSpPr>
          <p:cNvPr id="28" name="figbox"/>
          <p:cNvSpPr/>
          <p:nvPr/>
        </p:nvSpPr>
        <p:spPr>
          <a:xfrm>
            <a:off x="1417320" y="4864608"/>
            <a:ext cx="9098280" cy="731520"/>
          </a:xfrm>
          <a:prstGeom prst="roundRect">
            <a:avLst>
              <a:gd name="adj" fmla="val 7500"/>
            </a:avLst>
          </a:prstGeom>
          <a:solidFill>
            <a:srgbClr val="171C24"/>
          </a:solidFill>
          <a:ln w="15875">
            <a:solidFill>
              <a:srgbClr val="2E364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673352" y="49743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150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ソケットから出てくるもの</a:t>
            </a:r>
            <a:endParaRPr lang="ja-JP" alt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673352" y="526694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...  48 45 4C 4C 4F 0A  ...</a:t>
            </a:r>
            <a:endParaRPr lang="ja-JP" alt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818120" y="517550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300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バイトだけ</a:t>
            </a:r>
            <a:endParaRPr lang="ja-JP" altLang="en-US" sz="1300" dirty="0"/>
          </a:p>
        </p:txBody>
      </p:sp>
      <p:sp>
        <p:nvSpPr>
          <p:cNvPr id="32" name="figarrow"/>
          <p:cNvSpPr/>
          <p:nvPr/>
        </p:nvSpPr>
        <p:spPr>
          <a:xfrm>
            <a:off x="1005840" y="1298448"/>
            <a:ext cx="0" cy="4224528"/>
          </a:xfrm>
          <a:prstGeom prst="line">
            <a:avLst/>
          </a:prstGeom>
          <a:noFill/>
          <a:ln w="19050">
            <a:solidFill>
              <a:srgbClr val="2E3643"/>
            </a:solidFill>
            <a:prstDash val="solid"/>
            <a:headEnd type="triangle"/>
          </a:ln>
        </p:spPr>
      </p:sp>
      <p:sp>
        <p:nvSpPr>
          <p:cNvPr id="33" name="Text 30"/>
          <p:cNvSpPr txBox="1"/>
          <p:nvPr/>
        </p:nvSpPr>
        <p:spPr>
          <a:xfrm>
            <a:off x="0" y="5349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250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</a:t>
            </a:r>
            <a:endParaRPr lang="ja-JP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0" y="1371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250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便利</a:t>
            </a:r>
            <a:endParaRPr lang="ja-JP" alt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24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下の層ほど「生」で、上の層ほど「便利」。便利さの正体は、どこかで誰かが決めた「取り決め」。</a:t>
            </a:r>
            <a:endParaRPr lang="ja-JP" altLang="en-US" sz="1700" dirty="0"/>
          </a:p>
        </p:txBody>
      </p:sp>
      <p:sp>
        <p:nvSpPr>
          <p:cNvPr id="36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今日は、この3段を下から自分で書く ── 便利な層から入ると、壊れたとき原因が切り分けられない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readLine() の1行が、やっていること</a:t>
            </a:r>
            <a:endParaRPr lang="ja-JP" altLang="en-US" sz="3000" dirty="0"/>
          </a:p>
        </p:txBody>
      </p:sp>
      <p:sp>
        <p:nvSpPr>
          <p:cNvPr id="4" name="codepanel"/>
          <p:cNvSpPr/>
          <p:nvPr/>
        </p:nvSpPr>
        <p:spPr>
          <a:xfrm>
            <a:off x="548640" y="1325880"/>
            <a:ext cx="11064240" cy="757936"/>
          </a:xfrm>
          <a:prstGeom prst="roundRect">
            <a:avLst>
              <a:gd name="adj" fmla="val 9651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472184"/>
            <a:ext cx="10661904" cy="4653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String line = in.readLine();</a:t>
            </a:r>
            <a:endParaRPr lang="ja-JP" altLang="en-US" sz="2000" dirty="0"/>
          </a:p>
        </p:txBody>
      </p:sp>
      <p:sp>
        <p:nvSpPr>
          <p:cNvPr id="6" name="card"/>
          <p:cNvSpPr/>
          <p:nvPr/>
        </p:nvSpPr>
        <p:spPr>
          <a:xfrm>
            <a:off x="548640" y="2541016"/>
            <a:ext cx="3535680" cy="1920240"/>
          </a:xfrm>
          <a:prstGeom prst="roundRect">
            <a:avLst>
              <a:gd name="adj" fmla="val 3333"/>
            </a:avLst>
          </a:prstGeom>
          <a:solidFill>
            <a:srgbClr val="E6F1FB"/>
          </a:solidFill>
          <a:ln w="19050">
            <a:solidFill>
              <a:srgbClr val="1668B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2723896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1668B5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①</a:t>
            </a:r>
            <a:endParaRPr lang="ja-JP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2998216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バイトを集める</a:t>
            </a:r>
            <a:endParaRPr lang="ja-JP" alt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418840"/>
            <a:ext cx="31333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まだ来ていなければ、来るまで待つ</a:t>
            </a:r>
            <a:endParaRPr lang="ja-JP" altLang="en-US" sz="1550" dirty="0"/>
          </a:p>
        </p:txBody>
      </p:sp>
      <p:sp>
        <p:nvSpPr>
          <p:cNvPr id="10" name="card"/>
          <p:cNvSpPr/>
          <p:nvPr/>
        </p:nvSpPr>
        <p:spPr>
          <a:xfrm>
            <a:off x="4312920" y="2541016"/>
            <a:ext cx="3535680" cy="1920240"/>
          </a:xfrm>
          <a:prstGeom prst="roundRect">
            <a:avLst>
              <a:gd name="adj" fmla="val 3333"/>
            </a:avLst>
          </a:prstGeom>
          <a:solidFill>
            <a:srgbClr val="FDF0D4"/>
          </a:solidFill>
          <a:ln w="19050">
            <a:solidFill>
              <a:srgbClr val="8A62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14088" y="2723896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8A62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②</a:t>
            </a:r>
            <a:endParaRPr lang="ja-JP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4514088" y="2998216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文字に直す</a:t>
            </a:r>
            <a:endParaRPr lang="ja-JP" alt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14088" y="3418840"/>
            <a:ext cx="31333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指定した文字コードで解釈する</a:t>
            </a:r>
            <a:endParaRPr lang="ja-JP" altLang="en-US" sz="1550" dirty="0"/>
          </a:p>
        </p:txBody>
      </p:sp>
      <p:sp>
        <p:nvSpPr>
          <p:cNvPr id="14" name="card"/>
          <p:cNvSpPr/>
          <p:nvPr/>
        </p:nvSpPr>
        <p:spPr>
          <a:xfrm>
            <a:off x="8077200" y="2541016"/>
            <a:ext cx="3535680" cy="1920240"/>
          </a:xfrm>
          <a:prstGeom prst="roundRect">
            <a:avLst>
              <a:gd name="adj" fmla="val 3333"/>
            </a:avLst>
          </a:prstGeom>
          <a:solidFill>
            <a:srgbClr val="FAE5DD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8368" y="2723896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BE3E1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③</a:t>
            </a:r>
            <a:endParaRPr lang="ja-JP" alt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278368" y="2998216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改行まで待つ</a:t>
            </a:r>
            <a:endParaRPr lang="ja-JP" alt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278368" y="3418840"/>
            <a:ext cx="313334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0A が来るまで、1行は完成しない</a:t>
            </a:r>
            <a:endParaRPr lang="ja-JP" altLang="en-US" sz="155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689856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9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3つのどれが止まっても、画面に出る症状は同じ ── 「返ってこない」。</a:t>
            </a:r>
            <a:endParaRPr lang="ja-JP" altLang="en-US" sz="1900" dirty="0"/>
          </a:p>
        </p:txBody>
      </p:sp>
      <p:sp>
        <p:nvSpPr>
          <p:cNvPr id="19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だから今日は、3段を下から自分で書く ── 演習A（バイト）→ 演習B（文字）→ 演習D（行）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に「境界」はない</a:t>
            </a:r>
            <a:endParaRPr lang="ja-JP" alt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00" b="1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送った側</a:t>
            </a:r>
            <a:endParaRPr lang="ja-JP" alt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4069080" y="11887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線の上</a:t>
            </a:r>
            <a:endParaRPr lang="ja-JP" alt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183880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受け取った側</a:t>
            </a:r>
            <a:endParaRPr lang="ja-JP" altLang="en-US" sz="1300" dirty="0"/>
          </a:p>
        </p:txBody>
      </p:sp>
      <p:sp>
        <p:nvSpPr>
          <p:cNvPr id="7" name="figline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5875">
            <a:solidFill>
              <a:srgbClr val="2E364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1645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5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ケース1　3回に分けて送った</a:t>
            </a:r>
            <a:endParaRPr lang="ja-JP" altLang="en-US" sz="1350" dirty="0"/>
          </a:p>
        </p:txBody>
      </p:sp>
      <p:sp>
        <p:nvSpPr>
          <p:cNvPr id="9" name="figbox"/>
          <p:cNvSpPr/>
          <p:nvPr/>
        </p:nvSpPr>
        <p:spPr>
          <a:xfrm>
            <a:off x="685800" y="1938528"/>
            <a:ext cx="2331720" cy="365760"/>
          </a:xfrm>
          <a:prstGeom prst="roundRect">
            <a:avLst>
              <a:gd name="adj" fmla="val 15000"/>
            </a:avLst>
          </a:prstGeom>
          <a:solidFill>
            <a:srgbClr val="141820"/>
          </a:solidFill>
          <a:ln w="15875">
            <a:solidFill>
              <a:srgbClr val="5FA8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193852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3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write("AB\n")</a:t>
            </a:r>
            <a:endParaRPr lang="ja-JP" altLang="en-US" sz="1300" dirty="0"/>
          </a:p>
        </p:txBody>
      </p:sp>
      <p:sp>
        <p:nvSpPr>
          <p:cNvPr id="11" name="figline"/>
          <p:cNvSpPr/>
          <p:nvPr/>
        </p:nvSpPr>
        <p:spPr>
          <a:xfrm>
            <a:off x="3017520" y="2121408"/>
            <a:ext cx="365760" cy="0"/>
          </a:xfrm>
          <a:prstGeom prst="line">
            <a:avLst/>
          </a:prstGeom>
          <a:noFill/>
          <a:ln w="16510">
            <a:solidFill>
              <a:srgbClr val="5FA8E6"/>
            </a:solidFill>
            <a:prstDash val="solid"/>
          </a:ln>
        </p:spPr>
      </p:sp>
      <p:sp>
        <p:nvSpPr>
          <p:cNvPr id="12" name="figbox"/>
          <p:cNvSpPr/>
          <p:nvPr/>
        </p:nvSpPr>
        <p:spPr>
          <a:xfrm>
            <a:off x="685800" y="2395728"/>
            <a:ext cx="2331720" cy="365760"/>
          </a:xfrm>
          <a:prstGeom prst="roundRect">
            <a:avLst>
              <a:gd name="adj" fmla="val 15000"/>
            </a:avLst>
          </a:prstGeom>
          <a:solidFill>
            <a:srgbClr val="141820"/>
          </a:solidFill>
          <a:ln w="15875">
            <a:solidFill>
              <a:srgbClr val="5FA8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239572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3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write("CD\n")</a:t>
            </a:r>
            <a:endParaRPr lang="ja-JP" altLang="en-US" sz="1300" dirty="0"/>
          </a:p>
        </p:txBody>
      </p:sp>
      <p:sp>
        <p:nvSpPr>
          <p:cNvPr id="14" name="figline"/>
          <p:cNvSpPr/>
          <p:nvPr/>
        </p:nvSpPr>
        <p:spPr>
          <a:xfrm>
            <a:off x="3017520" y="2578608"/>
            <a:ext cx="365760" cy="0"/>
          </a:xfrm>
          <a:prstGeom prst="line">
            <a:avLst/>
          </a:prstGeom>
          <a:noFill/>
          <a:ln w="16510">
            <a:solidFill>
              <a:srgbClr val="5FA8E6"/>
            </a:solidFill>
            <a:prstDash val="solid"/>
          </a:ln>
        </p:spPr>
      </p:sp>
      <p:sp>
        <p:nvSpPr>
          <p:cNvPr id="15" name="figbox"/>
          <p:cNvSpPr/>
          <p:nvPr/>
        </p:nvSpPr>
        <p:spPr>
          <a:xfrm>
            <a:off x="685800" y="2852928"/>
            <a:ext cx="2331720" cy="365760"/>
          </a:xfrm>
          <a:prstGeom prst="roundRect">
            <a:avLst>
              <a:gd name="adj" fmla="val 15000"/>
            </a:avLst>
          </a:prstGeom>
          <a:solidFill>
            <a:srgbClr val="141820"/>
          </a:solidFill>
          <a:ln w="15875">
            <a:solidFill>
              <a:srgbClr val="5FA8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285292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3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write("EF\n")</a:t>
            </a:r>
            <a:endParaRPr lang="ja-JP" altLang="en-US" sz="1300" dirty="0"/>
          </a:p>
        </p:txBody>
      </p:sp>
      <p:sp>
        <p:nvSpPr>
          <p:cNvPr id="17" name="figline"/>
          <p:cNvSpPr/>
          <p:nvPr/>
        </p:nvSpPr>
        <p:spPr>
          <a:xfrm>
            <a:off x="3017520" y="3035808"/>
            <a:ext cx="365760" cy="0"/>
          </a:xfrm>
          <a:prstGeom prst="line">
            <a:avLst/>
          </a:prstGeom>
          <a:noFill/>
          <a:ln w="16510">
            <a:solidFill>
              <a:srgbClr val="5FA8E6"/>
            </a:solidFill>
            <a:prstDash val="solid"/>
          </a:ln>
        </p:spPr>
      </p:sp>
      <p:sp>
        <p:nvSpPr>
          <p:cNvPr id="18" name="figline"/>
          <p:cNvSpPr/>
          <p:nvPr/>
        </p:nvSpPr>
        <p:spPr>
          <a:xfrm>
            <a:off x="3383280" y="2121408"/>
            <a:ext cx="0" cy="914400"/>
          </a:xfrm>
          <a:prstGeom prst="line">
            <a:avLst/>
          </a:prstGeom>
          <a:noFill/>
          <a:ln w="16510">
            <a:solidFill>
              <a:srgbClr val="5FA8E6"/>
            </a:solidFill>
            <a:prstDash val="solid"/>
          </a:ln>
        </p:spPr>
      </p:sp>
      <p:sp>
        <p:nvSpPr>
          <p:cNvPr id="19" name="figarrow"/>
          <p:cNvSpPr/>
          <p:nvPr/>
        </p:nvSpPr>
        <p:spPr>
          <a:xfrm>
            <a:off x="3383280" y="2578608"/>
            <a:ext cx="685800" cy="0"/>
          </a:xfrm>
          <a:prstGeom prst="line">
            <a:avLst/>
          </a:prstGeom>
          <a:noFill/>
          <a:ln w="16510">
            <a:solidFill>
              <a:srgbClr val="5FA8E6"/>
            </a:solidFill>
            <a:prstDash val="solid"/>
            <a:tailEnd type="triangle"/>
          </a:ln>
        </p:spPr>
      </p:sp>
      <p:sp>
        <p:nvSpPr>
          <p:cNvPr id="20" name="figbox"/>
          <p:cNvSpPr/>
          <p:nvPr/>
        </p:nvSpPr>
        <p:spPr>
          <a:xfrm>
            <a:off x="4069080" y="2286000"/>
            <a:ext cx="3291840" cy="585216"/>
          </a:xfrm>
          <a:prstGeom prst="roundRect">
            <a:avLst>
              <a:gd name="adj" fmla="val 9375"/>
            </a:avLst>
          </a:prstGeom>
          <a:solidFill>
            <a:srgbClr val="171C24"/>
          </a:solidFill>
          <a:ln w="15875">
            <a:solidFill>
              <a:srgbClr val="2E364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60520" y="2286000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AB\nCD\nEF\n</a:t>
            </a:r>
            <a:endParaRPr lang="ja-JP" alt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4069080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50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区切りは残っていない</a:t>
            </a:r>
            <a:endParaRPr lang="ja-JP" altLang="en-US" sz="1150" dirty="0"/>
          </a:p>
        </p:txBody>
      </p:sp>
      <p:sp>
        <p:nvSpPr>
          <p:cNvPr id="23" name="figarrow"/>
          <p:cNvSpPr/>
          <p:nvPr/>
        </p:nvSpPr>
        <p:spPr>
          <a:xfrm>
            <a:off x="7360920" y="2578608"/>
            <a:ext cx="822960" cy="0"/>
          </a:xfrm>
          <a:prstGeom prst="line">
            <a:avLst/>
          </a:prstGeom>
          <a:noFill/>
          <a:ln w="17780">
            <a:solidFill>
              <a:srgbClr val="E8A317"/>
            </a:solidFill>
            <a:prstDash val="solid"/>
            <a:tailEnd type="triangle"/>
          </a:ln>
        </p:spPr>
      </p:sp>
      <p:sp>
        <p:nvSpPr>
          <p:cNvPr id="24" name="figbox"/>
          <p:cNvSpPr/>
          <p:nvPr/>
        </p:nvSpPr>
        <p:spPr>
          <a:xfrm>
            <a:off x="8183880" y="2286000"/>
            <a:ext cx="3291840" cy="585216"/>
          </a:xfrm>
          <a:prstGeom prst="roundRect">
            <a:avLst>
              <a:gd name="adj" fmla="val 9375"/>
            </a:avLst>
          </a:prstGeom>
          <a:solidFill>
            <a:srgbClr val="141820"/>
          </a:solidFill>
          <a:ln w="15875">
            <a:solidFill>
              <a:srgbClr val="E8A31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75320" y="2286000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read() が 1回で全部 返ることがある</a:t>
            </a:r>
            <a:endParaRPr lang="ja-JP" altLang="en-US" sz="1350" dirty="0"/>
          </a:p>
        </p:txBody>
      </p:sp>
      <p:sp>
        <p:nvSpPr>
          <p:cNvPr id="26" name="figline"/>
          <p:cNvSpPr/>
          <p:nvPr/>
        </p:nvSpPr>
        <p:spPr>
          <a:xfrm>
            <a:off x="548640" y="3310128"/>
            <a:ext cx="11064240" cy="0"/>
          </a:xfrm>
          <a:prstGeom prst="line">
            <a:avLst/>
          </a:prstGeom>
          <a:noFill/>
          <a:ln w="15875">
            <a:solidFill>
              <a:srgbClr val="2E3643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685800" y="34930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5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ケース2　1回で送った</a:t>
            </a:r>
            <a:endParaRPr lang="ja-JP" altLang="en-US" sz="1350" dirty="0"/>
          </a:p>
        </p:txBody>
      </p:sp>
      <p:sp>
        <p:nvSpPr>
          <p:cNvPr id="28" name="figbox"/>
          <p:cNvSpPr/>
          <p:nvPr/>
        </p:nvSpPr>
        <p:spPr>
          <a:xfrm>
            <a:off x="685800" y="3803904"/>
            <a:ext cx="2331720" cy="365760"/>
          </a:xfrm>
          <a:prstGeom prst="roundRect">
            <a:avLst>
              <a:gd name="adj" fmla="val 15000"/>
            </a:avLst>
          </a:prstGeom>
          <a:solidFill>
            <a:srgbClr val="141820"/>
          </a:solidFill>
          <a:ln w="15875">
            <a:solidFill>
              <a:srgbClr val="5FA8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77240" y="380390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3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write("HELLO\n")</a:t>
            </a:r>
            <a:endParaRPr lang="ja-JP" altLang="en-US" sz="1300" dirty="0"/>
          </a:p>
        </p:txBody>
      </p:sp>
      <p:sp>
        <p:nvSpPr>
          <p:cNvPr id="30" name="figarrow"/>
          <p:cNvSpPr/>
          <p:nvPr/>
        </p:nvSpPr>
        <p:spPr>
          <a:xfrm>
            <a:off x="3017520" y="3986784"/>
            <a:ext cx="1051560" cy="0"/>
          </a:xfrm>
          <a:prstGeom prst="line">
            <a:avLst/>
          </a:prstGeom>
          <a:noFill/>
          <a:ln w="16510">
            <a:solidFill>
              <a:srgbClr val="5FA8E6"/>
            </a:solidFill>
            <a:prstDash val="solid"/>
            <a:tailEnd type="triangle"/>
          </a:ln>
        </p:spPr>
      </p:sp>
      <p:sp>
        <p:nvSpPr>
          <p:cNvPr id="31" name="figbox"/>
          <p:cNvSpPr/>
          <p:nvPr/>
        </p:nvSpPr>
        <p:spPr>
          <a:xfrm>
            <a:off x="4069080" y="3712464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171C24"/>
          </a:solidFill>
          <a:ln w="15875">
            <a:solidFill>
              <a:srgbClr val="2E36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60520" y="371246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HEL</a:t>
            </a:r>
            <a:endParaRPr lang="ja-JP" altLang="en-US" sz="1600" dirty="0"/>
          </a:p>
        </p:txBody>
      </p:sp>
      <p:sp>
        <p:nvSpPr>
          <p:cNvPr id="33" name="figbox"/>
          <p:cNvSpPr/>
          <p:nvPr/>
        </p:nvSpPr>
        <p:spPr>
          <a:xfrm>
            <a:off x="5806440" y="3712464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171C24"/>
          </a:solidFill>
          <a:ln w="15875">
            <a:solidFill>
              <a:srgbClr val="2E36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897880" y="371246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LO\n</a:t>
            </a:r>
            <a:endParaRPr lang="ja-JP" alt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4069080" y="43159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150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途中で切れることがある</a:t>
            </a:r>
            <a:endParaRPr lang="ja-JP" altLang="en-US" sz="1150" dirty="0"/>
          </a:p>
        </p:txBody>
      </p:sp>
      <p:sp>
        <p:nvSpPr>
          <p:cNvPr id="36" name="figarrow"/>
          <p:cNvSpPr/>
          <p:nvPr/>
        </p:nvSpPr>
        <p:spPr>
          <a:xfrm>
            <a:off x="7360920" y="3858768"/>
            <a:ext cx="822960" cy="0"/>
          </a:xfrm>
          <a:prstGeom prst="line">
            <a:avLst/>
          </a:prstGeom>
          <a:noFill/>
          <a:ln w="17780">
            <a:solidFill>
              <a:srgbClr val="E8A317"/>
            </a:solidFill>
            <a:prstDash val="solid"/>
            <a:tailEnd type="triangle"/>
          </a:ln>
        </p:spPr>
      </p:sp>
      <p:sp>
        <p:nvSpPr>
          <p:cNvPr id="37" name="figbox"/>
          <p:cNvSpPr/>
          <p:nvPr/>
        </p:nvSpPr>
        <p:spPr>
          <a:xfrm>
            <a:off x="8183880" y="3694176"/>
            <a:ext cx="3291840" cy="329184"/>
          </a:xfrm>
          <a:prstGeom prst="roundRect">
            <a:avLst>
              <a:gd name="adj" fmla="val 16667"/>
            </a:avLst>
          </a:prstGeom>
          <a:solidFill>
            <a:srgbClr val="141820"/>
          </a:solidFill>
          <a:ln w="15875">
            <a:solidFill>
              <a:srgbClr val="E8A31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75320" y="36941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30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read() ①　HEL</a:t>
            </a:r>
            <a:endParaRPr lang="ja-JP" altLang="en-US" sz="1300" dirty="0"/>
          </a:p>
        </p:txBody>
      </p:sp>
      <p:sp>
        <p:nvSpPr>
          <p:cNvPr id="39" name="figarrow"/>
          <p:cNvSpPr/>
          <p:nvPr/>
        </p:nvSpPr>
        <p:spPr>
          <a:xfrm>
            <a:off x="7360920" y="4261104"/>
            <a:ext cx="822960" cy="0"/>
          </a:xfrm>
          <a:prstGeom prst="line">
            <a:avLst/>
          </a:prstGeom>
          <a:noFill/>
          <a:ln w="17780">
            <a:solidFill>
              <a:srgbClr val="E8A317"/>
            </a:solidFill>
            <a:prstDash val="solid"/>
            <a:tailEnd type="triangle"/>
          </a:ln>
        </p:spPr>
      </p:sp>
      <p:sp>
        <p:nvSpPr>
          <p:cNvPr id="40" name="figbox"/>
          <p:cNvSpPr/>
          <p:nvPr/>
        </p:nvSpPr>
        <p:spPr>
          <a:xfrm>
            <a:off x="8183880" y="4096512"/>
            <a:ext cx="3291840" cy="329184"/>
          </a:xfrm>
          <a:prstGeom prst="roundRect">
            <a:avLst>
              <a:gd name="adj" fmla="val 16667"/>
            </a:avLst>
          </a:prstGeom>
          <a:solidFill>
            <a:srgbClr val="141820"/>
          </a:solidFill>
          <a:ln w="15875">
            <a:solidFill>
              <a:srgbClr val="E8A31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75320" y="409651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30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read() ②　LO\n</a:t>
            </a:r>
            <a:endParaRPr lang="ja-JP" altLang="en-US" sz="1300" dirty="0"/>
          </a:p>
        </p:txBody>
      </p:sp>
      <p:sp>
        <p:nvSpPr>
          <p:cNvPr id="42" name="figbox"/>
          <p:cNvSpPr/>
          <p:nvPr/>
        </p:nvSpPr>
        <p:spPr>
          <a:xfrm>
            <a:off x="548640" y="4956048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41820"/>
          </a:solidFill>
          <a:ln w="25400">
            <a:solidFill>
              <a:srgbClr val="E8A31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22960" y="5120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7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が保証するのは「バイトの順番」だけ。</a:t>
            </a:r>
            <a:endParaRPr lang="ja-JP" alt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822960" y="5468112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送った回数も、1件の切れ目も残らない。だから区切りは自分たちで決める。</a:t>
            </a:r>
            <a:endParaRPr lang="ja-JP" altLang="en-US" sz="1350" dirty="0"/>
          </a:p>
        </p:txBody>
      </p:sp>
      <p:sp>
        <p:nvSpPr>
          <p:cNvPr id="45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第5回では、この「決め方」そのものを設計する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この授業の約束 ── 改行 0A までが1件</a:t>
            </a:r>
            <a:endParaRPr lang="ja-JP" alt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371600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E6F1FB"/>
          </a:solidFill>
          <a:ln w="19050">
            <a:solidFill>
              <a:srgbClr val="1668B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55448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1668B5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行単位プロトコル</a:t>
            </a:r>
            <a:endParaRPr lang="ja-JP" alt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49808" y="182880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区切り文字を改行にする</a:t>
            </a:r>
            <a:endParaRPr lang="ja-JP" alt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249424"/>
            <a:ext cx="49926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それだけの取り決め。難しい技術ではなく、</a:t>
            </a:r>
            <a:endParaRPr lang="ja-JP" alt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送る側と受け取る側の「約束」</a:t>
            </a:r>
            <a:endParaRPr lang="ja-JP" altLang="en-US" sz="1600" dirty="0"/>
          </a:p>
        </p:txBody>
      </p:sp>
      <p:sp>
        <p:nvSpPr>
          <p:cNvPr id="8" name="card"/>
          <p:cNvSpPr/>
          <p:nvPr/>
        </p:nvSpPr>
        <p:spPr>
          <a:xfrm>
            <a:off x="6217920" y="1371600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FDF0D4"/>
          </a:solidFill>
          <a:ln w="19050">
            <a:solidFill>
              <a:srgbClr val="E8A31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19088" y="155448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8A620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今日の改行</a:t>
            </a:r>
            <a:endParaRPr lang="ja-JP" alt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19088" y="182880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2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0A の 1バイト だけ</a:t>
            </a:r>
            <a:endParaRPr lang="ja-JP" alt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419088" y="2249424"/>
            <a:ext cx="49926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0D 0A は使わない。</a:t>
            </a:r>
            <a:endParaRPr lang="ja-JP" alt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newLine() も使わない（環境で変わる）</a:t>
            </a:r>
            <a:endParaRPr lang="ja-JP" altLang="en-US" sz="16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回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区切りの決め方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第2回（今日）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改行 0A まで ── こちらが決め打ちで渡す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第5回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自分たちで設計する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第6回 HTTP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BE3E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0D 0A が必須になる ── 「どちらでもいい」ではない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約束が食い違うと、エラーではなく「固まる」で現れる ── 今日の演習C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QUESTION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答えは、まだ言いません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34440"/>
            <a:ext cx="11064240" cy="2153514"/>
          </a:xfrm>
          <a:prstGeom prst="roundRect">
            <a:avLst>
              <a:gd name="adj" fmla="val 3397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380744"/>
            <a:ext cx="10661904" cy="1860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今日の演習Aで、あなたはこう書く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out.write(data);      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data の末尾には 0A が付いている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out.flush();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では、この 0A の 1バイトを消したら？
</a:t>
            </a:r>
            <a:endParaRPr lang="ja-JP" alt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3753714"/>
            <a:ext cx="11064240" cy="1783080"/>
          </a:xfrm>
          <a:prstGeom prst="roundRect">
            <a:avLst>
              <a:gd name="adj" fmla="val 3590"/>
            </a:avLst>
          </a:prstGeom>
          <a:solidFill>
            <a:srgbClr val="E8A31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3936594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3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配布資料のこのページに、1文で書く（1分）</a:t>
            </a:r>
            <a:endParaRPr lang="ja-JP" alt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41208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「0A を消すと、このプログラムはどうなるか」</a:t>
            </a:r>
            <a:endParaRPr lang="ja-JP" alt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489671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50" dirty="0">
                <a:solidFill>
                  <a:srgbClr val="5A3D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正解でなくていい。演習C のあとで、自分で採点する。</a:t>
            </a:r>
            <a:endParaRPr lang="ja-JP" altLang="en-US" sz="1550" dirty="0"/>
          </a:p>
        </p:txBody>
      </p:sp>
      <p:sp>
        <p:nvSpPr>
          <p:cNvPr id="11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「エラーが出る」と書いた人が多いはずです ── そこが今日いちばんの見どころ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文字化けは、破損ではなく「読み間違い」</a:t>
            </a:r>
            <a:endParaRPr lang="ja-JP" altLang="en-US" sz="3000" dirty="0"/>
          </a:p>
        </p:txBody>
      </p:sp>
      <p:sp>
        <p:nvSpPr>
          <p:cNvPr id="4" name="figbox"/>
          <p:cNvSpPr/>
          <p:nvPr/>
        </p:nvSpPr>
        <p:spPr>
          <a:xfrm>
            <a:off x="548640" y="2514600"/>
            <a:ext cx="2651760" cy="960120"/>
          </a:xfrm>
          <a:prstGeom prst="roundRect">
            <a:avLst>
              <a:gd name="adj" fmla="val 5714"/>
            </a:avLst>
          </a:prstGeom>
          <a:solidFill>
            <a:srgbClr val="E6F1FB"/>
          </a:solidFill>
          <a:ln w="15875">
            <a:solidFill>
              <a:srgbClr val="1668B5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6334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送信側</a:t>
            </a:r>
            <a:endParaRPr lang="ja-JP" alt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926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rgbClr val="1668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「あ」を UTF-8 で書く</a:t>
            </a:r>
            <a:endParaRPr lang="ja-JP" altLang="en-US" sz="1500" dirty="0"/>
          </a:p>
        </p:txBody>
      </p:sp>
      <p:sp>
        <p:nvSpPr>
          <p:cNvPr id="7" name="figarrow"/>
          <p:cNvSpPr/>
          <p:nvPr/>
        </p:nvSpPr>
        <p:spPr>
          <a:xfrm>
            <a:off x="3291840" y="2994660"/>
            <a:ext cx="502920" cy="0"/>
          </a:xfrm>
          <a:prstGeom prst="line">
            <a:avLst/>
          </a:prstGeom>
          <a:noFill/>
          <a:ln w="20320">
            <a:solidFill>
              <a:srgbClr val="1668B5"/>
            </a:solidFill>
            <a:prstDash val="solid"/>
            <a:tailEnd type="triangle"/>
          </a:ln>
        </p:spPr>
      </p:sp>
      <p:sp>
        <p:nvSpPr>
          <p:cNvPr id="8" name="figbox"/>
          <p:cNvSpPr/>
          <p:nvPr/>
        </p:nvSpPr>
        <p:spPr>
          <a:xfrm>
            <a:off x="3886200" y="2377440"/>
            <a:ext cx="2743200" cy="1234440"/>
          </a:xfrm>
          <a:prstGeom prst="roundRect">
            <a:avLst>
              <a:gd name="adj" fmla="val 4444"/>
            </a:avLst>
          </a:prstGeom>
          <a:solidFill>
            <a:srgbClr val="1C2027"/>
          </a:solidFill>
          <a:ln w="15875">
            <a:solidFill>
              <a:srgbClr val="1C20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886200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線の上を流れるもの</a:t>
            </a:r>
            <a:endParaRPr lang="ja-JP" alt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886200" y="2944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6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E3 81 82</a:t>
            </a:r>
            <a:endParaRPr lang="ja-JP" alt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3886200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 3バイト だけ</a:t>
            </a:r>
            <a:endParaRPr lang="ja-JP" altLang="en-US" sz="1250" dirty="0"/>
          </a:p>
        </p:txBody>
      </p:sp>
      <p:sp>
        <p:nvSpPr>
          <p:cNvPr id="12" name="figline"/>
          <p:cNvSpPr/>
          <p:nvPr/>
        </p:nvSpPr>
        <p:spPr>
          <a:xfrm>
            <a:off x="6629400" y="2994660"/>
            <a:ext cx="411480" cy="0"/>
          </a:xfrm>
          <a:prstGeom prst="line">
            <a:avLst/>
          </a:prstGeom>
          <a:noFill/>
          <a:ln w="20320">
            <a:solidFill>
              <a:srgbClr val="5A6270"/>
            </a:solidFill>
            <a:prstDash val="solid"/>
          </a:ln>
        </p:spPr>
      </p:sp>
      <p:sp>
        <p:nvSpPr>
          <p:cNvPr id="13" name="figline"/>
          <p:cNvSpPr/>
          <p:nvPr/>
        </p:nvSpPr>
        <p:spPr>
          <a:xfrm>
            <a:off x="7040880" y="2066544"/>
            <a:ext cx="0" cy="1856232"/>
          </a:xfrm>
          <a:prstGeom prst="line">
            <a:avLst/>
          </a:prstGeom>
          <a:noFill/>
          <a:ln w="20320">
            <a:solidFill>
              <a:srgbClr val="5A6270"/>
            </a:solidFill>
            <a:prstDash val="solid"/>
          </a:ln>
        </p:spPr>
      </p:sp>
      <p:sp>
        <p:nvSpPr>
          <p:cNvPr id="14" name="figarrow"/>
          <p:cNvSpPr/>
          <p:nvPr/>
        </p:nvSpPr>
        <p:spPr>
          <a:xfrm>
            <a:off x="7040880" y="2066544"/>
            <a:ext cx="411480" cy="0"/>
          </a:xfrm>
          <a:prstGeom prst="line">
            <a:avLst/>
          </a:prstGeom>
          <a:noFill/>
          <a:ln w="20320">
            <a:solidFill>
              <a:srgbClr val="0F6B60"/>
            </a:solidFill>
            <a:prstDash val="solid"/>
            <a:tailEnd type="triangle"/>
          </a:ln>
        </p:spPr>
      </p:sp>
      <p:sp>
        <p:nvSpPr>
          <p:cNvPr id="15" name="figarrow"/>
          <p:cNvSpPr/>
          <p:nvPr/>
        </p:nvSpPr>
        <p:spPr>
          <a:xfrm>
            <a:off x="7040880" y="3922776"/>
            <a:ext cx="411480" cy="0"/>
          </a:xfrm>
          <a:prstGeom prst="line">
            <a:avLst/>
          </a:prstGeom>
          <a:noFill/>
          <a:ln w="20320">
            <a:solidFill>
              <a:srgbClr val="BE3E1B"/>
            </a:solidFill>
            <a:prstDash val="solid"/>
            <a:tailEnd type="triangle"/>
          </a:ln>
        </p:spPr>
      </p:sp>
      <p:sp>
        <p:nvSpPr>
          <p:cNvPr id="16" name="figbox"/>
          <p:cNvSpPr/>
          <p:nvPr/>
        </p:nvSpPr>
        <p:spPr>
          <a:xfrm>
            <a:off x="7543800" y="1691640"/>
            <a:ext cx="3154680" cy="777240"/>
          </a:xfrm>
          <a:prstGeom prst="roundRect">
            <a:avLst>
              <a:gd name="adj" fmla="val 7059"/>
            </a:avLst>
          </a:prstGeom>
          <a:solidFill>
            <a:srgbClr val="E3F5F2"/>
          </a:solidFill>
          <a:ln w="15875">
            <a:solidFill>
              <a:srgbClr val="0F6B6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2668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2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UTF-8 として読む</a:t>
            </a:r>
            <a:endParaRPr lang="ja-JP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726680" y="2103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550" b="1" dirty="0">
                <a:solidFill>
                  <a:srgbClr val="0F6B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「あ」　正しく戻る</a:t>
            </a:r>
            <a:endParaRPr lang="ja-JP" altLang="en-US" sz="1550" dirty="0"/>
          </a:p>
        </p:txBody>
      </p:sp>
      <p:sp>
        <p:nvSpPr>
          <p:cNvPr id="19" name="figbox"/>
          <p:cNvSpPr/>
          <p:nvPr/>
        </p:nvSpPr>
        <p:spPr>
          <a:xfrm>
            <a:off x="7543800" y="3547872"/>
            <a:ext cx="3154680" cy="777240"/>
          </a:xfrm>
          <a:prstGeom prst="roundRect">
            <a:avLst>
              <a:gd name="adj" fmla="val 7059"/>
            </a:avLst>
          </a:prstGeom>
          <a:solidFill>
            <a:srgbClr val="FAE5DD"/>
          </a:solidFill>
          <a:ln w="15875">
            <a:solidFill>
              <a:srgbClr val="BE3E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26680" y="366674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2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Shift_JIS として読む</a:t>
            </a:r>
            <a:endParaRPr lang="ja-JP" alt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7726680" y="39593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155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別の文字になる（文字化け）</a:t>
            </a:r>
            <a:endParaRPr lang="ja-JP" altLang="en-US" sz="15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1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バイトは1つも壊れていない。壊れたのは「解釈」のほう。</a:t>
            </a:r>
            <a:endParaRPr lang="ja-JP" altLang="en-US" sz="2100" dirty="0"/>
          </a:p>
        </p:txBody>
      </p:sp>
      <p:sp>
        <p:nvSpPr>
          <p:cNvPr id="23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文字化けを見たら、まず HEX を見る ── 第9回 JSON でも第11回 TLS でも、同じ切り分けをする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E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BE3E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FFFFFF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WARNING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隣の席と、結果が変わる</a:t>
            </a:r>
            <a:endParaRPr lang="ja-JP" altLang="en-US" sz="3200" dirty="0"/>
          </a:p>
        </p:txBody>
      </p:sp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JDK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既定の文字コード（Windows 日本語環境）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MS932（Shift_JIS 系）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 以降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UTF-8 に統一された（JEP 400）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odepanel"/>
          <p:cNvSpPr/>
          <p:nvPr/>
        </p:nvSpPr>
        <p:spPr>
          <a:xfrm>
            <a:off x="548640" y="3017520"/>
            <a:ext cx="11064240" cy="937565"/>
          </a:xfrm>
          <a:prstGeom prst="roundRect">
            <a:avLst>
              <a:gd name="adj" fmla="val 7802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" y="3163824"/>
            <a:ext cx="10661904" cy="6449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new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InputStreamReader(in)                      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BE3E1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環境で結果が変わる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new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InputStreamReader(in, StandardCharsets.UTF_8)  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常に同じ</a:t>
            </a:r>
            <a:endParaRPr lang="ja-JP" alt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366565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1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今日は、文字コードを1か所残らず明示する。省略したコードは、動いていても減点。</a:t>
            </a:r>
            <a:endParaRPr lang="ja-JP" altLang="en-US" sz="2100" dirty="0"/>
          </a:p>
        </p:txBody>
      </p:sp>
      <p:sp>
        <p:nvSpPr>
          <p:cNvPr id="9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「書かなくても動いた」は、この回では不正解 ── 自分の環境で動いただけ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Tab を押す前に、この3点だけ見る</a:t>
            </a:r>
            <a:endParaRPr lang="ja-JP" altLang="en-US" sz="3000" dirty="0"/>
          </a:p>
        </p:txBody>
      </p:sp>
      <p:sp>
        <p:nvSpPr>
          <p:cNvPr id="4" name="card"/>
          <p:cNvSpPr/>
          <p:nvPr/>
        </p:nvSpPr>
        <p:spPr>
          <a:xfrm>
            <a:off x="548640" y="1371600"/>
            <a:ext cx="3535680" cy="3017520"/>
          </a:xfrm>
          <a:prstGeom prst="roundRect">
            <a:avLst>
              <a:gd name="adj" fmla="val 2121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554480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①</a:t>
            </a:r>
            <a:endParaRPr lang="ja-JP" alt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749808" y="1828800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文字コードの省略</a:t>
            </a:r>
            <a:endParaRPr lang="ja-JP" alt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2249424"/>
            <a:ext cx="313334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getBytes()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new String(b)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new InputStreamReader(in)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すべて引数なしで書けてしまう</a:t>
            </a:r>
            <a:endParaRPr lang="ja-JP" altLang="en-US" sz="1500" dirty="0"/>
          </a:p>
        </p:txBody>
      </p:sp>
      <p:sp>
        <p:nvSpPr>
          <p:cNvPr id="8" name="card"/>
          <p:cNvSpPr/>
          <p:nvPr/>
        </p:nvSpPr>
        <p:spPr>
          <a:xfrm>
            <a:off x="4312920" y="1371600"/>
            <a:ext cx="3535680" cy="3017520"/>
          </a:xfrm>
          <a:prstGeom prst="roundRect">
            <a:avLst>
              <a:gd name="adj" fmla="val 2121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14088" y="1554480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②</a:t>
            </a:r>
            <a:endParaRPr lang="ja-JP" alt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514088" y="1828800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newLine() を使う</a:t>
            </a:r>
            <a:endParaRPr lang="ja-JP" alt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4514088" y="2249424"/>
            <a:ext cx="313334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Windows では 0D 0A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の2バイトが書かれる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今日の約束は 0A だけ</a:t>
            </a:r>
            <a:endParaRPr lang="ja-JP" alt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8077200" y="1371600"/>
            <a:ext cx="3535680" cy="3017520"/>
          </a:xfrm>
          <a:prstGeom prst="roundRect">
            <a:avLst>
              <a:gd name="adj" fmla="val 2121"/>
            </a:avLst>
          </a:prstGeom>
          <a:solidFill>
            <a:srgbClr val="141820"/>
          </a:solidFill>
          <a:ln w="25400">
            <a:solidFill>
              <a:srgbClr val="BE3E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8368" y="1554480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③</a:t>
            </a:r>
            <a:endParaRPr lang="ja-JP" alt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278368" y="1828800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flush() が無い</a:t>
            </a:r>
            <a:endParaRPr lang="ja-JP" alt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78368" y="2249424"/>
            <a:ext cx="3133344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write() だけ書いて終わる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今日いちばん多い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「固まる」の原因</a:t>
            </a:r>
            <a:endParaRPr lang="ja-JP" alt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違っていたら Esc で消して、コメントを足して出し直す ── 直すより、出し直すほうが速い。</a:t>
            </a:r>
            <a:endParaRPr lang="ja-JP" altLang="en-US" sz="1800" dirty="0"/>
          </a:p>
        </p:txBody>
      </p:sp>
      <p:sp>
        <p:nvSpPr>
          <p:cNvPr id="17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第1回のルールは継続 ── Tab の前に読む／プロンプトを記録する／学籍番号やパスワードを入力しない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このあと55分の流れ</a:t>
            </a:r>
            <a:endParaRPr lang="ja-JP" altLang="en-US" sz="30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32104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経過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やること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0:20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演習A　バイト列を送り、返りを16進で見る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0:35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演習B　同じバイト列を、違う文字コードで読む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17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0:52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BE3E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演習C　わざと固まらせる ── ここが今日の中心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1:08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演習D　ライブラリに任せる（宿題の必須要素ではない）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1:15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宿題の提示と、教室内での着手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15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4069080"/>
            <a:ext cx="5394960" cy="1463040"/>
          </a:xfrm>
          <a:prstGeom prst="roundRect">
            <a:avLst>
              <a:gd name="adj" fmla="val 4375"/>
            </a:avLst>
          </a:prstGeom>
          <a:solidFill>
            <a:srgbClr val="E6F1FB"/>
          </a:solidFill>
          <a:ln w="19050">
            <a:solidFill>
              <a:srgbClr val="1668B5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49808" y="425196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1668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書く前に、15秒</a:t>
            </a:r>
            <a:endParaRPr lang="ja-JP" alt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749808" y="4672584"/>
            <a:ext cx="4992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Copilot の提案は、読んでから Tab。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文字コードと flush() の2点だけ見る</a:t>
            </a:r>
            <a:endParaRPr lang="ja-JP" altLang="en-US" sz="1550" dirty="0"/>
          </a:p>
        </p:txBody>
      </p:sp>
      <p:sp>
        <p:nvSpPr>
          <p:cNvPr id="8" name="card"/>
          <p:cNvSpPr/>
          <p:nvPr/>
        </p:nvSpPr>
        <p:spPr>
          <a:xfrm>
            <a:off x="6217920" y="4069080"/>
            <a:ext cx="5394960" cy="1463040"/>
          </a:xfrm>
          <a:prstGeom prst="roundRect">
            <a:avLst>
              <a:gd name="adj" fmla="val 4375"/>
            </a:avLst>
          </a:prstGeom>
          <a:solidFill>
            <a:srgbClr val="FAE5DD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19088" y="425196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止め方を先に覚える</a:t>
            </a:r>
            <a:endParaRPr lang="ja-JP" alt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419088" y="4672584"/>
            <a:ext cx="4992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反応しなくなったら Ctrl + C。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今日は、止まって当然の状態を自分で作る</a:t>
            </a:r>
            <a:endParaRPr lang="ja-JP" altLang="en-US" sz="1550" dirty="0"/>
          </a:p>
        </p:txBody>
      </p:sp>
      <p:sp>
        <p:nvSpPr>
          <p:cNvPr id="11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質問は「動きません」ではなく「演習Bまでは通って、Cで止まっています」と言う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STAGE A-1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ターミナルを2枚開く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34440"/>
            <a:ext cx="11064240" cy="2042973"/>
          </a:xfrm>
          <a:prstGeom prst="roundRect">
            <a:avLst>
              <a:gd name="adj" fmla="val 3581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380744"/>
            <a:ext cx="10661904" cy="1750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# 1枚目 ── 起動したら、そのまま放置する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java -jar EchoServer.jar 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# 2枚目 ── 第1回の Connect.java をコピーして始める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copy Connect.java Bytes.java      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# クラス名も Bytes に変える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javac -encoding UTF-8 Bytes.java</a:t>
            </a:r>
            <a:endParaRPr lang="ja-JP" altLang="en-US" sz="1600" dirty="0"/>
          </a:p>
        </p:txBody>
      </p:sp>
      <p:sp>
        <p:nvSpPr>
          <p:cNvPr id="7" name="card"/>
          <p:cNvSpPr/>
          <p:nvPr/>
        </p:nvSpPr>
        <p:spPr>
          <a:xfrm>
            <a:off x="548640" y="3688893"/>
            <a:ext cx="5394960" cy="1463040"/>
          </a:xfrm>
          <a:prstGeom prst="roundRect">
            <a:avLst>
              <a:gd name="adj" fmla="val 4375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3871773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1枚目は固まって見える</a:t>
            </a:r>
            <a:endParaRPr lang="ja-JP" alt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4292397"/>
            <a:ext cx="4992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それが正常。サーバは接続を待っている</a:t>
            </a:r>
            <a:endParaRPr lang="ja-JP" altLang="en-US" sz="1550" dirty="0"/>
          </a:p>
        </p:txBody>
      </p:sp>
      <p:sp>
        <p:nvSpPr>
          <p:cNvPr id="10" name="card"/>
          <p:cNvSpPr/>
          <p:nvPr/>
        </p:nvSpPr>
        <p:spPr>
          <a:xfrm>
            <a:off x="6217920" y="3688893"/>
            <a:ext cx="5394960" cy="1463040"/>
          </a:xfrm>
          <a:prstGeom prst="roundRect">
            <a:avLst>
              <a:gd name="adj" fmla="val 4375"/>
            </a:avLst>
          </a:prstGeom>
          <a:solidFill>
            <a:srgbClr val="141820"/>
          </a:solidFill>
          <a:ln w="25400">
            <a:solidFill>
              <a:srgbClr val="E8A3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3871773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ゼロから書かない</a:t>
            </a:r>
            <a:endParaRPr lang="ja-JP" alt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4292397"/>
            <a:ext cx="4992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第1回の Connect.java が出発点。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CONNECTED の直後に書き足す</a:t>
            </a:r>
            <a:endParaRPr lang="ja-JP" altLang="en-US" sz="1550" dirty="0"/>
          </a:p>
        </p:txBody>
      </p:sp>
      <p:sp>
        <p:nvSpPr>
          <p:cNvPr id="13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EchoServer.jar が無い人はこの時点で挙手 ── eclass から再取得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STAGE A-2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この文面を、そのまま打つ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34440"/>
            <a:ext cx="11064240" cy="1932432"/>
          </a:xfrm>
          <a:prstGeom prst="roundRect">
            <a:avLst>
              <a:gd name="adj" fmla="val 3785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380744"/>
            <a:ext cx="10661904" cy="1639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接続に成功したら、文字列 "HELLO" を UTF-8 でバイト配列に変換し、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末尾に改行 0x0A を1バイト足して OutputStream に write し、flush する。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そのあと InputStream から最大64バイト読み取り、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読めたバイト数と、1バイトずつ "%02X " 形式の16進表示と、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同じバイト列を UTF-8 で文字列に戻したものを、それぞれ1行ずつ表示する。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文字コードは StandardCharsets を使って必ず明示すること。</a:t>
            </a:r>
            <a:endParaRPr lang="ja-JP" alt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3624072"/>
            <a:ext cx="5394960" cy="1600200"/>
          </a:xfrm>
          <a:prstGeom prst="roundRect">
            <a:avLst>
              <a:gd name="adj" fmla="val 4000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3806952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確認 ①</a:t>
            </a:r>
            <a:endParaRPr lang="ja-JP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4081272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8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getBytes() が引数なしでないか</a:t>
            </a:r>
            <a:endParaRPr lang="ja-JP" alt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4501896"/>
            <a:ext cx="499262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正しくは getBytes(StandardCharsets.UTF_8)</a:t>
            </a:r>
            <a:endParaRPr lang="ja-JP" alt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217920" y="3624072"/>
            <a:ext cx="5394960" cy="1600200"/>
          </a:xfrm>
          <a:prstGeom prst="roundRect">
            <a:avLst>
              <a:gd name="adj" fmla="val 4000"/>
            </a:avLst>
          </a:prstGeom>
          <a:solidFill>
            <a:srgbClr val="141820"/>
          </a:solidFill>
          <a:ln w="25400">
            <a:solidFill>
              <a:srgbClr val="BE3E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9088" y="3806952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BE3E1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確認 ②</a:t>
            </a:r>
            <a:endParaRPr lang="ja-JP" alt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419088" y="4081272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8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flush() があるか</a:t>
            </a:r>
            <a:endParaRPr lang="ja-JP" alt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419088" y="4501896"/>
            <a:ext cx="499262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無ければ、1バイトも送信されない</a:t>
            </a:r>
            <a:endParaRPr lang="ja-JP" altLang="en-US" sz="1500" dirty="0"/>
          </a:p>
        </p:txBody>
      </p:sp>
      <p:sp>
        <p:nvSpPr>
          <p:cNvPr id="15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打ったプロンプトは prompt_log.md に残す ── 宿題の提出物です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8A31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STAGE A-3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5文字なのに、6バイト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34440"/>
            <a:ext cx="11064240" cy="1953158"/>
          </a:xfrm>
          <a:prstGeom prst="roundRect">
            <a:avLst>
              <a:gd name="adj" fmla="val 3745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380744"/>
            <a:ext cx="10661904" cy="1660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CONNECTED
</a:t>
            </a:r>
            <a:pPr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SEND_BYTES=</a:t>
            </a:r>
            <a:pPr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6
</a:t>
            </a:r>
            <a:pPr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RECV_BYTES=</a:t>
            </a:r>
            <a:pPr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6
</a:t>
            </a:r>
            <a:pPr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HEX: </a:t>
            </a:r>
            <a:pPr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48 45 4C 4C 4F </a:t>
            </a:r>
            <a:pPr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0A
</a:t>
            </a:r>
            <a:pPr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TEXT: HELLO</a:t>
            </a:r>
            <a:endParaRPr lang="ja-JP" alt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3644798"/>
            <a:ext cx="3535680" cy="1691640"/>
          </a:xfrm>
          <a:prstGeom prst="roundRect">
            <a:avLst>
              <a:gd name="adj" fmla="val 3784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3827678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0A</a:t>
            </a:r>
            <a:endParaRPr lang="ja-JP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4101998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8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改行は1バイトの文字</a:t>
            </a:r>
            <a:endParaRPr lang="ja-JP" alt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4522622"/>
            <a:ext cx="313334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目には見えないが、確かに送られている</a:t>
            </a:r>
            <a:endParaRPr lang="ja-JP" alt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4312920" y="3644798"/>
            <a:ext cx="3535680" cy="1691640"/>
          </a:xfrm>
          <a:prstGeom prst="roundRect">
            <a:avLst>
              <a:gd name="adj" fmla="val 3784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14088" y="3827678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6</a:t>
            </a:r>
            <a:endParaRPr lang="ja-JP" alt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4514088" y="4101998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8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HELLO は5文字</a:t>
            </a:r>
            <a:endParaRPr lang="ja-JP" alt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514088" y="4522622"/>
            <a:ext cx="313334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なのに送ったのは6バイト</a:t>
            </a:r>
            <a:endParaRPr lang="ja-JP" alt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77200" y="3644798"/>
            <a:ext cx="3535680" cy="1691640"/>
          </a:xfrm>
          <a:prstGeom prst="roundRect">
            <a:avLst>
              <a:gd name="adj" fmla="val 3784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8368" y="3827678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=</a:t>
            </a:r>
            <a:endParaRPr lang="ja-JP" alt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278368" y="4101998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8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返りも6バイト</a:t>
            </a:r>
            <a:endParaRPr lang="ja-JP" alt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278368" y="4522622"/>
            <a:ext cx="3133344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サーバは受け取った行をそのまま返す</a:t>
            </a:r>
            <a:endParaRPr lang="ja-JP" alt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56503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ここまでで、まだ「文字」を扱っていない。扱ったのはバイトだけ。</a:t>
            </a:r>
            <a:endParaRPr lang="ja-JP" altLang="en-US" sz="1800" dirty="0"/>
          </a:p>
        </p:txBody>
      </p:sp>
      <p:sp>
        <p:nvSpPr>
          <p:cNvPr id="20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0:35 ── それで正しい進度です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668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FFFFFF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STAGE B-1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送信文字列を「こんにちは」に変える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34440"/>
            <a:ext cx="11064240" cy="1272642"/>
          </a:xfrm>
          <a:prstGeom prst="roundRect">
            <a:avLst>
              <a:gd name="adj" fmla="val 5748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380744"/>
            <a:ext cx="10661904" cy="980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SEND_BYTES=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16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HEX: 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E3 81 93 E3 82 93 E3 81 AB E3 81 A1 E3 81 AF 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0A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TEXT: こんにちは</a:t>
            </a:r>
            <a:endParaRPr lang="ja-JP" alt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964282"/>
            <a:ext cx="11064240" cy="1371600"/>
          </a:xfrm>
          <a:prstGeom prst="roundRect">
            <a:avLst>
              <a:gd name="adj" fmla="val 4667"/>
            </a:avLst>
          </a:prstGeom>
          <a:solidFill>
            <a:srgbClr val="1668B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312887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 文字 × 3 バイト  +  改行 1 バイト  =  16 バイト</a:t>
            </a:r>
            <a:endParaRPr lang="ja-JP" alt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369580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E6F1F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この計算が合うことを、自分で確かめる</a:t>
            </a:r>
            <a:endParaRPr lang="ja-JP" altLang="en-US" sz="1600" dirty="0"/>
          </a:p>
        </p:txBody>
      </p:sp>
      <p:sp>
        <p:nvSpPr>
          <p:cNvPr id="10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日本語は UTF-8 で1文字3バイト ── 絵文字は3バイトではない（早く終わった人への問い）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BE3E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FFFFFF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STAGE B-2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変えるのは「読み方」だけ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34440"/>
            <a:ext cx="11064240" cy="1766621"/>
          </a:xfrm>
          <a:prstGeom prst="roundRect">
            <a:avLst>
              <a:gd name="adj" fmla="val 4141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380744"/>
            <a:ext cx="10661904" cy="1474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変える前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String text = 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new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String(buf, 0, n, StandardCharsets.UTF_8);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変えた後（この1行だけ）
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String text = 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new</a:t>
            </a:r>
            <a:pPr indent="0" marL="0">
              <a:lnSpc>
                <a:spcPct val="135000"/>
              </a:lnSpc>
              <a:buNone/>
            </a:pPr>
            <a:r>
              <a:rPr lang="ja-JP" altLang="en-US" sz="16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String(buf, 0, n, Charset.forName("Shift_JIS"));</a:t>
            </a:r>
            <a:endParaRPr lang="ja-JP" alt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458261"/>
            <a:ext cx="11064240" cy="1417320"/>
          </a:xfrm>
          <a:prstGeom prst="roundRect">
            <a:avLst>
              <a:gd name="adj" fmla="val 4516"/>
            </a:avLst>
          </a:prstGeom>
          <a:solidFill>
            <a:srgbClr val="BE3E1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3641141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送信側は、1文字も変えない</a:t>
            </a:r>
            <a:endParaRPr lang="ja-JP" alt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171493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dirty="0">
                <a:solidFill>
                  <a:srgbClr val="FAE5D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変えるのは、バイト列を文字列に戻す最後の1か所だけ</a:t>
            </a:r>
            <a:endParaRPr lang="ja-JP" altLang="en-US" sz="1700" dirty="0"/>
          </a:p>
        </p:txBody>
      </p:sp>
      <p:sp>
        <p:nvSpPr>
          <p:cNvPr id="10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ここで全員の手を止める ── 送信側を触った人は、このあとの比較ができません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668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FFFFFF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STAGE B-3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HEX の行は、1バイトも変わらない</a:t>
            </a:r>
            <a:endParaRPr lang="ja-JP" altLang="en-US" sz="32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93776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読むときの指定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HEX の行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TEXT の行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UTF-8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668B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E3 81 93 E3 82 93 ...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0F6B6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こんにちは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Shift_JIS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668B5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E3 81 93 E3 82 93 ...（まったく同じ）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BE3E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読めない文字の列になる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548640" y="2971800"/>
            <a:ext cx="5394960" cy="1737360"/>
          </a:xfrm>
          <a:prstGeom prst="roundRect">
            <a:avLst>
              <a:gd name="adj" fmla="val 3684"/>
            </a:avLst>
          </a:prstGeom>
          <a:solidFill>
            <a:srgbClr val="E6F1FB"/>
          </a:solidFill>
          <a:ln w="19050">
            <a:solidFill>
              <a:srgbClr val="1668B5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9808" y="315468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1668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ネットワークは何も間違えていない</a:t>
            </a:r>
            <a:endParaRPr lang="ja-JP" alt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749808" y="3575304"/>
            <a:ext cx="49926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16バイトを送り、16バイトが返ってきた</a:t>
            </a:r>
            <a:endParaRPr lang="ja-JP" altLang="en-US" sz="1600" dirty="0"/>
          </a:p>
        </p:txBody>
      </p:sp>
      <p:sp>
        <p:nvSpPr>
          <p:cNvPr id="9" name="card"/>
          <p:cNvSpPr/>
          <p:nvPr/>
        </p:nvSpPr>
        <p:spPr>
          <a:xfrm>
            <a:off x="6217920" y="2971800"/>
            <a:ext cx="5394960" cy="1737360"/>
          </a:xfrm>
          <a:prstGeom prst="roundRect">
            <a:avLst>
              <a:gd name="adj" fmla="val 3684"/>
            </a:avLst>
          </a:prstGeom>
          <a:solidFill>
            <a:srgbClr val="FAE5DD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19088" y="315468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間違えたのは、自分のプログラム</a:t>
            </a:r>
            <a:endParaRPr lang="ja-JP" alt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6419088" y="3575304"/>
            <a:ext cx="49926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60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そのバイト列を「Shift_JIS だ」と思い込んだ</a:t>
            </a:r>
            <a:endParaRPr lang="ja-JP" alt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文字化けを見たら、まず HEX を見る。</a:t>
            </a:r>
            <a:endParaRPr lang="ja-JP" altLang="en-US" sz="2200" dirty="0"/>
          </a:p>
        </p:txBody>
      </p:sp>
      <p:sp>
        <p:nvSpPr>
          <p:cNvPr id="13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0:52 ── ここから、今日の中心に入る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BE3E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FFFFFF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STAGE C-1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0A を消す ── スライド8の答え合わせ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34440"/>
            <a:ext cx="11064240" cy="1020470"/>
          </a:xfrm>
          <a:prstGeom prst="roundRect">
            <a:avLst>
              <a:gd name="adj" fmla="val 7168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380744"/>
            <a:ext cx="10661904" cy="7278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CONNECTED
</a:t>
            </a:r>
            <a:pPr indent="0" marL="0">
              <a:lnSpc>
                <a:spcPct val="135000"/>
              </a:lnSpc>
              <a:buNone/>
            </a:pPr>
            <a:r>
              <a:rPr lang="ja-JP" altLang="en-US" sz="1800" dirty="0">
                <a:solidFill>
                  <a:srgbClr val="BE3E1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     &lt;-- ここで止まる。例外もログも出ない</a:t>
            </a:r>
            <a:endParaRPr lang="ja-JP" alt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2666390"/>
            <a:ext cx="5394960" cy="1737360"/>
          </a:xfrm>
          <a:prstGeom prst="roundRect">
            <a:avLst>
              <a:gd name="adj" fmla="val 3684"/>
            </a:avLst>
          </a:prstGeom>
          <a:solidFill>
            <a:srgbClr val="141820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284927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BE3E1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相手</a:t>
            </a:r>
            <a:endParaRPr lang="ja-JP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12359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サーバは待っている</a:t>
            </a:r>
            <a:endParaRPr lang="ja-JP" alt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3544214"/>
            <a:ext cx="4992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readLine() は、改行が来るまで返らない。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だから返事をしない</a:t>
            </a:r>
            <a:endParaRPr lang="ja-JP" altLang="en-US" sz="1550" dirty="0"/>
          </a:p>
        </p:txBody>
      </p:sp>
      <p:sp>
        <p:nvSpPr>
          <p:cNvPr id="11" name="card"/>
          <p:cNvSpPr/>
          <p:nvPr/>
        </p:nvSpPr>
        <p:spPr>
          <a:xfrm>
            <a:off x="6217920" y="2666390"/>
            <a:ext cx="5394960" cy="1737360"/>
          </a:xfrm>
          <a:prstGeom prst="roundRect">
            <a:avLst>
              <a:gd name="adj" fmla="val 3684"/>
            </a:avLst>
          </a:prstGeom>
          <a:solidFill>
            <a:srgbClr val="141820"/>
          </a:solidFill>
          <a:ln w="19050">
            <a:solidFill>
              <a:srgbClr val="BE3E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9088" y="284927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BE3E1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自分</a:t>
            </a:r>
            <a:endParaRPr lang="ja-JP" alt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419088" y="312359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こちらも待っている</a:t>
            </a:r>
            <a:endParaRPr lang="ja-JP" alt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6419088" y="3544214"/>
            <a:ext cx="4992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その返事を待っている。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両方が、相手を待つ</a:t>
            </a:r>
            <a:endParaRPr lang="ja-JP" alt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548640" y="4586630"/>
            <a:ext cx="11064240" cy="914400"/>
          </a:xfrm>
          <a:prstGeom prst="roundRect">
            <a:avLst>
              <a:gd name="adj" fmla="val 7000"/>
            </a:avLst>
          </a:prstGeom>
          <a:solidFill>
            <a:srgbClr val="E8A31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68680" y="4705502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固まったら、相手が何を待っているかを考える</a:t>
            </a:r>
            <a:endParaRPr lang="ja-JP" altLang="en-US" sz="2600" dirty="0"/>
          </a:p>
        </p:txBody>
      </p:sp>
      <p:sp>
        <p:nvSpPr>
          <p:cNvPr id="17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Ctrl + C で止める ── 第3回以降、自分のサーバが返事をしなくなったら、まずここを疑う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BE3E1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FFFFFF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STAGE C-2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症状は同じ。原因は正反対</a:t>
            </a:r>
            <a:endParaRPr lang="ja-JP" alt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32004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あなたのプログラム</a:t>
            </a:r>
            <a:endParaRPr lang="ja-JP" altLang="en-US" sz="1300" dirty="0"/>
          </a:p>
        </p:txBody>
      </p:sp>
      <p:sp>
        <p:nvSpPr>
          <p:cNvPr id="6" name="figline"/>
          <p:cNvSpPr/>
          <p:nvPr/>
        </p:nvSpPr>
        <p:spPr>
          <a:xfrm>
            <a:off x="1965960" y="1481328"/>
            <a:ext cx="0" cy="2450592"/>
          </a:xfrm>
          <a:prstGeom prst="line">
            <a:avLst/>
          </a:prstGeom>
          <a:noFill/>
          <a:ln w="15875">
            <a:solidFill>
              <a:srgbClr val="2E3643"/>
            </a:solidFill>
            <a:prstDash val="sysDash"/>
          </a:ln>
        </p:spPr>
      </p:sp>
      <p:sp>
        <p:nvSpPr>
          <p:cNvPr id="7" name="Text 4"/>
          <p:cNvSpPr txBox="1"/>
          <p:nvPr/>
        </p:nvSpPr>
        <p:spPr>
          <a:xfrm>
            <a:off x="443484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の送信バッファ</a:t>
            </a:r>
            <a:endParaRPr lang="ja-JP" altLang="en-US" sz="1300" dirty="0"/>
          </a:p>
        </p:txBody>
      </p:sp>
      <p:sp>
        <p:nvSpPr>
          <p:cNvPr id="8" name="figline"/>
          <p:cNvSpPr/>
          <p:nvPr/>
        </p:nvSpPr>
        <p:spPr>
          <a:xfrm>
            <a:off x="6080760" y="1481328"/>
            <a:ext cx="0" cy="2450592"/>
          </a:xfrm>
          <a:prstGeom prst="line">
            <a:avLst/>
          </a:prstGeom>
          <a:noFill/>
          <a:ln w="15875">
            <a:solidFill>
              <a:srgbClr val="2E3643"/>
            </a:solidFill>
            <a:prstDash val="sysDash"/>
          </a:ln>
        </p:spPr>
      </p:sp>
      <p:sp>
        <p:nvSpPr>
          <p:cNvPr id="9" name="Text 6"/>
          <p:cNvSpPr txBox="1"/>
          <p:nvPr/>
        </p:nvSpPr>
        <p:spPr>
          <a:xfrm>
            <a:off x="827532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7E889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</a:t>
            </a:r>
            <a:endParaRPr lang="ja-JP" altLang="en-US" sz="1300" dirty="0"/>
          </a:p>
        </p:txBody>
      </p:sp>
      <p:sp>
        <p:nvSpPr>
          <p:cNvPr id="10" name="figline"/>
          <p:cNvSpPr/>
          <p:nvPr/>
        </p:nvSpPr>
        <p:spPr>
          <a:xfrm>
            <a:off x="9921240" y="1481328"/>
            <a:ext cx="0" cy="2450592"/>
          </a:xfrm>
          <a:prstGeom prst="line">
            <a:avLst/>
          </a:prstGeom>
          <a:noFill/>
          <a:ln w="15875">
            <a:solidFill>
              <a:srgbClr val="2E3643"/>
            </a:solidFill>
            <a:prstDash val="sysDash"/>
          </a:ln>
        </p:spPr>
      </p:sp>
      <p:sp>
        <p:nvSpPr>
          <p:cNvPr id="11" name="figbox"/>
          <p:cNvSpPr/>
          <p:nvPr/>
        </p:nvSpPr>
        <p:spPr>
          <a:xfrm>
            <a:off x="731520" y="1783080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141820"/>
          </a:solidFill>
          <a:ln w="15875">
            <a:solidFill>
              <a:srgbClr val="5FA8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1783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35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write("HELLO\n")</a:t>
            </a:r>
            <a:endParaRPr lang="ja-JP" altLang="en-US" sz="1350" dirty="0"/>
          </a:p>
        </p:txBody>
      </p:sp>
      <p:sp>
        <p:nvSpPr>
          <p:cNvPr id="13" name="figarrow"/>
          <p:cNvSpPr/>
          <p:nvPr/>
        </p:nvSpPr>
        <p:spPr>
          <a:xfrm>
            <a:off x="3200400" y="2011680"/>
            <a:ext cx="1600200" cy="0"/>
          </a:xfrm>
          <a:prstGeom prst="line">
            <a:avLst/>
          </a:prstGeom>
          <a:noFill/>
          <a:ln w="17780">
            <a:solidFill>
              <a:srgbClr val="5FA8E6"/>
            </a:solidFill>
            <a:prstDash val="solid"/>
            <a:tailEnd type="triangle"/>
          </a:ln>
        </p:spPr>
      </p:sp>
      <p:sp>
        <p:nvSpPr>
          <p:cNvPr id="14" name="figbox"/>
          <p:cNvSpPr/>
          <p:nvPr/>
        </p:nvSpPr>
        <p:spPr>
          <a:xfrm>
            <a:off x="4800600" y="178308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71C24"/>
          </a:solidFill>
          <a:ln w="15875">
            <a:solidFill>
              <a:srgbClr val="2E364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9204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500" b="1" dirty="0">
                <a:solidFill>
                  <a:srgbClr val="5FA8E6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HELLO\n</a:t>
            </a:r>
            <a:endParaRPr lang="ja-JP" alt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4800600" y="23408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ここで溜まる</a:t>
            </a:r>
            <a:endParaRPr lang="ja-JP" altLang="en-US" sz="1350" dirty="0"/>
          </a:p>
        </p:txBody>
      </p:sp>
      <p:sp>
        <p:nvSpPr>
          <p:cNvPr id="17" name="figline"/>
          <p:cNvSpPr/>
          <p:nvPr/>
        </p:nvSpPr>
        <p:spPr>
          <a:xfrm>
            <a:off x="7360920" y="2011680"/>
            <a:ext cx="1280160" cy="0"/>
          </a:xfrm>
          <a:prstGeom prst="line">
            <a:avLst/>
          </a:prstGeom>
          <a:noFill/>
          <a:ln w="17780">
            <a:solidFill>
              <a:srgbClr val="BE3E1B"/>
            </a:solidFill>
            <a:prstDash val="dash"/>
          </a:ln>
        </p:spPr>
      </p:sp>
      <p:sp>
        <p:nvSpPr>
          <p:cNvPr id="18" name="figline"/>
          <p:cNvSpPr/>
          <p:nvPr/>
        </p:nvSpPr>
        <p:spPr>
          <a:xfrm>
            <a:off x="7872984" y="1883664"/>
            <a:ext cx="256032" cy="256032"/>
          </a:xfrm>
          <a:prstGeom prst="line">
            <a:avLst/>
          </a:prstGeom>
          <a:noFill/>
          <a:ln w="31750">
            <a:solidFill>
              <a:srgbClr val="BE3E1B"/>
            </a:solidFill>
            <a:prstDash val="solid"/>
          </a:ln>
        </p:spPr>
      </p:sp>
      <p:sp>
        <p:nvSpPr>
          <p:cNvPr id="19" name="figline"/>
          <p:cNvSpPr/>
          <p:nvPr/>
        </p:nvSpPr>
        <p:spPr>
          <a:xfrm flipH="1">
            <a:off x="7872984" y="1883664"/>
            <a:ext cx="256032" cy="256032"/>
          </a:xfrm>
          <a:prstGeom prst="line">
            <a:avLst/>
          </a:prstGeom>
          <a:noFill/>
          <a:ln w="31750">
            <a:solidFill>
              <a:srgbClr val="BE3E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03720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5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flush() を呼ぶまで出ていかない</a:t>
            </a:r>
            <a:endParaRPr lang="ja-JP" altLang="en-US" sz="1250" dirty="0"/>
          </a:p>
        </p:txBody>
      </p:sp>
      <p:sp>
        <p:nvSpPr>
          <p:cNvPr id="21" name="figbox"/>
          <p:cNvSpPr/>
          <p:nvPr/>
        </p:nvSpPr>
        <p:spPr>
          <a:xfrm>
            <a:off x="8641080" y="178308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41820"/>
          </a:solidFill>
          <a:ln w="15875">
            <a:solidFill>
              <a:srgbClr val="2E364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732520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250" b="1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readLine() で待っている</a:t>
            </a:r>
            <a:endParaRPr lang="ja-JP" altLang="en-US" sz="1250" dirty="0"/>
          </a:p>
        </p:txBody>
      </p:sp>
      <p:sp>
        <p:nvSpPr>
          <p:cNvPr id="23" name="figbox"/>
          <p:cNvSpPr/>
          <p:nvPr/>
        </p:nvSpPr>
        <p:spPr>
          <a:xfrm>
            <a:off x="731520" y="3200400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141820"/>
          </a:solidFill>
          <a:ln w="15875">
            <a:solidFill>
              <a:srgbClr val="2E364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32004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ja-JP" altLang="en-US" sz="1350" b="1" dirty="0">
                <a:solidFill>
                  <a:srgbClr val="AFB7C2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read() で待つ</a:t>
            </a:r>
            <a:endParaRPr lang="ja-JP" altLang="en-US" sz="1350" dirty="0"/>
          </a:p>
        </p:txBody>
      </p:sp>
      <p:sp>
        <p:nvSpPr>
          <p:cNvPr id="25" name="figarrow"/>
          <p:cNvSpPr/>
          <p:nvPr/>
        </p:nvSpPr>
        <p:spPr>
          <a:xfrm>
            <a:off x="3291840" y="3429000"/>
            <a:ext cx="6629400" cy="0"/>
          </a:xfrm>
          <a:prstGeom prst="line">
            <a:avLst/>
          </a:prstGeom>
          <a:noFill/>
          <a:ln w="17780">
            <a:solidFill>
              <a:srgbClr val="BE3E1B"/>
            </a:solidFill>
            <a:prstDash val="dash"/>
            <a:headEnd type="triangle"/>
          </a:ln>
        </p:spPr>
      </p:sp>
      <p:sp>
        <p:nvSpPr>
          <p:cNvPr id="26" name="Text 23"/>
          <p:cNvSpPr txBox="1"/>
          <p:nvPr/>
        </p:nvSpPr>
        <p:spPr>
          <a:xfrm>
            <a:off x="4434840" y="30906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何も返ってこない</a:t>
            </a:r>
            <a:endParaRPr lang="ja-JP" alt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4160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1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write() は「送った」ではなく「送るものを渡した」にすぎない。</a:t>
            </a:r>
            <a:endParaRPr lang="ja-JP" altLang="en-US" sz="2100" dirty="0"/>
          </a:p>
        </p:txBody>
      </p:sp>
      <p:sp>
        <p:nvSpPr>
          <p:cNvPr id="28" name="card"/>
          <p:cNvSpPr/>
          <p:nvPr/>
        </p:nvSpPr>
        <p:spPr>
          <a:xfrm>
            <a:off x="548640" y="4709160"/>
            <a:ext cx="5394960" cy="1280160"/>
          </a:xfrm>
          <a:prstGeom prst="roundRect">
            <a:avLst>
              <a:gd name="adj" fmla="val 5000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49808" y="489204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7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C-1 は、送りすぎていない</a:t>
            </a:r>
            <a:endParaRPr lang="ja-JP" alt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749808" y="5312664"/>
            <a:ext cx="4992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4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改行が無いので、1件が完成しない</a:t>
            </a:r>
            <a:endParaRPr lang="ja-JP" altLang="en-US" sz="1450" dirty="0"/>
          </a:p>
        </p:txBody>
      </p:sp>
      <p:sp>
        <p:nvSpPr>
          <p:cNvPr id="31" name="card"/>
          <p:cNvSpPr/>
          <p:nvPr/>
        </p:nvSpPr>
        <p:spPr>
          <a:xfrm>
            <a:off x="6217920" y="4709160"/>
            <a:ext cx="5394960" cy="1280160"/>
          </a:xfrm>
          <a:prstGeom prst="roundRect">
            <a:avLst>
              <a:gd name="adj" fmla="val 5000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19088" y="489204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7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C-2 は、そもそも出ていない</a:t>
            </a:r>
            <a:endParaRPr lang="ja-JP" alt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419088" y="5312664"/>
            <a:ext cx="49926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4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1バイトも線の上に出ていない</a:t>
            </a:r>
            <a:endParaRPr lang="ja-JP" alt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1668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FFFFFF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STAGE C-3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動くが、一致しない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34440"/>
            <a:ext cx="11064240" cy="1272642"/>
          </a:xfrm>
          <a:prstGeom prst="roundRect">
            <a:avLst>
              <a:gd name="adj" fmla="val 5748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380744"/>
            <a:ext cx="10661904" cy="9800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SEND_BYTES=7      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&lt;-- 48 45 4C 4C 4F 0D 0A
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RECV_BYTES=6      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&lt;-- 48 45 4C 4C 4F 0A</a:t>
            </a:r>
            <a:pPr indent="0" marL="0">
              <a:lnSpc>
                <a:spcPct val="135000"/>
              </a:lnSpc>
              <a:buNone/>
            </a:pPr>
            <a:r>
              <a:rPr lang="ja-JP" altLang="en-US" sz="1700" dirty="0">
                <a:solidFill>
                  <a:srgbClr val="BE3E1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 0D が消えている
</a:t>
            </a:r>
            <a:endParaRPr lang="ja-JP" altLang="en-US" sz="1700" dirty="0"/>
          </a:p>
        </p:txBody>
      </p:sp>
      <p:sp>
        <p:nvSpPr>
          <p:cNvPr id="7" name="card"/>
          <p:cNvSpPr/>
          <p:nvPr/>
        </p:nvSpPr>
        <p:spPr>
          <a:xfrm>
            <a:off x="548640" y="2964282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3147162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8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サーバの readLine() は</a:t>
            </a:r>
            <a:endParaRPr lang="ja-JP" alt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567786"/>
            <a:ext cx="49926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0D 0A を「1つの改行」として扱い、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返すときは 0A だけを付けて返した</a:t>
            </a:r>
            <a:endParaRPr lang="ja-JP" altLang="en-US" sz="1550" dirty="0"/>
          </a:p>
        </p:txBody>
      </p:sp>
      <p:sp>
        <p:nvSpPr>
          <p:cNvPr id="10" name="card"/>
          <p:cNvSpPr/>
          <p:nvPr/>
        </p:nvSpPr>
        <p:spPr>
          <a:xfrm>
            <a:off x="6217920" y="2964282"/>
            <a:ext cx="5394960" cy="1828800"/>
          </a:xfrm>
          <a:prstGeom prst="roundRect">
            <a:avLst>
              <a:gd name="adj" fmla="val 3500"/>
            </a:avLst>
          </a:prstGeom>
          <a:solidFill>
            <a:srgbClr val="141820"/>
          </a:solidFill>
          <a:ln w="25400">
            <a:solidFill>
              <a:srgbClr val="E8A31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3147162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8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newLine() は OS の流儀で書く</a:t>
            </a:r>
            <a:endParaRPr lang="ja-JP" alt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3567786"/>
            <a:ext cx="4992624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Windows は 0D 0A、Linux と macOS は 0A。</a:t>
            </a:r>
            <a:endParaRPr lang="ja-JP" altLang="en-US" sz="155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ネットワーク越しでは、流儀は通用しない</a:t>
            </a:r>
            <a:endParaRPr lang="ja-JP" altLang="en-US" sz="1550" dirty="0"/>
          </a:p>
        </p:txBody>
      </p:sp>
      <p:sp>
        <p:nvSpPr>
          <p:cNvPr id="13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 HTTP では、今度は 0D 0A が必須になる ── 「どちらでもいい」ではない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3つとも、例外は1つも出ていない</a:t>
            </a:r>
            <a:endParaRPr lang="ja-JP" altLang="en-US" sz="3000" dirty="0"/>
          </a:p>
        </p:txBody>
      </p:sp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017520"/>
                <a:gridCol w="4754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やったこと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症状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原因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改行を付けない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BE3E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固まる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相手が、行の終わりを待っている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flush() を消す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BE3E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固まる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1バイトも出ていっていない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0D 0A で送る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8A62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動くが一致しない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改行の取り決めが違う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3611880"/>
            <a:ext cx="11064240" cy="1554480"/>
          </a:xfrm>
          <a:prstGeom prst="roundRect">
            <a:avLst>
              <a:gd name="adj" fmla="val 4118"/>
            </a:avLst>
          </a:prstGeom>
          <a:solidFill>
            <a:srgbClr val="1C2027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868680" y="37947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「動かない」ではなく「黙る」。</a:t>
            </a:r>
            <a:endParaRPr lang="ja-JP" alt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868680" y="438912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今日、その黙り方を3種類見たことが、この回のいちばんの収穫。</a:t>
            </a:r>
            <a:endParaRPr lang="ja-JP" altLang="en-US" sz="1800" dirty="0"/>
          </a:p>
        </p:txBody>
      </p:sp>
      <p:sp>
        <p:nvSpPr>
          <p:cNvPr id="8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1:08 ── 時間が押していたら、ここで演習Dを飛ばして宿題の提示に入る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45720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4FC3B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50" b="1" dirty="0">
                <a:solidFill>
                  <a:srgbClr val="1C202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STAGE D</a:t>
            </a:r>
            <a:endParaRPr lang="ja-JP" altLang="en-US" sz="1350" dirty="0"/>
          </a:p>
        </p:txBody>
      </p:sp>
      <p:sp>
        <p:nvSpPr>
          <p:cNvPr id="4" name="Text 1"/>
          <p:cNvSpPr txBox="1"/>
          <p:nvPr/>
        </p:nvSpPr>
        <p:spPr>
          <a:xfrm>
            <a:off x="2468880" y="34747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2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ここまでの処理を、置き換える</a:t>
            </a:r>
            <a:endParaRPr lang="ja-JP" altLang="en-US" sz="3200" dirty="0"/>
          </a:p>
        </p:txBody>
      </p:sp>
      <p:sp>
        <p:nvSpPr>
          <p:cNvPr id="5" name="codepanel"/>
          <p:cNvSpPr/>
          <p:nvPr/>
        </p:nvSpPr>
        <p:spPr>
          <a:xfrm>
            <a:off x="548640" y="1234440"/>
            <a:ext cx="11064240" cy="2968752"/>
          </a:xfrm>
          <a:prstGeom prst="roundRect">
            <a:avLst>
              <a:gd name="adj" fmla="val 2464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1380744"/>
            <a:ext cx="10661904" cy="26761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BufferedWriter out = 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new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BufferedWriter(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new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OutputStreamWriter(socket.getOutputStream(), StandardCharsets.UTF_8));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BufferedReader in = 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new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BufferedReader(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   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new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 InputStreamReader(socket.getInputStream(), StandardCharsets.UTF_8));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out.write("こんにちは");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out.write("\n");      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newLine() は使わない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out.flush();          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BE3E1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// これは消えない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BE3E1B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
</a:t>
            </a:r>
            <a:pPr indent="0" marL="0">
              <a:lnSpc>
                <a:spcPct val="135000"/>
              </a:lnSpc>
              <a:buNone/>
            </a:pPr>
            <a:r>
              <a:rPr lang="ja-JP" altLang="en-US" sz="15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String line = in.readLine();</a:t>
            </a:r>
            <a:endParaRPr lang="ja-JP" altLang="en-US" sz="1500" dirty="0"/>
          </a:p>
        </p:txBody>
      </p:sp>
      <p:sp>
        <p:nvSpPr>
          <p:cNvPr id="7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演習Dは宿題の必須要素ではない ── 1:15 になったら、動いていなくても手を止める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消えたのは「手間」。残ったのは「責任」</a:t>
            </a:r>
            <a:endParaRPr lang="ja-JP" altLang="en-US" sz="3000" dirty="0"/>
          </a:p>
        </p:txBody>
      </p:sp>
      <p:graphicFrame>
        <p:nvGraphicFramePr>
          <p:cNvPr id="2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自分で書いていたこと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いま誰がやっているか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文字列 → バイト列の変換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OutputStreamWriter が、指定した文字コードで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改行までを1件として集める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BufferedReader.readLine() が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16進で確認する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5A627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誰もやらない。見えなくなった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flush()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BE3E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自分。消えていない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文字コードの指定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BE3E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自分。消えていない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100" b="1" dirty="0">
                <a:solidFill>
                  <a:srgbClr val="BE3E1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今日の3つの実験は、すべて下の2行に関する事故だった。</a:t>
            </a:r>
            <a:endParaRPr lang="ja-JP" altLang="en-US" sz="2100" dirty="0"/>
          </a:p>
        </p:txBody>
      </p:sp>
      <p:sp>
        <p:nvSpPr>
          <p:cNvPr id="6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readLine() が返ってこないときに何が起きているかは、演習C-1 で見たとおり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　EchoClient.java</a:t>
            </a:r>
            <a:endParaRPr lang="ja-JP" altLang="en-US" sz="3000" dirty="0"/>
          </a:p>
        </p:txBody>
      </p:sp>
      <p:sp>
        <p:nvSpPr>
          <p:cNvPr id="4" name="codepanel"/>
          <p:cNvSpPr/>
          <p:nvPr/>
        </p:nvSpPr>
        <p:spPr>
          <a:xfrm>
            <a:off x="548640" y="1143000"/>
            <a:ext cx="11064240" cy="3030931"/>
          </a:xfrm>
          <a:prstGeom prst="roundRect">
            <a:avLst>
              <a:gd name="adj" fmla="val 2414"/>
            </a:avLst>
          </a:prstGeom>
          <a:solidFill>
            <a:srgbClr val="141820"/>
          </a:solidFill>
          <a:ln w="12700">
            <a:solidFill>
              <a:srgbClr val="2E364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49808" y="1289304"/>
            <a:ext cx="10661904" cy="27383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java EchoClient &lt;ホスト名&gt; &lt;ポート番号&gt; &lt;ASCII|JP&gt; &lt;文字コード名&gt;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6EAF0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HOST=localhost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PORT=40001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CHARSET=UTF-8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SEND_CHARS=5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SEND_BYTES=16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SEND_HEX=E3 81 93 E3 82 93 E3 81 AB E3 81 A1 E3 81 AF 0A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RECV_BYTES=16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7E889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RECV_HEX=E3 81 93 E3 82 93 E3 81 AB E3 81 A1 E3 81 AF 0A
</a:t>
            </a:r>
            <a:pPr indent="0" marL="0">
              <a:lnSpc>
                <a:spcPct val="135000"/>
              </a:lnSpc>
              <a:buNone/>
            </a:pPr>
            <a:r>
              <a:rPr lang="ja-JP" altLang="en-US" sz="1400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MATCH=true</a:t>
            </a:r>
            <a:endParaRPr lang="ja-JP" altLang="en-US" sz="1400" dirty="0"/>
          </a:p>
        </p:txBody>
      </p:sp>
      <p:sp>
        <p:nvSpPr>
          <p:cNvPr id="6" name="card"/>
          <p:cNvSpPr/>
          <p:nvPr/>
        </p:nvSpPr>
        <p:spPr>
          <a:xfrm>
            <a:off x="548640" y="4448251"/>
            <a:ext cx="3535680" cy="1325880"/>
          </a:xfrm>
          <a:prstGeom prst="roundRect">
            <a:avLst>
              <a:gd name="adj" fmla="val 4828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4631131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9行</a:t>
            </a:r>
            <a:endParaRPr lang="ja-JP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4905451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65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接続できた場合</a:t>
            </a:r>
            <a:endParaRPr lang="ja-JP" alt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5326075"/>
            <a:ext cx="3133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順番も固定。余計な行を出さない</a:t>
            </a:r>
            <a:endParaRPr lang="ja-JP" altLang="en-US" sz="1350" dirty="0"/>
          </a:p>
        </p:txBody>
      </p:sp>
      <p:sp>
        <p:nvSpPr>
          <p:cNvPr id="10" name="card"/>
          <p:cNvSpPr/>
          <p:nvPr/>
        </p:nvSpPr>
        <p:spPr>
          <a:xfrm>
            <a:off x="4312920" y="4448251"/>
            <a:ext cx="3535680" cy="1325880"/>
          </a:xfrm>
          <a:prstGeom prst="roundRect">
            <a:avLst>
              <a:gd name="adj" fmla="val 4828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14088" y="4631131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4行</a:t>
            </a:r>
            <a:endParaRPr lang="ja-JP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4514088" y="4905451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65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接続できなかった場合</a:t>
            </a:r>
            <a:endParaRPr lang="ja-JP" alt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4514088" y="5326075"/>
            <a:ext cx="3133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ERROR= は3種類だけ</a:t>
            </a:r>
            <a:endParaRPr lang="ja-JP" altLang="en-US" sz="1350" dirty="0"/>
          </a:p>
        </p:txBody>
      </p:sp>
      <p:sp>
        <p:nvSpPr>
          <p:cNvPr id="14" name="card"/>
          <p:cNvSpPr/>
          <p:nvPr/>
        </p:nvSpPr>
        <p:spPr>
          <a:xfrm>
            <a:off x="8077200" y="4448251"/>
            <a:ext cx="3535680" cy="1325880"/>
          </a:xfrm>
          <a:prstGeom prst="roundRect">
            <a:avLst>
              <a:gd name="adj" fmla="val 4828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8368" y="4631131"/>
            <a:ext cx="3133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ASCII のみ</a:t>
            </a:r>
            <a:endParaRPr lang="ja-JP" alt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8278368" y="4905451"/>
            <a:ext cx="3133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65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出力に日本語を出さない</a:t>
            </a:r>
            <a:endParaRPr lang="ja-JP" altLang="en-US" sz="1650" dirty="0"/>
          </a:p>
        </p:txBody>
      </p:sp>
      <p:sp>
        <p:nvSpPr>
          <p:cNvPr id="17" name="Text 14"/>
          <p:cNvSpPr txBox="1"/>
          <p:nvPr/>
        </p:nvSpPr>
        <p:spPr>
          <a:xfrm>
            <a:off x="8278368" y="5326075"/>
            <a:ext cx="31333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採点にターミナルの都合を入れない</a:t>
            </a:r>
            <a:endParaRPr lang="ja-JP" altLang="en-US" sz="1350" dirty="0"/>
          </a:p>
        </p:txBody>
      </p:sp>
      <p:sp>
        <p:nvSpPr>
          <p:cNvPr id="18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提出は EchoClient.java と prompt_log.md の2ファイル ── 締切は次回授業の開始まで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548640" y="384048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採点される4ケース</a:t>
            </a:r>
            <a:endParaRPr lang="ja-JP" altLang="en-US" sz="30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206240"/>
                <a:gridCol w="6217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引数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期待される値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8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localhost 40001 ASCII UTF-8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SEND_CHARS=5 ／ SEND_BYTES=6 ／ MATCH=true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localhost 40001 JP UTF-8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SEND_CHARS=5 ／ SEND_BYTES=16 ／ MATCH=true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localhost 40001 JP Shift_JIS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BE3E1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SEND_BYTES=11 ／ MATCH=false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localhost 40099 ASCII UTF-8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ja-JP" altLang="en-US" sz="1450" b="1" dirty="0">
                          <a:solidFill>
                            <a:srgbClr val="1C2027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4行で ERROR=REFUSED</a:t>
                      </a:r>
                      <a:endParaRPr lang="ja-JP" altLang="en-US" sz="14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48640" y="3977640"/>
            <a:ext cx="11064240" cy="1600200"/>
          </a:xfrm>
          <a:prstGeom prst="roundRect">
            <a:avLst>
              <a:gd name="adj" fmla="val 4000"/>
            </a:avLst>
          </a:prstGeom>
          <a:solidFill>
            <a:srgbClr val="FDF0D4"/>
          </a:solidFill>
          <a:ln w="25400">
            <a:solidFill>
              <a:srgbClr val="E8A317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68680" y="41148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500" b="1" dirty="0">
                <a:solidFill>
                  <a:srgbClr val="1C202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 SEND_CHARS=5 なのに、バイト数は 6 と 16</a:t>
            </a:r>
            <a:endParaRPr lang="ja-JP" altLang="en-US" sz="2500" dirty="0"/>
          </a:p>
        </p:txBody>
      </p:sp>
      <p:sp>
        <p:nvSpPr>
          <p:cNvPr id="7" name="Text 3"/>
          <p:cNvSpPr txBox="1"/>
          <p:nvPr/>
        </p:nvSpPr>
        <p:spPr>
          <a:xfrm>
            <a:off x="868680" y="4709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dirty="0">
                <a:solidFill>
                  <a:srgbClr val="8A6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ケース3の MATCH=false は、バグではなく正解。理由を prompt_log.md の末尾に1〜2行で書く。</a:t>
            </a:r>
            <a:endParaRPr lang="ja-JP" altLang="en-US" sz="1700" dirty="0"/>
          </a:p>
        </p:txBody>
      </p:sp>
      <p:sp>
        <p:nvSpPr>
          <p:cNvPr id="8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5A62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1:23 から教室内で着手 ── 1ケースでも PASS を出してから帰る</a:t>
            </a:r>
            <a:endParaRPr lang="ja-JP" alt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C20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100584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spc="200" kern="0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今日の軸</a:t>
            </a:r>
            <a:endParaRPr lang="ja-JP" alt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0876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4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線の上を流れているのはバイトだけ。</a:t>
            </a:r>
            <a:endParaRPr lang="ja-JP" altLang="en-US" sz="40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40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文字は、両端でそう解釈しているだけ。</a:t>
            </a:r>
            <a:endParaRPr lang="ja-JP" alt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48640" y="3337560"/>
            <a:ext cx="1280160" cy="54864"/>
          </a:xfrm>
          <a:prstGeom prst="rect">
            <a:avLst/>
          </a:prstGeom>
          <a:solidFill>
            <a:srgbClr val="E8A317"/>
          </a:solidFill>
          <a:ln/>
        </p:spPr>
      </p:sp>
      <p:sp>
        <p:nvSpPr>
          <p:cNvPr id="6" name="card"/>
          <p:cNvSpPr/>
          <p:nvPr/>
        </p:nvSpPr>
        <p:spPr>
          <a:xfrm>
            <a:off x="548640" y="3749040"/>
            <a:ext cx="5394960" cy="1737360"/>
          </a:xfrm>
          <a:prstGeom prst="roundRect">
            <a:avLst>
              <a:gd name="adj" fmla="val 3684"/>
            </a:avLst>
          </a:prstGeom>
          <a:solidFill>
            <a:srgbClr val="141820"/>
          </a:solidFill>
          <a:ln w="25400">
            <a:solidFill>
              <a:srgbClr val="E8A31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" y="393192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E8A317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合言葉</a:t>
            </a:r>
            <a:endParaRPr lang="ja-JP" alt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4206240"/>
            <a:ext cx="49926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固まったら、</a:t>
            </a:r>
            <a:endParaRPr lang="ja-JP" alt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8A3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相手が何を待っているかを考える</a:t>
            </a:r>
            <a:endParaRPr lang="ja-JP" alt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5148072"/>
            <a:ext cx="499262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今日いちばん持って帰ってほしい1文</a:t>
            </a:r>
            <a:endParaRPr lang="ja-JP" altLang="en-US" sz="1550" dirty="0"/>
          </a:p>
        </p:txBody>
      </p:sp>
      <p:sp>
        <p:nvSpPr>
          <p:cNvPr id="10" name="card"/>
          <p:cNvSpPr/>
          <p:nvPr/>
        </p:nvSpPr>
        <p:spPr>
          <a:xfrm>
            <a:off x="6217920" y="3749040"/>
            <a:ext cx="5394960" cy="1737360"/>
          </a:xfrm>
          <a:prstGeom prst="roundRect">
            <a:avLst>
              <a:gd name="adj" fmla="val 3684"/>
            </a:avLst>
          </a:prstGeom>
          <a:solidFill>
            <a:srgbClr val="141820"/>
          </a:solidFill>
          <a:ln w="19050">
            <a:solidFill>
              <a:srgbClr val="2E364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19088" y="3931920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b="1" dirty="0">
                <a:solidFill>
                  <a:srgbClr val="4FC3B4"/>
                </a:solidFill>
                <a:latin typeface="MS Gothic" pitchFamily="34" charset="0"/>
                <a:ea typeface="MS Gothic" pitchFamily="34" charset="-122"/>
                <a:cs typeface="MS Gothic" pitchFamily="34" charset="-120"/>
              </a:rPr>
              <a:t>第3回</a:t>
            </a:r>
            <a:endParaRPr lang="ja-JP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419088" y="4206240"/>
            <a:ext cx="49926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900" b="1" dirty="0">
                <a:solidFill>
                  <a:srgbClr val="E6EAF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TCPサーバと ServerSocket</a:t>
            </a:r>
            <a:endParaRPr lang="ja-JP" alt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419088" y="4626864"/>
            <a:ext cx="499262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今日ずっと「待っている」と言っていた相手を、</a:t>
            </a:r>
            <a:endParaRPr lang="ja-JP" alt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ja-JP" altLang="en-US" sz="150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自分で書く回。EchoClient.java は消さずに取っておく</a:t>
            </a:r>
            <a:endParaRPr lang="ja-JP" altLang="en-US" sz="1500" dirty="0"/>
          </a:p>
        </p:txBody>
      </p:sp>
      <p:sp>
        <p:nvSpPr>
          <p:cNvPr id="14" name="footer"/>
          <p:cNvSpPr txBox="1"/>
          <p:nvPr/>
        </p:nvSpPr>
        <p:spPr>
          <a:xfrm>
            <a:off x="548640" y="619963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AFB7C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同志社大学　理工学部　情報システムデザイン学科　ネットワーク応用</a:t>
            </a:r>
            <a:endParaRPr lang="ja-JP" alt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ストリームと文字コード</dc:title>
  <dc:subject>PptxGenJS Presentation</dc:subject>
  <dc:creator>Takahiro Koita</dc:creator>
  <cp:lastModifiedBy>Takahiro Koita</cp:lastModifiedBy>
  <cp:revision>1</cp:revision>
  <dcterms:created xsi:type="dcterms:W3CDTF">2026-10-19T02:11:25Z</dcterms:created>
  <dcterms:modified xsi:type="dcterms:W3CDTF">2026-10-19T02:11:25Z</dcterms:modified>
</cp:coreProperties>
</file>