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第1回・第2回で、ずっと EchoServer.jar に接続してきました。今日はその中身を自分で書きます。最後に言えるようになってほしいのは、「つながったことと、相手をしてもらえることは別」ということです。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第1回と第2回は、つなぎに行く側でした。待っている相手はずっと EchoServer.jar でした。今日はその相手を書きます。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コードの上での違いは1つだけです。サーバだけがクラスを2つ使います。ここが今日いちばん混乱するところなので、次の図で押さえます。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受付は開けたままです。accept が返すたびに、線が1本ずつ増えます。Copilot は ServerSocket から getInputStream を呼ぶコードをときどき出しますが、そんなメソッドはありません。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左の枠が今日書くサーバプログラム、右の枠が第1回・第2回で書いたクライアントプログラムです。サーバは1から4の順に進み、4のあと2に戻ります。accept で止まって見えるのが正常だ、ということを先に言っておきます。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画面に何も出ず、キーボードも効かないので落ちたと思う学生が毎年います。それが正常な待機状態です。止めるときは Ctrl+C。ここで一度言っておきます。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同じ番号は1つのプログラムしか確保できません。だからポート番号は宛先として働きます。演習Bでわざと BindException を出します。netstat では 0.0.0.0 か [::] と出ます。どちらも、どのアドレス宛でも受けるという意味です。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今日から出力を2つに分けます。採点スクリプトは標準出力を読みます。デバッグ用の println が1行でも混ざると落ちます。迷ったら System.err。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サーバのコードで Copilot がよく出す4つです。特にスレッドは、頼んでいないのに出てきます。今日は使いません。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ここで答えは言いません。学生にこのページへ予想を1文で書かせてください。演習Cの直前に読み返させ、C-2 のあとで自分で採点させます。主語が「サーバ」で「返事が来ない」と書けていれば合格です。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配布の OneShot.java と Talk.java をコンパイルして動かします。サーバ側は LISTENING と出たまま止まります。それが正常です。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サーバは1人相手にしたら、受付ごと閉じて終了します。もう一度 Talk を実行すると REFUSED、netstat からも消えます。第1回で EchoServer を止めたときと同じことを、自分のコードで起こしました。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OneShot をコピーして LoopServer を作ります。ポイントは3つ。特に3つ目、catch を while(true) の内側に置くことが、今日いちばん実務に近いところです。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Talk を3回つないでは止めます。ACCEPTED の最後の数字が毎回変わるのを確かめさせてください。OS が接続する側に自動で割り当てた番号です。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ここで全員の手を止めて、一緒にやります。ターミナル(3)で2つ目を起動して BindException を出します。今日から Address already in use を見たら、前に起動したサーバがまだ生きていると読む、と言ってください。止め方の3行もここで見せます。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ここで全員の手を止めます。先に、スライド10に書いた予想を読み返させてから動かしてください。順番を守らせること。入力は半角英数字。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2人目でも CONNECTED は出ます。TCPの接続は OS が先に済ませているからです。でもプログラムは2回目の accept をまだ呼んでいないので、その接続があることを知りません。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ここで予想の答え合わせをさせます。2人目の画面に返事が来ない、と書けていれば合格。REFUSED やエラーと書いた人は、接続とプログラムの処理を混同しています。そこが第4回の入口です。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余裕があれば。課題には含みません。ファイアウォールの許可画面が出たら、管理者権限が要るのでキャンセルさせてください。A〜Cと課題には影響しません。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課題は LineServer.java、全2問です。問1で何を返すか、問2で何をされても死なないことを仕上げます。LEN は第2回の回収です。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問1はケース1から5です。LEN は第2回の回収で、文字数ではなくバイト数。ECHO は trim しない。コマンド名は大文字だけを認めます。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問2はケース6から9で、ここが課題の中心です。QUIT で閉じるのはその接続だけ。採点スクリプトはわざと乱暴に切断します。catch が while(true) の外側にあると、強制切断の1回でサーバが止まります。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模範解答の LEN を length に変えた版で実演します。ケース4だけが FAIL になり、expected と got が出ます。赤い FAIL は故障ではないと言ってください。自分のサーバを止めてから実行すること。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教室を出る前に1ケースでも PASS を出させてください。スクリプトがそもそも動かない学生は、ここで拾います。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最後に学生に声に出して読ませてください。これが今日の軸文です。次回は、今日待たされた2人目を待たせないサーバを作ります。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9144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spc="200" kern="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ネットワーク応用 ／ 第 3 回</a:t>
            </a:r>
            <a:endParaRPr lang="ja-JP" alt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TCPサーバと ServerSocket</a:t>
            </a:r>
            <a:endParaRPr lang="ja-JP" alt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548640" y="2560320"/>
            <a:ext cx="1280160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ja-JP" altLang="en-US" sz="22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受付は1つ、線は1人に1本。</a:t>
            </a:r>
            <a:endParaRPr lang="ja-JP" alt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ja-JP" altLang="en-US" sz="22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つながったことと、相手をしてもらえることは別。</a:t>
            </a:r>
            <a:endParaRPr lang="ja-JP" alt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48640" y="434340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4498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90分</a:t>
            </a:r>
            <a:endParaRPr lang="ja-JP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80974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 ／ 演習A〜D ／ 課題提示</a:t>
            </a:r>
            <a:endParaRPr lang="ja-JP" alt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297680" y="434340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4498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480974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JDK 17以降 ／ 管理者権限なし</a:t>
            </a:r>
            <a:endParaRPr lang="ja-JP" alt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046720" y="434340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47888" y="4498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使うもの</a:t>
            </a:r>
            <a:endParaRPr lang="ja-JP" alt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247888" y="480974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OneShot.java ／ Talk.java ／ 40001</a:t>
            </a:r>
            <a:endParaRPr lang="ja-JP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A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8580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4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第1回・第2回は「つなぎに行く側」。</a:t>
            </a:r>
            <a:endParaRPr lang="ja-JP" altLang="en-US" sz="420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4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今日は「待っている側」を書く。</a:t>
            </a:r>
            <a:endParaRPr lang="ja-JP" altLang="en-US" sz="4200" dirty="0"/>
          </a:p>
        </p:txBody>
      </p:sp>
      <p:sp>
        <p:nvSpPr>
          <p:cNvPr id="4" name="card"/>
          <p:cNvSpPr/>
          <p:nvPr/>
        </p:nvSpPr>
        <p:spPr>
          <a:xfrm>
            <a:off x="548640" y="2651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1C2027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283464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これまで</a:t>
            </a:r>
            <a:endParaRPr lang="ja-JP" alt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310896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Socket で、つなぎに行く</a:t>
            </a:r>
            <a:endParaRPr lang="ja-JP" alt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529584"/>
            <a:ext cx="4992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第1回：つながる／つながらない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第2回：線の上を流れるバイト</a:t>
            </a:r>
            <a:endParaRPr lang="ja-JP" alt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17920" y="2651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1C2027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9088" y="283464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</a:t>
            </a:r>
            <a:endParaRPr lang="ja-JP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19088" y="310896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ServerSocket で、待つ</a:t>
            </a:r>
            <a:endParaRPr lang="ja-JP" alt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19088" y="3529584"/>
            <a:ext cx="4992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EchoServer.jar の中身を自分で書く。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2人目が来たら、どうなるか</a:t>
            </a:r>
            <a:endParaRPr lang="ja-JP" alt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dirty="0">
                <a:solidFill>
                  <a:srgbClr val="5A3D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2回分の演習で接続してきた相手は、40行に満たないプログラムだった。</a:t>
            </a:r>
            <a:endParaRPr lang="ja-JP" alt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サーバだけが、クラスを2つ使う</a:t>
            </a:r>
            <a:endParaRPr lang="ja-JP" alt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3949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やること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使うクラス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クライアント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こちらから相手を指定して、つなぎに行く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Socket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サーバ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番号を確保して、誰かが来るのを待つ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8A6200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ServerSocket ＋ Socket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329184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DF0D4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49808" y="347472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ServerSocket ＝ 受付</a:t>
            </a:r>
            <a:endParaRPr lang="ja-JP" alt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749808" y="3895344"/>
            <a:ext cx="49926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番号を確保して待つだけ。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ここでは1バイトも読み書きしない</a:t>
            </a:r>
            <a:endParaRPr lang="ja-JP" alt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17920" y="329184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E6F1FB"/>
          </a:solidFill>
          <a:ln w="19050">
            <a:solidFill>
              <a:srgbClr val="1668B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19088" y="347472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166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Socket ＝ 通話中の1本の線</a:t>
            </a:r>
            <a:endParaRPr lang="ja-JP" alt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419088" y="3895344"/>
            <a:ext cx="49926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accept() が、来た人ごとに1本作って返す。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読み書きはこちらでする</a:t>
            </a:r>
            <a:endParaRPr lang="ja-JP" altLang="en-US" sz="1600" dirty="0"/>
          </a:p>
        </p:txBody>
      </p:sp>
      <p:sp>
        <p:nvSpPr>
          <p:cNvPr id="11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PART 1-1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7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受付は1つ。accept() が返すたびに、線が1本増える</a:t>
            </a:r>
            <a:endParaRPr lang="ja-JP" altLang="en-US" sz="2700" dirty="0"/>
          </a:p>
        </p:txBody>
      </p:sp>
      <p:sp>
        <p:nvSpPr>
          <p:cNvPr id="4" name="figbox"/>
          <p:cNvSpPr/>
          <p:nvPr/>
        </p:nvSpPr>
        <p:spPr>
          <a:xfrm>
            <a:off x="548640" y="128016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2A3240"/>
          </a:solidFill>
          <a:ln w="28575">
            <a:solidFill>
              <a:srgbClr val="E8A31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3533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5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あなたのサーバプログラム</a:t>
            </a:r>
            <a:endParaRPr lang="ja-JP" altLang="en-US" sz="1500" dirty="0"/>
          </a:p>
        </p:txBody>
      </p:sp>
      <p:sp>
        <p:nvSpPr>
          <p:cNvPr id="6" name="figbox"/>
          <p:cNvSpPr/>
          <p:nvPr/>
        </p:nvSpPr>
        <p:spPr>
          <a:xfrm>
            <a:off x="868680" y="178308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141820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70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ServerSocket (port 40001)</a:t>
            </a:r>
            <a:endParaRPr lang="ja-JP" alt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258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受付。ここでは通信しない</a:t>
            </a:r>
            <a:endParaRPr lang="ja-JP" altLang="en-US" sz="1300" dirty="0"/>
          </a:p>
        </p:txBody>
      </p:sp>
      <p:sp>
        <p:nvSpPr>
          <p:cNvPr id="9" name="figarrow"/>
          <p:cNvSpPr/>
          <p:nvPr/>
        </p:nvSpPr>
        <p:spPr>
          <a:xfrm>
            <a:off x="2971800" y="2670048"/>
            <a:ext cx="0" cy="530352"/>
          </a:xfrm>
          <a:prstGeom prst="line">
            <a:avLst/>
          </a:prstGeom>
          <a:noFill/>
          <a:ln w="38100">
            <a:solidFill>
              <a:srgbClr val="E8A317"/>
            </a:solidFill>
            <a:prstDash val="solid"/>
            <a:tailEnd type="triangle" w="lg" len="lg"/>
          </a:ln>
        </p:spPr>
      </p:sp>
      <p:sp>
        <p:nvSpPr>
          <p:cNvPr id="10" name="Text 7"/>
          <p:cNvSpPr txBox="1"/>
          <p:nvPr/>
        </p:nvSpPr>
        <p:spPr>
          <a:xfrm>
            <a:off x="315468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accept() が返すたびに</a:t>
            </a:r>
            <a:endParaRPr lang="ja-JP" altLang="en-US" sz="1300" dirty="0"/>
          </a:p>
        </p:txBody>
      </p:sp>
      <p:sp>
        <p:nvSpPr>
          <p:cNvPr id="11" name="figbox"/>
          <p:cNvSpPr/>
          <p:nvPr/>
        </p:nvSpPr>
        <p:spPr>
          <a:xfrm>
            <a:off x="868680" y="32918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141820"/>
          </a:solidFill>
          <a:ln w="22225">
            <a:solidFill>
              <a:srgbClr val="5FA8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" y="3383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Socket（1人目）</a:t>
            </a:r>
            <a:endParaRPr lang="ja-JP" alt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読む・書くのはこちら</a:t>
            </a:r>
            <a:endParaRPr lang="ja-JP" altLang="en-US" sz="1300" dirty="0"/>
          </a:p>
        </p:txBody>
      </p:sp>
      <p:sp>
        <p:nvSpPr>
          <p:cNvPr id="14" name="figbox"/>
          <p:cNvSpPr/>
          <p:nvPr/>
        </p:nvSpPr>
        <p:spPr>
          <a:xfrm>
            <a:off x="868680" y="434340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141820"/>
          </a:solidFill>
          <a:ln w="22225">
            <a:solidFill>
              <a:srgbClr val="5FA8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51560" y="4434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Socket（2人目）</a:t>
            </a:r>
            <a:endParaRPr lang="ja-JP" alt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4800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読む・書くのはこちら</a:t>
            </a:r>
            <a:endParaRPr lang="ja-JP" alt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5349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通信は Socket の getInputStream() / getOutputStream()</a:t>
            </a:r>
            <a:endParaRPr lang="ja-JP" altLang="en-US" sz="1300" dirty="0"/>
          </a:p>
        </p:txBody>
      </p:sp>
      <p:sp>
        <p:nvSpPr>
          <p:cNvPr id="18" name="figbox"/>
          <p:cNvSpPr/>
          <p:nvPr/>
        </p:nvSpPr>
        <p:spPr>
          <a:xfrm>
            <a:off x="8778240" y="178308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141820"/>
          </a:solidFill>
          <a:ln w="22225">
            <a:solidFill>
              <a:srgbClr val="AFB7C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86968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新しく来た人</a:t>
            </a:r>
            <a:endParaRPr lang="ja-JP" altLang="en-US" sz="1500" dirty="0"/>
          </a:p>
        </p:txBody>
      </p:sp>
      <p:sp>
        <p:nvSpPr>
          <p:cNvPr id="20" name="figarrow"/>
          <p:cNvSpPr/>
          <p:nvPr/>
        </p:nvSpPr>
        <p:spPr>
          <a:xfrm>
            <a:off x="5120640" y="2148840"/>
            <a:ext cx="3611880" cy="0"/>
          </a:xfrm>
          <a:prstGeom prst="line">
            <a:avLst/>
          </a:prstGeom>
          <a:noFill/>
          <a:ln w="38100">
            <a:solidFill>
              <a:srgbClr val="AFB7C2"/>
            </a:solidFill>
            <a:prstDash val="dash"/>
            <a:headEnd type="triangle" w="lg" len="lg"/>
          </a:ln>
        </p:spPr>
      </p:sp>
      <p:sp>
        <p:nvSpPr>
          <p:cNvPr id="21" name="Text 18"/>
          <p:cNvSpPr txBox="1"/>
          <p:nvPr/>
        </p:nvSpPr>
        <p:spPr>
          <a:xfrm>
            <a:off x="55778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接続の申し込みは受付へ</a:t>
            </a:r>
            <a:endParaRPr lang="ja-JP" altLang="en-US" sz="1250" dirty="0"/>
          </a:p>
        </p:txBody>
      </p:sp>
      <p:sp>
        <p:nvSpPr>
          <p:cNvPr id="22" name="figbox"/>
          <p:cNvSpPr/>
          <p:nvPr/>
        </p:nvSpPr>
        <p:spPr>
          <a:xfrm>
            <a:off x="8778240" y="333756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141820"/>
          </a:solidFill>
          <a:ln w="15875">
            <a:solidFill>
              <a:srgbClr val="5FA8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8696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500" b="1" dirty="0">
                <a:solidFill>
                  <a:srgbClr val="5FA8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 1</a:t>
            </a:r>
            <a:endParaRPr lang="ja-JP" alt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20640" y="3703320"/>
            <a:ext cx="3611880" cy="0"/>
          </a:xfrm>
          <a:prstGeom prst="line">
            <a:avLst/>
          </a:prstGeom>
          <a:noFill/>
          <a:ln w="38100">
            <a:solidFill>
              <a:srgbClr val="5FA8E6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25" name="figbox"/>
          <p:cNvSpPr/>
          <p:nvPr/>
        </p:nvSpPr>
        <p:spPr>
          <a:xfrm>
            <a:off x="8778240" y="438912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141820"/>
          </a:solidFill>
          <a:ln w="15875">
            <a:solidFill>
              <a:srgbClr val="5FA8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869680" y="4389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500" b="1" dirty="0">
                <a:solidFill>
                  <a:srgbClr val="5FA8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 2</a:t>
            </a:r>
            <a:endParaRPr lang="ja-JP" alt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120640" y="4754880"/>
            <a:ext cx="3611880" cy="0"/>
          </a:xfrm>
          <a:prstGeom prst="line">
            <a:avLst/>
          </a:prstGeom>
          <a:noFill/>
          <a:ln w="38100">
            <a:solidFill>
              <a:srgbClr val="5FA8E6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28" name="figline"/>
          <p:cNvSpPr/>
          <p:nvPr/>
        </p:nvSpPr>
        <p:spPr>
          <a:xfrm>
            <a:off x="7699248" y="5458968"/>
            <a:ext cx="237744" cy="237744"/>
          </a:xfrm>
          <a:prstGeom prst="line">
            <a:avLst/>
          </a:prstGeom>
          <a:noFill/>
          <a:ln w="31750">
            <a:solidFill>
              <a:srgbClr val="BE3E1B"/>
            </a:solidFill>
            <a:prstDash val="solid"/>
          </a:ln>
        </p:spPr>
      </p:sp>
      <p:sp>
        <p:nvSpPr>
          <p:cNvPr id="29" name="figline"/>
          <p:cNvSpPr/>
          <p:nvPr/>
        </p:nvSpPr>
        <p:spPr>
          <a:xfrm flipH="1">
            <a:off x="7699248" y="5458968"/>
            <a:ext cx="237744" cy="237744"/>
          </a:xfrm>
          <a:prstGeom prst="line">
            <a:avLst/>
          </a:prstGeom>
          <a:noFill/>
          <a:ln w="31750">
            <a:solidFill>
              <a:srgbClr val="BE3E1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092440" y="5349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b="1" dirty="0">
                <a:solidFill>
                  <a:srgbClr val="F2A0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ServerSocket には</a:t>
            </a:r>
            <a:endParaRPr lang="ja-JP" altLang="en-US" sz="1300" dirty="0"/>
          </a:p>
          <a:p>
            <a:pPr algn="l" indent="0" marL="0">
              <a:buNone/>
            </a:pPr>
            <a:r>
              <a:rPr lang="ja-JP" altLang="en-US" sz="1300" b="1" dirty="0">
                <a:solidFill>
                  <a:srgbClr val="F2A0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getInputStream() が無い</a:t>
            </a:r>
            <a:endParaRPr lang="ja-JP" altLang="en-US" sz="1300" dirty="0"/>
          </a:p>
        </p:txBody>
      </p:sp>
      <p:sp>
        <p:nvSpPr>
          <p:cNvPr id="31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図1（PART 1-1）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待つ側の4つの動詞</a:t>
            </a:r>
            <a:endParaRPr lang="ja-JP" altLang="en-US" sz="3000" dirty="0"/>
          </a:p>
        </p:txBody>
      </p:sp>
      <p:sp>
        <p:nvSpPr>
          <p:cNvPr id="4" name="figbox"/>
          <p:cNvSpPr/>
          <p:nvPr/>
        </p:nvSpPr>
        <p:spPr>
          <a:xfrm>
            <a:off x="411480" y="1188720"/>
            <a:ext cx="5623560" cy="4754880"/>
          </a:xfrm>
          <a:prstGeom prst="roundRect">
            <a:avLst>
              <a:gd name="adj" fmla="val 1538"/>
            </a:avLst>
          </a:prstGeom>
          <a:solidFill>
            <a:srgbClr val="FFFBF2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6187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500" b="1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サーバプログラム（今日書く）</a:t>
            </a:r>
            <a:endParaRPr lang="ja-JP" altLang="en-US" sz="1500" dirty="0"/>
          </a:p>
        </p:txBody>
      </p:sp>
      <p:sp>
        <p:nvSpPr>
          <p:cNvPr id="6" name="figbox"/>
          <p:cNvSpPr/>
          <p:nvPr/>
        </p:nvSpPr>
        <p:spPr>
          <a:xfrm>
            <a:off x="7315200" y="1188720"/>
            <a:ext cx="4526280" cy="47548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25400">
            <a:solidFill>
              <a:srgbClr val="5A627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0" y="12618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クライアントプログラム（第1回・第2回）</a:t>
            </a:r>
            <a:endParaRPr lang="ja-JP" altLang="en-US" sz="1500" dirty="0"/>
          </a:p>
        </p:txBody>
      </p:sp>
      <p:sp>
        <p:nvSpPr>
          <p:cNvPr id="8" name="figbox"/>
          <p:cNvSpPr/>
          <p:nvPr/>
        </p:nvSpPr>
        <p:spPr>
          <a:xfrm>
            <a:off x="1051560" y="164592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FDF0D4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16152" y="1764792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ja-JP" alt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7282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70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 ServerSocket(40001)</a:t>
            </a:r>
            <a:endParaRPr lang="ja-JP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216152" y="2148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bind ＋ listen。netstat に LISTENING</a:t>
            </a:r>
            <a:endParaRPr lang="ja-JP" altLang="en-US" sz="1300" dirty="0"/>
          </a:p>
        </p:txBody>
      </p:sp>
      <p:sp>
        <p:nvSpPr>
          <p:cNvPr id="12" name="figbox"/>
          <p:cNvSpPr/>
          <p:nvPr/>
        </p:nvSpPr>
        <p:spPr>
          <a:xfrm>
            <a:off x="1051560" y="269748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E6F1FB"/>
          </a:solidFill>
          <a:ln w="19050">
            <a:solidFill>
              <a:srgbClr val="1668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16152" y="2816352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ja-JP" alt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27797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700" b="1" dirty="0">
                <a:solidFill>
                  <a:srgbClr val="1668B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accept()</a:t>
            </a:r>
            <a:endParaRPr lang="ja-JP" alt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16152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誰かが来るまで止まる。来たら Socket が返る</a:t>
            </a:r>
            <a:endParaRPr lang="ja-JP" altLang="en-US" sz="1300" dirty="0"/>
          </a:p>
        </p:txBody>
      </p:sp>
      <p:sp>
        <p:nvSpPr>
          <p:cNvPr id="16" name="figbox"/>
          <p:cNvSpPr/>
          <p:nvPr/>
        </p:nvSpPr>
        <p:spPr>
          <a:xfrm>
            <a:off x="7498080" y="2752344"/>
            <a:ext cx="41605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80960" y="280720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connect()</a:t>
            </a:r>
            <a:endParaRPr lang="ja-JP" alt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3154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2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つなぎに行く（第1回）</a:t>
            </a:r>
            <a:endParaRPr lang="ja-JP" altLang="en-US" sz="1250" dirty="0"/>
          </a:p>
        </p:txBody>
      </p:sp>
      <p:sp>
        <p:nvSpPr>
          <p:cNvPr id="19" name="figbox"/>
          <p:cNvSpPr/>
          <p:nvPr/>
        </p:nvSpPr>
        <p:spPr>
          <a:xfrm>
            <a:off x="1051560" y="374904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E6F1FB"/>
          </a:solidFill>
          <a:ln w="19050">
            <a:solidFill>
              <a:srgbClr val="1668B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16152" y="3867912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ja-JP" alt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828800" y="38313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700" b="1" dirty="0">
                <a:solidFill>
                  <a:srgbClr val="1668B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読む ／ 書く</a:t>
            </a:r>
            <a:endParaRPr lang="ja-JP" alt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216152" y="4251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getInputStream() / getOutputStream()</a:t>
            </a:r>
            <a:endParaRPr lang="ja-JP" altLang="en-US" sz="1300" dirty="0"/>
          </a:p>
        </p:txBody>
      </p:sp>
      <p:sp>
        <p:nvSpPr>
          <p:cNvPr id="23" name="figbox"/>
          <p:cNvSpPr/>
          <p:nvPr/>
        </p:nvSpPr>
        <p:spPr>
          <a:xfrm>
            <a:off x="7498080" y="3803904"/>
            <a:ext cx="41605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80960" y="38587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書く ／ 読む</a:t>
            </a:r>
            <a:endParaRPr lang="ja-JP" alt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680960" y="4206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2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1行送って1行受け取る（第2回）</a:t>
            </a:r>
            <a:endParaRPr lang="ja-JP" altLang="en-US" sz="1250" dirty="0"/>
          </a:p>
        </p:txBody>
      </p:sp>
      <p:sp>
        <p:nvSpPr>
          <p:cNvPr id="26" name="figbox"/>
          <p:cNvSpPr/>
          <p:nvPr/>
        </p:nvSpPr>
        <p:spPr>
          <a:xfrm>
            <a:off x="1051560" y="480060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E6F1FB"/>
          </a:solidFill>
          <a:ln w="19050">
            <a:solidFill>
              <a:srgbClr val="1668B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216152" y="4919472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ja-JP" alt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1828800" y="48828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700" b="1" dirty="0">
                <a:solidFill>
                  <a:srgbClr val="1668B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s.close()</a:t>
            </a:r>
            <a:endParaRPr lang="ja-JP" alt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1216152" y="5303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この1本だけ閉じる。受付は開いたまま</a:t>
            </a:r>
            <a:endParaRPr lang="ja-JP" altLang="en-US" sz="1300" dirty="0"/>
          </a:p>
        </p:txBody>
      </p:sp>
      <p:sp>
        <p:nvSpPr>
          <p:cNvPr id="30" name="figbox"/>
          <p:cNvSpPr/>
          <p:nvPr/>
        </p:nvSpPr>
        <p:spPr>
          <a:xfrm>
            <a:off x="7498080" y="4855464"/>
            <a:ext cx="41605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80960" y="491032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s.close()</a:t>
            </a:r>
            <a:endParaRPr lang="ja-JP" alt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680960" y="5257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2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自分の側を閉じる</a:t>
            </a:r>
            <a:endParaRPr lang="ja-JP" alt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4343400" y="28072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BE3E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ここで止まる</a:t>
            </a:r>
            <a:endParaRPr lang="ja-JP" altLang="en-US" sz="1250" dirty="0"/>
          </a:p>
        </p:txBody>
      </p:sp>
      <p:sp>
        <p:nvSpPr>
          <p:cNvPr id="34" name="figarrow"/>
          <p:cNvSpPr/>
          <p:nvPr/>
        </p:nvSpPr>
        <p:spPr>
          <a:xfrm>
            <a:off x="5852160" y="3131820"/>
            <a:ext cx="1600200" cy="0"/>
          </a:xfrm>
          <a:prstGeom prst="line">
            <a:avLst/>
          </a:prstGeom>
          <a:noFill/>
          <a:ln w="38100">
            <a:solidFill>
              <a:srgbClr val="5A6270"/>
            </a:solidFill>
            <a:prstDash val="solid"/>
            <a:headEnd type="triangle" w="lg" len="lg"/>
          </a:ln>
        </p:spPr>
      </p:sp>
      <p:sp>
        <p:nvSpPr>
          <p:cNvPr id="35" name="Text 32"/>
          <p:cNvSpPr txBox="1"/>
          <p:nvPr/>
        </p:nvSpPr>
        <p:spPr>
          <a:xfrm>
            <a:off x="6035040" y="27477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接続の申し込み</a:t>
            </a:r>
            <a:endParaRPr lang="ja-JP" alt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852160" y="4183380"/>
            <a:ext cx="1600200" cy="0"/>
          </a:xfrm>
          <a:prstGeom prst="line">
            <a:avLst/>
          </a:prstGeom>
          <a:noFill/>
          <a:ln w="38100">
            <a:solidFill>
              <a:srgbClr val="1668B5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37" name="Text 34"/>
          <p:cNvSpPr txBox="1"/>
          <p:nvPr/>
        </p:nvSpPr>
        <p:spPr>
          <a:xfrm>
            <a:off x="6035040" y="37993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166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行のやりとり</a:t>
            </a:r>
            <a:endParaRPr lang="ja-JP" altLang="en-US" sz="1200" dirty="0"/>
          </a:p>
        </p:txBody>
      </p:sp>
      <p:sp>
        <p:nvSpPr>
          <p:cNvPr id="38" name="figline"/>
          <p:cNvSpPr/>
          <p:nvPr/>
        </p:nvSpPr>
        <p:spPr>
          <a:xfrm>
            <a:off x="713232" y="5234940"/>
            <a:ext cx="338328" cy="0"/>
          </a:xfrm>
          <a:prstGeom prst="line">
            <a:avLst/>
          </a:prstGeom>
          <a:noFill/>
          <a:ln w="22225">
            <a:solidFill>
              <a:srgbClr val="E8A317"/>
            </a:solidFill>
            <a:prstDash val="solid"/>
          </a:ln>
        </p:spPr>
      </p:sp>
      <p:sp>
        <p:nvSpPr>
          <p:cNvPr id="39" name="figline"/>
          <p:cNvSpPr/>
          <p:nvPr/>
        </p:nvSpPr>
        <p:spPr>
          <a:xfrm>
            <a:off x="713232" y="3131820"/>
            <a:ext cx="0" cy="2103120"/>
          </a:xfrm>
          <a:prstGeom prst="line">
            <a:avLst/>
          </a:prstGeom>
          <a:noFill/>
          <a:ln w="22225">
            <a:solidFill>
              <a:srgbClr val="E8A317"/>
            </a:solidFill>
            <a:prstDash val="solid"/>
          </a:ln>
        </p:spPr>
      </p:sp>
      <p:sp>
        <p:nvSpPr>
          <p:cNvPr id="40" name="figarrow"/>
          <p:cNvSpPr/>
          <p:nvPr/>
        </p:nvSpPr>
        <p:spPr>
          <a:xfrm>
            <a:off x="713232" y="3131820"/>
            <a:ext cx="338328" cy="0"/>
          </a:xfrm>
          <a:prstGeom prst="line">
            <a:avLst/>
          </a:prstGeom>
          <a:noFill/>
          <a:ln w="38100">
            <a:solidFill>
              <a:srgbClr val="E8A317"/>
            </a:solidFill>
            <a:prstDash val="solid"/>
            <a:tailEnd type="triangle" w="lg" len="lg"/>
          </a:ln>
        </p:spPr>
      </p:sp>
      <p:sp>
        <p:nvSpPr>
          <p:cNvPr id="41" name="Text 38"/>
          <p:cNvSpPr txBox="1"/>
          <p:nvPr/>
        </p:nvSpPr>
        <p:spPr>
          <a:xfrm>
            <a:off x="429768" y="39090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250" b="1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戻</a:t>
            </a:r>
            <a:endParaRPr lang="ja-JP" alt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ja-JP" altLang="en-US" sz="1250" b="1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る</a:t>
            </a:r>
            <a:endParaRPr lang="ja-JP" altLang="en-US" sz="1250" dirty="0"/>
          </a:p>
        </p:txBody>
      </p:sp>
      <p:sp>
        <p:nvSpPr>
          <p:cNvPr id="42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図2（PART 1-2）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accept() で止まって見えるのは、正常</a:t>
            </a:r>
            <a:endParaRPr lang="ja-JP" altLang="en-US" sz="3000" dirty="0"/>
          </a:p>
        </p:txBody>
      </p:sp>
      <p:sp>
        <p:nvSpPr>
          <p:cNvPr id="4" name="codepanel"/>
          <p:cNvSpPr/>
          <p:nvPr/>
        </p:nvSpPr>
        <p:spPr>
          <a:xfrm>
            <a:off x="548640" y="1371600"/>
            <a:ext cx="5669280" cy="1859890"/>
          </a:xfrm>
          <a:prstGeom prst="roundRect">
            <a:avLst>
              <a:gd name="adj" fmla="val 3933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17904"/>
            <a:ext cx="5266944" cy="1567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ターミナル(1)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java OneShot 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LISTENING port=40001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_
</a:t>
            </a:r>
            <a:endParaRPr lang="ja-JP" altLang="en-US" sz="1700" dirty="0"/>
          </a:p>
        </p:txBody>
      </p:sp>
      <p:sp>
        <p:nvSpPr>
          <p:cNvPr id="6" name="card"/>
          <p:cNvSpPr/>
          <p:nvPr/>
        </p:nvSpPr>
        <p:spPr>
          <a:xfrm>
            <a:off x="6492240" y="1371600"/>
            <a:ext cx="5120640" cy="2011680"/>
          </a:xfrm>
          <a:prstGeom prst="roundRect">
            <a:avLst>
              <a:gd name="adj" fmla="val 3182"/>
            </a:avLst>
          </a:prstGeom>
          <a:solidFill>
            <a:srgbClr val="141820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93408" y="1554480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固まっているのではない</a:t>
            </a:r>
            <a:endParaRPr lang="ja-JP" alt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6693408" y="1975104"/>
            <a:ext cx="471830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accept() が、誰かが来るのを待っている。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第1回で EchoServer.jar の画面が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固まって見えたのは、これ</a:t>
            </a:r>
            <a:endParaRPr lang="ja-JP" altLang="en-US" sz="1550" dirty="0"/>
          </a:p>
        </p:txBody>
      </p:sp>
      <p:sp>
        <p:nvSpPr>
          <p:cNvPr id="9" name="card"/>
          <p:cNvSpPr/>
          <p:nvPr/>
        </p:nvSpPr>
        <p:spPr>
          <a:xfrm>
            <a:off x="6492240" y="3611880"/>
            <a:ext cx="5120640" cy="1463040"/>
          </a:xfrm>
          <a:prstGeom prst="roundRect">
            <a:avLst>
              <a:gd name="adj" fmla="val 4375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93408" y="3794760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止めるときは  Ctrl ＋ C</a:t>
            </a:r>
            <a:endParaRPr lang="ja-JP" alt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693408" y="4215384"/>
            <a:ext cx="47183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今日は何度も使う。先に覚えておく</a:t>
            </a:r>
            <a:endParaRPr lang="ja-JP" altLang="en-US" sz="1550" dirty="0"/>
          </a:p>
        </p:txBody>
      </p:sp>
      <p:sp>
        <p:nvSpPr>
          <p:cNvPr id="12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PART 1-2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同じ番号は1つだけ。入口は全部</a:t>
            </a:r>
            <a:endParaRPr lang="ja-JP" alt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539496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9050">
            <a:solidFill>
              <a:srgbClr val="D8D2C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544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同じ番号を確保できるのは、1つだけ</a:t>
            </a:r>
            <a:endParaRPr lang="ja-JP" alt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1975104"/>
            <a:ext cx="499262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2つ目を起動すると BindException。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 40001 番に届いたものを、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 は迷わずに1つのプログラムへ渡せる。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演習B-4 で、わざと出す</a:t>
            </a:r>
            <a:endParaRPr lang="ja-JP" altLang="en-US" sz="1550" dirty="0"/>
          </a:p>
        </p:txBody>
      </p:sp>
      <p:sp>
        <p:nvSpPr>
          <p:cNvPr id="7" name="card"/>
          <p:cNvSpPr/>
          <p:nvPr/>
        </p:nvSpPr>
        <p:spPr>
          <a:xfrm>
            <a:off x="6217920" y="1371600"/>
            <a:ext cx="5394960" cy="2743200"/>
          </a:xfrm>
          <a:prstGeom prst="roundRect">
            <a:avLst>
              <a:gd name="adj" fmla="val 2333"/>
            </a:avLst>
          </a:prstGeom>
          <a:solidFill>
            <a:srgbClr val="E6F1FB"/>
          </a:solidFill>
          <a:ln w="19050">
            <a:solidFill>
              <a:srgbClr val="1668B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19088" y="1554480"/>
            <a:ext cx="4992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166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new ServerSocket(40001) は、全部の入口で待つ</a:t>
            </a:r>
            <a:endParaRPr lang="ja-JP" alt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419088" y="2359152"/>
            <a:ext cx="499262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localhost からも、隣のPCからも受ける。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netstat では 0.0.0.0:40001 か [::]:40001。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どちらも「どのアドレス宛でも受ける」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演習D で、隣のPCからつないでもらう</a:t>
            </a:r>
            <a:endParaRPr lang="ja-JP" altLang="en-US" sz="1550" dirty="0"/>
          </a:p>
        </p:txBody>
      </p:sp>
      <p:sp>
        <p:nvSpPr>
          <p:cNvPr id="10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PART 1-3・1-4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標準出力は「約束」、標準エラーは「ひとりごと」</a:t>
            </a:r>
            <a:endParaRPr lang="ja-JP" altLang="en-US" sz="28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141820"/>
          </a:solidFill>
          <a:ln w="19050">
            <a:solidFill>
              <a:srgbClr val="4FC3B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5448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標準出力</a:t>
            </a:r>
            <a:endParaRPr lang="ja-JP" alt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182880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4FC3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System.out ＝ 機械が読む</a:t>
            </a:r>
            <a:endParaRPr lang="ja-JP" alt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249424"/>
            <a:ext cx="49926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仕様で決まったものだけ。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  LISTENING port=40001  の1行だけ</a:t>
            </a:r>
            <a:endParaRPr lang="ja-JP" alt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17920" y="1371600"/>
            <a:ext cx="5394960" cy="2377440"/>
          </a:xfrm>
          <a:prstGeom prst="roundRect">
            <a:avLst>
              <a:gd name="adj" fmla="val 2692"/>
            </a:avLst>
          </a:prstGeom>
          <a:solidFill>
            <a:srgbClr val="141820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9088" y="155448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標準エラー</a:t>
            </a:r>
            <a:endParaRPr lang="ja-JP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19088" y="182880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System.err ＝ 人間が読む</a:t>
            </a:r>
            <a:endParaRPr lang="ja-JP" alt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19088" y="2249424"/>
            <a:ext cx="49926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自分のためのログ。何を出してもよい。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ACCEPTED ／ RECEIVED ／ CLOSED など</a:t>
            </a:r>
            <a:endParaRPr lang="ja-JP" altLang="en-US" sz="1600" dirty="0"/>
          </a:p>
        </p:txBody>
      </p:sp>
      <p:sp>
        <p:nvSpPr>
          <p:cNvPr id="12" name="codepanel"/>
          <p:cNvSpPr/>
          <p:nvPr/>
        </p:nvSpPr>
        <p:spPr>
          <a:xfrm>
            <a:off x="548640" y="4069080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4215384"/>
            <a:ext cx="10661904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System.out.println(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"LISTENING port=" + port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);   // 約束。これ以外は出さない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System.err.println(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"ACCEPTED " + s.getRemoteSocketAddress()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);</a:t>
            </a:r>
            <a:endParaRPr lang="ja-JP" altLang="en-US" sz="1500" dirty="0"/>
          </a:p>
        </p:txBody>
      </p:sp>
      <p:sp>
        <p:nvSpPr>
          <p:cNvPr id="14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PART 1-5 ／ 採点スクリプトは標準出力を読む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サーバのコードで、Copilot がよく出す4つ</a:t>
            </a:r>
            <a:endParaRPr lang="ja-JP" alt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54480"/>
            <a:ext cx="4992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7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頼んでいないのにスレッドを使う</a:t>
            </a:r>
            <a:endParaRPr lang="ja-JP" alt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313432"/>
            <a:ext cx="4992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new Thread / ExecutorService は第4回。今日は使わない</a:t>
            </a:r>
            <a:endParaRPr lang="ja-JP" alt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217920" y="13716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19088" y="1554480"/>
            <a:ext cx="4992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7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PrintWriter(s.getOutputStream(), true)</a:t>
            </a:r>
            <a:endParaRPr lang="ja-JP" alt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19088" y="2313432"/>
            <a:ext cx="4992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文字コードを指定していない。OutputStreamWriter に UTF_8</a:t>
            </a:r>
            <a:endParaRPr lang="ja-JP" alt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34290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3611880"/>
            <a:ext cx="4992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7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1行読んだら終わる</a:t>
            </a:r>
            <a:endParaRPr lang="ja-JP" alt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4370832"/>
            <a:ext cx="4992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while ((line = in.readLine()) != null) でくり返す</a:t>
            </a:r>
            <a:endParaRPr lang="ja-JP" alt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217920" y="34290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19088" y="3611880"/>
            <a:ext cx="4992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7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例外で System.exit(1)</a:t>
            </a:r>
            <a:endParaRPr lang="ja-JP" alt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19088" y="4370832"/>
            <a:ext cx="49926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1人のエラーで、サーバ全体を終了させない</a:t>
            </a:r>
            <a:endParaRPr lang="ja-JP" altLang="en-US" sz="1500" dirty="0"/>
          </a:p>
        </p:txBody>
      </p:sp>
      <p:sp>
        <p:nvSpPr>
          <p:cNvPr id="16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PART 1-6 ／ Tab を押す前に読む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QUESTION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答えは、まだ言いません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34440"/>
            <a:ext cx="11064240" cy="2740762"/>
          </a:xfrm>
          <a:prstGeom prst="roundRect">
            <a:avLst>
              <a:gd name="adj" fmla="val 2669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380744"/>
            <a:ext cx="10661904" cy="2448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演習Bで作るサーバは、1人ずつ順番に相手をする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while (true) {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Socket s = server.accept();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この人が切断するまで、ここで読み書きを続ける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}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1人目がつないだままのところへ、2人目が来たら？
</a:t>
            </a:r>
            <a:endParaRPr lang="ja-JP" alt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4295242"/>
            <a:ext cx="11064240" cy="1783080"/>
          </a:xfrm>
          <a:prstGeom prst="roundRect">
            <a:avLst>
              <a:gd name="adj" fmla="val 3590"/>
            </a:avLst>
          </a:prstGeom>
          <a:solidFill>
            <a:srgbClr val="E8A31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447812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3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このページに、1文で書く（1分）</a:t>
            </a:r>
            <a:endParaRPr lang="ja-JP" alt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95361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「2人目の画面には、何が出るか」</a:t>
            </a:r>
            <a:endParaRPr lang="ja-JP" alt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543824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dirty="0">
                <a:solidFill>
                  <a:srgbClr val="5A3D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正解でなくていい。演習C のあとで、自分で採点する。</a:t>
            </a:r>
            <a:endParaRPr lang="ja-JP" altLang="en-US" sz="1550" dirty="0"/>
          </a:p>
        </p:txBody>
      </p:sp>
      <p:sp>
        <p:nvSpPr>
          <p:cNvPr id="11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「REFUSED になる」「エラーが出る」と書いた人が多いはず ── そこが今日の見どころ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演習A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1回だけ受け付けるサーバ</a:t>
            </a:r>
            <a:endParaRPr lang="ja-JP" altLang="en-US" sz="3200" dirty="0"/>
          </a:p>
        </p:txBody>
      </p:sp>
      <p:sp>
        <p:nvSpPr>
          <p:cNvPr id="5" name="figbox"/>
          <p:cNvSpPr/>
          <p:nvPr/>
        </p:nvSpPr>
        <p:spPr>
          <a:xfrm>
            <a:off x="411480" y="1188720"/>
            <a:ext cx="5532120" cy="4526280"/>
          </a:xfrm>
          <a:prstGeom prst="roundRect">
            <a:avLst>
              <a:gd name="adj" fmla="val 1616"/>
            </a:avLst>
          </a:prstGeom>
          <a:solidFill>
            <a:srgbClr val="171C24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16736"/>
            <a:ext cx="384048" cy="329184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ja-JP" alt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069848" y="13075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ターミナル(1)：サーバ</a:t>
            </a:r>
            <a:endParaRPr lang="ja-JP" alt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307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3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先に起動する</a:t>
            </a:r>
            <a:endParaRPr lang="ja-JP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b="1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打つもの</a:t>
            </a:r>
            <a:endParaRPr lang="ja-JP" altLang="en-US" sz="1300" dirty="0"/>
          </a:p>
        </p:txBody>
      </p:sp>
      <p:sp>
        <p:nvSpPr>
          <p:cNvPr id="10" name="codepanel"/>
          <p:cNvSpPr/>
          <p:nvPr/>
        </p:nvSpPr>
        <p:spPr>
          <a:xfrm>
            <a:off x="594360" y="2057400"/>
            <a:ext cx="5166360" cy="1533449"/>
          </a:xfrm>
          <a:prstGeom prst="roundRect">
            <a:avLst>
              <a:gd name="adj" fmla="val 4770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" y="2203704"/>
            <a:ext cx="4764024" cy="1240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準備（最初に1回）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javac -encoding UTF-8 OneShot.java Talk.java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java OneShot 40001
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72800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b="1" dirty="0">
                <a:solidFill>
                  <a:srgbClr val="4FC3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こう出れば正解</a:t>
            </a:r>
            <a:endParaRPr lang="ja-JP" altLang="en-US" sz="1300" dirty="0"/>
          </a:p>
        </p:txBody>
      </p:sp>
      <p:sp>
        <p:nvSpPr>
          <p:cNvPr id="13" name="codepanel"/>
          <p:cNvSpPr/>
          <p:nvPr/>
        </p:nvSpPr>
        <p:spPr>
          <a:xfrm>
            <a:off x="594360" y="4029761"/>
            <a:ext cx="5166360" cy="1300277"/>
          </a:xfrm>
          <a:prstGeom prst="roundRect">
            <a:avLst>
              <a:gd name="adj" fmla="val 5626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528" y="4176065"/>
            <a:ext cx="4764024" cy="100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LISTENING port=40001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ACCEPTED /127.0.0.1:60118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RECEIVED hello
</a:t>
            </a:r>
            <a:endParaRPr lang="ja-JP" altLang="en-US" sz="1350" dirty="0"/>
          </a:p>
        </p:txBody>
      </p:sp>
      <p:sp>
        <p:nvSpPr>
          <p:cNvPr id="15" name="figbox"/>
          <p:cNvSpPr/>
          <p:nvPr/>
        </p:nvSpPr>
        <p:spPr>
          <a:xfrm>
            <a:off x="6217920" y="1188720"/>
            <a:ext cx="5532120" cy="4526280"/>
          </a:xfrm>
          <a:prstGeom prst="roundRect">
            <a:avLst>
              <a:gd name="adj" fmla="val 1616"/>
            </a:avLst>
          </a:prstGeom>
          <a:solidFill>
            <a:srgbClr val="171C24"/>
          </a:solidFill>
          <a:ln w="25400">
            <a:solidFill>
              <a:srgbClr val="5FA8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1316736"/>
            <a:ext cx="384048" cy="329184"/>
          </a:xfrm>
          <a:prstGeom prst="roundRect">
            <a:avLst>
              <a:gd name="adj" fmla="val 50000"/>
            </a:avLst>
          </a:prstGeom>
          <a:solidFill>
            <a:srgbClr val="5FA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ja-JP" alt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876288" y="13075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ターミナル(2)：クライアント</a:t>
            </a:r>
            <a:endParaRPr lang="ja-JP" alt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149840" y="1307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3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あとから</a:t>
            </a:r>
            <a:endParaRPr lang="ja-JP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b="1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打つもの</a:t>
            </a:r>
            <a:endParaRPr lang="ja-JP" altLang="en-US" sz="1300" dirty="0"/>
          </a:p>
        </p:txBody>
      </p:sp>
      <p:sp>
        <p:nvSpPr>
          <p:cNvPr id="20" name="codepanel"/>
          <p:cNvSpPr/>
          <p:nvPr/>
        </p:nvSpPr>
        <p:spPr>
          <a:xfrm>
            <a:off x="6400800" y="2057400"/>
            <a:ext cx="5166360" cy="1533449"/>
          </a:xfrm>
          <a:prstGeom prst="roundRect">
            <a:avLst>
              <a:gd name="adj" fmla="val 4770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01968" y="2203704"/>
            <a:ext cx="4764024" cy="1240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netstat -an | findstr 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java Talk localhost 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hello と打って Enter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endParaRPr lang="ja-JP" alt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372800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b="1" dirty="0">
                <a:solidFill>
                  <a:srgbClr val="4FC3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こう出れば正解</a:t>
            </a:r>
            <a:endParaRPr lang="ja-JP" altLang="en-US" sz="1300" dirty="0"/>
          </a:p>
        </p:txBody>
      </p:sp>
      <p:sp>
        <p:nvSpPr>
          <p:cNvPr id="23" name="codepanel"/>
          <p:cNvSpPr/>
          <p:nvPr/>
        </p:nvSpPr>
        <p:spPr>
          <a:xfrm>
            <a:off x="6400800" y="4029761"/>
            <a:ext cx="5166360" cy="1300277"/>
          </a:xfrm>
          <a:prstGeom prst="roundRect">
            <a:avLst>
              <a:gd name="adj" fmla="val 5626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01968" y="4176065"/>
            <a:ext cx="4764024" cy="100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CONNECTED to localhost/127.0.0.1:40001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hello
</a:t>
            </a:r>
            <a:pPr indent="0" marL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REPLY: hello
</a:t>
            </a:r>
            <a:endParaRPr lang="ja-JP" altLang="en-US" sz="1350" dirty="0"/>
          </a:p>
        </p:txBody>
      </p:sp>
      <p:sp>
        <p:nvSpPr>
          <p:cNvPr id="25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先に左（サーバ）を起動してから、右（クライアント）。netstat には 0.0.0.0:40001 か [::]:40001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演習A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もう一度つなぐと、REFUSED</a:t>
            </a:r>
            <a:endParaRPr lang="ja-JP" altLang="en-US" sz="3200" dirty="0"/>
          </a:p>
        </p:txBody>
      </p:sp>
      <p:sp>
        <p:nvSpPr>
          <p:cNvPr id="5" name="figbox"/>
          <p:cNvSpPr/>
          <p:nvPr/>
        </p:nvSpPr>
        <p:spPr>
          <a:xfrm>
            <a:off x="548640" y="1325880"/>
            <a:ext cx="65836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4FC3B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送った行が、そのまま返ってきた</a:t>
            </a:r>
            <a:endParaRPr lang="ja-JP" altLang="en-US" sz="1600" dirty="0"/>
          </a:p>
        </p:txBody>
      </p:sp>
      <p:sp>
        <p:nvSpPr>
          <p:cNvPr id="7" name="figbox"/>
          <p:cNvSpPr/>
          <p:nvPr/>
        </p:nvSpPr>
        <p:spPr>
          <a:xfrm>
            <a:off x="548640" y="2075688"/>
            <a:ext cx="65836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4FC3B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07568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サーバが終了して、プロンプトに戻った</a:t>
            </a:r>
            <a:endParaRPr lang="ja-JP" altLang="en-US" sz="1600" dirty="0"/>
          </a:p>
        </p:txBody>
      </p:sp>
      <p:sp>
        <p:nvSpPr>
          <p:cNvPr id="9" name="figbox"/>
          <p:cNvSpPr/>
          <p:nvPr/>
        </p:nvSpPr>
        <p:spPr>
          <a:xfrm>
            <a:off x="548640" y="2825496"/>
            <a:ext cx="65836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BE3E1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82549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もう一度 Talk を実行すると REFUSED</a:t>
            </a:r>
            <a:endParaRPr lang="ja-JP" altLang="en-US" sz="1600" dirty="0"/>
          </a:p>
        </p:txBody>
      </p:sp>
      <p:sp>
        <p:nvSpPr>
          <p:cNvPr id="11" name="figbox"/>
          <p:cNvSpPr/>
          <p:nvPr/>
        </p:nvSpPr>
        <p:spPr>
          <a:xfrm>
            <a:off x="548640" y="3575304"/>
            <a:ext cx="65836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BE3E1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575304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netstat から、40001 の LISTENING が消えた</a:t>
            </a:r>
            <a:endParaRPr lang="ja-JP" alt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7498080" y="1325880"/>
            <a:ext cx="4114800" cy="2834640"/>
          </a:xfrm>
          <a:prstGeom prst="roundRect">
            <a:avLst>
              <a:gd name="adj" fmla="val 2258"/>
            </a:avLst>
          </a:prstGeom>
          <a:solidFill>
            <a:srgbClr val="FDF0D4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99248" y="150876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accept() が1回だけ</a:t>
            </a:r>
            <a:endParaRPr lang="ja-JP" alt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7699248" y="1929384"/>
            <a:ext cx="3712464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だから、このサーバは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一生に1人しか相手にできない。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相手をしたら、受付ごと閉じる</a:t>
            </a:r>
            <a:endParaRPr lang="ja-JP" altLang="en-US" sz="1550" dirty="0"/>
          </a:p>
        </p:txBody>
      </p:sp>
      <p:sp>
        <p:nvSpPr>
          <p:cNvPr id="16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A-4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演習B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accept() を、くり返しの中へ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34440"/>
            <a:ext cx="11064240" cy="2790850"/>
          </a:xfrm>
          <a:prstGeom prst="roundRect">
            <a:avLst>
              <a:gd name="adj" fmla="val 2621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380744"/>
            <a:ext cx="10661904" cy="249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while (true) {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            // (1) 1人終わったら受付に戻る
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try (Socket s = server.accept(); ...) {
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while ((line = in.readLine()) != null) {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// (2) 切断は null
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out.write(line); out.write("\n"); out.flush();
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}
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} catch (IOException e) {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  // (3) 内側に置く
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System.err.println("client error: " + e.getMessage());
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}
</a:t>
            </a:r>
            <a:pPr indent="0" marL="0">
              <a:lnSpc>
                <a:spcPct val="135000"/>
              </a:lnSpc>
              <a:buNone/>
            </a:pPr>
            <a:r>
              <a:rPr lang="ja-JP" altLang="en-US" sz="15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}</a:t>
            </a:r>
            <a:endParaRPr lang="ja-JP" altLang="en-US" sz="1550" dirty="0"/>
          </a:p>
        </p:txBody>
      </p:sp>
      <p:sp>
        <p:nvSpPr>
          <p:cNvPr id="7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これが EchoServer.jar の中身。catch を外側に書くと、1人が回線を切っただけでサーバが止まる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演習B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何人つないでも、サーバは動き続ける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80160"/>
            <a:ext cx="5486400" cy="2595677"/>
          </a:xfrm>
          <a:prstGeom prst="roundRect">
            <a:avLst>
              <a:gd name="adj" fmla="val 2818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426464"/>
            <a:ext cx="5084064" cy="230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LISTENING port=40001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ACCEPTED /127.0.0.1:34722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CLOSED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ACCEPTED /127.0.0.1:34728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CLOSED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ACCEPTED /127.0.0.1:34736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CLOSED
</a:t>
            </a:r>
            <a:endParaRPr lang="ja-JP" alt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400800" y="1280160"/>
            <a:ext cx="5212080" cy="2194560"/>
          </a:xfrm>
          <a:prstGeom prst="roundRect">
            <a:avLst>
              <a:gd name="adj" fmla="val 2917"/>
            </a:avLst>
          </a:prstGeom>
          <a:solidFill>
            <a:srgbClr val="E6F1FB"/>
          </a:solidFill>
          <a:ln w="19050">
            <a:solidFill>
              <a:srgbClr val="1668B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01968" y="146304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166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最後の数字が、毎回違う</a:t>
            </a:r>
            <a:endParaRPr lang="ja-JP" alt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601968" y="1883664"/>
            <a:ext cx="480974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接続する側に、OS が自動で割り当てた番号。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誰も決めていないポート番号を、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初めて実物で見た</a:t>
            </a:r>
            <a:endParaRPr lang="ja-JP" altLang="en-US" sz="1550" dirty="0"/>
          </a:p>
        </p:txBody>
      </p:sp>
      <p:sp>
        <p:nvSpPr>
          <p:cNvPr id="10" name="card"/>
          <p:cNvSpPr/>
          <p:nvPr/>
        </p:nvSpPr>
        <p:spPr>
          <a:xfrm>
            <a:off x="6400800" y="3703320"/>
            <a:ext cx="52120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9050">
            <a:solidFill>
              <a:srgbClr val="D8D2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01968" y="388620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7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第2回の EchoClient でも試せる</a:t>
            </a:r>
            <a:endParaRPr lang="ja-JP" alt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601968" y="4306824"/>
            <a:ext cx="4809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 EchoClient localhost 40001 JP UTF-8</a:t>
            </a:r>
            <a:endParaRPr lang="ja-JP" alt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4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MATCH=true が、自分のサーバから返る</a:t>
            </a:r>
            <a:endParaRPr lang="ja-JP" altLang="en-US" sz="1400" dirty="0"/>
          </a:p>
        </p:txBody>
      </p:sp>
      <p:sp>
        <p:nvSpPr>
          <p:cNvPr id="13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B-3 ／ CLOSED の代わりに client error: Connection reset と出ても正常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E3E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演習B-4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同じ番号で、もう1つ起動する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80160"/>
            <a:ext cx="11064240" cy="1414272"/>
          </a:xfrm>
          <a:prstGeom prst="roundRect">
            <a:avLst>
              <a:gd name="adj" fmla="val 5172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426464"/>
            <a:ext cx="10661904" cy="1121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ターミナル(3)（(1)のサーバは起動したまま）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java LoopServer 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Exception in thread "main" java.net.BindException: Address already in use
</a:t>
            </a:r>
            <a:endParaRPr lang="ja-JP" alt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297180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141820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31546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F2A0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読み方</a:t>
            </a:r>
            <a:endParaRPr lang="ja-JP" alt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575304"/>
            <a:ext cx="499262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「前に起動したサーバが、まだ生きている」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番号を変える必要はない。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（Windows では後ろに : bind などが付く）</a:t>
            </a:r>
            <a:endParaRPr lang="ja-JP" altLang="en-US" sz="1550" dirty="0"/>
          </a:p>
        </p:txBody>
      </p:sp>
      <p:sp>
        <p:nvSpPr>
          <p:cNvPr id="10" name="codepanel"/>
          <p:cNvSpPr/>
          <p:nvPr/>
        </p:nvSpPr>
        <p:spPr>
          <a:xfrm>
            <a:off x="6217920" y="2971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9088" y="3118104"/>
            <a:ext cx="4992624" cy="2039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誰が 40001 を確保しているか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netstat -ano | findstr 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Get-Process -Id &lt;右端の数字&gt;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Stop-Process -Id &lt;右端の数字&gt;</a:t>
            </a:r>
            <a:endParaRPr lang="ja-JP" altLang="en-US" sz="1450" dirty="0"/>
          </a:p>
        </p:txBody>
      </p:sp>
      <p:sp>
        <p:nvSpPr>
          <p:cNvPr id="12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管理者権限は要らない。自分が起動したプロセスなら自分で止められる（java と確かめてから）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演習C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2人目のクライアントはどうなるか</a:t>
            </a:r>
            <a:endParaRPr lang="ja-JP" alt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ターミナル(1)</a:t>
            </a:r>
            <a:endParaRPr lang="ja-JP" alt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2423160" y="1325880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</a:t>
            </a:r>
            <a:endParaRPr lang="ja-JP" altLang="en-US" sz="1600" dirty="0"/>
          </a:p>
        </p:txBody>
      </p:sp>
      <p:sp>
        <p:nvSpPr>
          <p:cNvPr id="7" name="codepanel"/>
          <p:cNvSpPr/>
          <p:nvPr/>
        </p:nvSpPr>
        <p:spPr>
          <a:xfrm>
            <a:off x="548640" y="182880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975104"/>
            <a:ext cx="3102864" cy="1901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java LoopServer 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（起動したまま）
</a:t>
            </a:r>
            <a:endParaRPr lang="ja-JP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328160" y="1325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ターミナル(2)</a:t>
            </a:r>
            <a:endParaRPr lang="ja-JP" alt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202680" y="1325880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1人目</a:t>
            </a:r>
            <a:endParaRPr lang="ja-JP" altLang="en-US" sz="1600" dirty="0"/>
          </a:p>
        </p:txBody>
      </p:sp>
      <p:sp>
        <p:nvSpPr>
          <p:cNvPr id="11" name="codepanel"/>
          <p:cNvSpPr/>
          <p:nvPr/>
        </p:nvSpPr>
        <p:spPr>
          <a:xfrm>
            <a:off x="4328160" y="182880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9328" y="1975104"/>
            <a:ext cx="3102864" cy="1901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java Talk localhost 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hello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REPLY: hello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（止めずに、そのまま）
</a:t>
            </a:r>
            <a:endParaRPr lang="ja-JP" alt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107680" y="1325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BE3E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ターミナル(3)</a:t>
            </a:r>
            <a:endParaRPr lang="ja-JP" alt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982200" y="1325880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2人目</a:t>
            </a:r>
            <a:endParaRPr lang="ja-JP" altLang="en-US" sz="1600" dirty="0"/>
          </a:p>
        </p:txBody>
      </p:sp>
      <p:sp>
        <p:nvSpPr>
          <p:cNvPr id="15" name="codepanel"/>
          <p:cNvSpPr/>
          <p:nvPr/>
        </p:nvSpPr>
        <p:spPr>
          <a:xfrm>
            <a:off x="8107680" y="182880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08848" y="1975104"/>
            <a:ext cx="3102864" cy="1901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java Talk localhost 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CONNECTED to ...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world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（返事が来ない）
</a:t>
            </a:r>
            <a:endParaRPr lang="ja-JP" alt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4348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DF0D4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5262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動かす前に、スライド10に書いた予想を読み返す</a:t>
            </a:r>
            <a:endParaRPr lang="ja-JP" altLang="en-US" sz="2000" dirty="0"/>
          </a:p>
        </p:txBody>
      </p:sp>
      <p:sp>
        <p:nvSpPr>
          <p:cNvPr id="19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C-1 ／ この順番で、1つずつ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つながったのに、返事が来ない</a:t>
            </a:r>
            <a:endParaRPr lang="ja-JP" altLang="en-US" sz="3000" dirty="0"/>
          </a:p>
        </p:txBody>
      </p:sp>
      <p:sp>
        <p:nvSpPr>
          <p:cNvPr id="4" name="figbox"/>
          <p:cNvSpPr/>
          <p:nvPr/>
        </p:nvSpPr>
        <p:spPr>
          <a:xfrm>
            <a:off x="2788920" y="1234440"/>
            <a:ext cx="3566160" cy="3794760"/>
          </a:xfrm>
          <a:prstGeom prst="roundRect">
            <a:avLst>
              <a:gd name="adj" fmla="val 1538"/>
            </a:avLst>
          </a:prstGeom>
          <a:solidFill>
            <a:srgbClr val="16302C"/>
          </a:solidFill>
          <a:ln w="15875">
            <a:solidFill>
              <a:srgbClr val="0F6B6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8892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4FC3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 の中（接続は済んでいる）</a:t>
            </a:r>
            <a:endParaRPr lang="ja-JP" altLang="en-US" sz="1300" dirty="0"/>
          </a:p>
        </p:txBody>
      </p:sp>
      <p:sp>
        <p:nvSpPr>
          <p:cNvPr id="6" name="figbox"/>
          <p:cNvSpPr/>
          <p:nvPr/>
        </p:nvSpPr>
        <p:spPr>
          <a:xfrm>
            <a:off x="6720840" y="1234440"/>
            <a:ext cx="4892040" cy="3794760"/>
          </a:xfrm>
          <a:prstGeom prst="roundRect">
            <a:avLst>
              <a:gd name="adj" fmla="val 1446"/>
            </a:avLst>
          </a:prstGeom>
          <a:solidFill>
            <a:srgbClr val="171C24"/>
          </a:solidFill>
          <a:ln w="15875">
            <a:solidFill>
              <a:srgbClr val="2E364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20840" y="12984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あなたのサーバ（1人ずつ）</a:t>
            </a:r>
            <a:endParaRPr lang="ja-JP" alt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</a:t>
            </a:r>
            <a:endParaRPr lang="ja-JP" altLang="en-US" sz="1300" dirty="0"/>
          </a:p>
        </p:txBody>
      </p:sp>
      <p:sp>
        <p:nvSpPr>
          <p:cNvPr id="9" name="figbox"/>
          <p:cNvSpPr/>
          <p:nvPr/>
        </p:nvSpPr>
        <p:spPr>
          <a:xfrm>
            <a:off x="548640" y="178308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41820"/>
          </a:solidFill>
          <a:ln w="15875">
            <a:solidFill>
              <a:srgbClr val="5FA8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783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5FA8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Talk（1人目）</a:t>
            </a:r>
            <a:endParaRPr lang="ja-JP" alt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5FA8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"hello"</a:t>
            </a:r>
            <a:endParaRPr lang="ja-JP" altLang="en-US" sz="1400" dirty="0"/>
          </a:p>
        </p:txBody>
      </p:sp>
      <p:sp>
        <p:nvSpPr>
          <p:cNvPr id="11" name="figbox"/>
          <p:cNvSpPr/>
          <p:nvPr/>
        </p:nvSpPr>
        <p:spPr>
          <a:xfrm>
            <a:off x="3017520" y="1783080"/>
            <a:ext cx="3108960" cy="1005840"/>
          </a:xfrm>
          <a:prstGeom prst="roundRect">
            <a:avLst>
              <a:gd name="adj" fmla="val 5455"/>
            </a:avLst>
          </a:prstGeom>
          <a:solidFill>
            <a:srgbClr val="141820"/>
          </a:solidFill>
          <a:ln w="15875">
            <a:solidFill>
              <a:srgbClr val="0F6B6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08960" y="1783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500" b="1" dirty="0">
                <a:solidFill>
                  <a:srgbClr val="4FC3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接続1　成立</a:t>
            </a:r>
            <a:endParaRPr lang="ja-JP" altLang="en-US" sz="1500" dirty="0"/>
          </a:p>
        </p:txBody>
      </p:sp>
      <p:sp>
        <p:nvSpPr>
          <p:cNvPr id="13" name="figbox"/>
          <p:cNvSpPr/>
          <p:nvPr/>
        </p:nvSpPr>
        <p:spPr>
          <a:xfrm>
            <a:off x="6949440" y="1691640"/>
            <a:ext cx="4434840" cy="1188720"/>
          </a:xfrm>
          <a:prstGeom prst="roundRect">
            <a:avLst>
              <a:gd name="adj" fmla="val 4615"/>
            </a:avLst>
          </a:prstGeom>
          <a:solidFill>
            <a:srgbClr val="141820"/>
          </a:solidFill>
          <a:ln w="15875">
            <a:solidFill>
              <a:srgbClr val="5FA8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0880" y="169164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5FA8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accept() が返した Socket</a:t>
            </a:r>
            <a:endParaRPr lang="ja-JP" alt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5FA8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いまも1人目の readLine() を待っている</a:t>
            </a:r>
            <a:endParaRPr lang="ja-JP" altLang="en-US" sz="1400" dirty="0"/>
          </a:p>
        </p:txBody>
      </p:sp>
      <p:sp>
        <p:nvSpPr>
          <p:cNvPr id="15" name="figarrow"/>
          <p:cNvSpPr/>
          <p:nvPr/>
        </p:nvSpPr>
        <p:spPr>
          <a:xfrm>
            <a:off x="2578608" y="2286000"/>
            <a:ext cx="420624" cy="0"/>
          </a:xfrm>
          <a:prstGeom prst="line">
            <a:avLst/>
          </a:prstGeom>
          <a:noFill/>
          <a:ln w="38100">
            <a:solidFill>
              <a:srgbClr val="5FA8E6"/>
            </a:solidFill>
            <a:prstDash val="solid"/>
            <a:tailEnd type="triangle" w="lg" len="lg"/>
          </a:ln>
        </p:spPr>
      </p:sp>
      <p:sp>
        <p:nvSpPr>
          <p:cNvPr id="16" name="figarrow"/>
          <p:cNvSpPr/>
          <p:nvPr/>
        </p:nvSpPr>
        <p:spPr>
          <a:xfrm>
            <a:off x="6144768" y="2286000"/>
            <a:ext cx="786384" cy="0"/>
          </a:xfrm>
          <a:prstGeom prst="line">
            <a:avLst/>
          </a:prstGeom>
          <a:noFill/>
          <a:ln w="38100">
            <a:solidFill>
              <a:srgbClr val="5FA8E6"/>
            </a:solidFill>
            <a:prstDash val="solid"/>
            <a:tailEnd type="triangle" w="lg" len="lg"/>
          </a:ln>
        </p:spPr>
      </p:sp>
      <p:sp>
        <p:nvSpPr>
          <p:cNvPr id="17" name="figbox"/>
          <p:cNvSpPr/>
          <p:nvPr/>
        </p:nvSpPr>
        <p:spPr>
          <a:xfrm>
            <a:off x="548640" y="352044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41820"/>
          </a:solidFill>
          <a:ln w="15875">
            <a:solidFill>
              <a:srgbClr val="BE3E1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520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F2A0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Talk（2人目）</a:t>
            </a:r>
            <a:endParaRPr lang="ja-JP" alt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F2A0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"world"</a:t>
            </a:r>
            <a:endParaRPr lang="ja-JP" altLang="en-US" sz="1400" dirty="0"/>
          </a:p>
        </p:txBody>
      </p:sp>
      <p:sp>
        <p:nvSpPr>
          <p:cNvPr id="19" name="figbox"/>
          <p:cNvSpPr/>
          <p:nvPr/>
        </p:nvSpPr>
        <p:spPr>
          <a:xfrm>
            <a:off x="3017520" y="3520440"/>
            <a:ext cx="3108960" cy="1005840"/>
          </a:xfrm>
          <a:prstGeom prst="roundRect">
            <a:avLst>
              <a:gd name="adj" fmla="val 5455"/>
            </a:avLst>
          </a:prstGeom>
          <a:solidFill>
            <a:srgbClr val="3A211A"/>
          </a:solidFill>
          <a:ln w="15875">
            <a:solidFill>
              <a:srgbClr val="BE3E1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108960" y="3520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F2A0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接続2　成立</a:t>
            </a:r>
            <a:endParaRPr lang="ja-JP" alt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F2A0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受け取った行がたまったまま</a:t>
            </a:r>
            <a:endParaRPr lang="ja-JP" altLang="en-US" sz="1400" dirty="0"/>
          </a:p>
        </p:txBody>
      </p:sp>
      <p:sp>
        <p:nvSpPr>
          <p:cNvPr id="21" name="figbox"/>
          <p:cNvSpPr/>
          <p:nvPr/>
        </p:nvSpPr>
        <p:spPr>
          <a:xfrm>
            <a:off x="6949440" y="3429000"/>
            <a:ext cx="4434840" cy="1188720"/>
          </a:xfrm>
          <a:prstGeom prst="roundRect">
            <a:avLst>
              <a:gd name="adj" fmla="val 4615"/>
            </a:avLst>
          </a:prstGeom>
          <a:solidFill>
            <a:srgbClr val="141820"/>
          </a:solidFill>
          <a:ln w="15875">
            <a:solidFill>
              <a:srgbClr val="BE3E1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40880" y="342900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F2A0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accept() はまだ呼ばれていない</a:t>
            </a:r>
            <a:endParaRPr lang="ja-JP" alt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F2A0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この接続があることを、まだ知らない</a:t>
            </a:r>
            <a:endParaRPr lang="ja-JP" altLang="en-US" sz="1400" dirty="0"/>
          </a:p>
        </p:txBody>
      </p:sp>
      <p:sp>
        <p:nvSpPr>
          <p:cNvPr id="23" name="figarrow"/>
          <p:cNvSpPr/>
          <p:nvPr/>
        </p:nvSpPr>
        <p:spPr>
          <a:xfrm>
            <a:off x="2578608" y="4023360"/>
            <a:ext cx="420624" cy="0"/>
          </a:xfrm>
          <a:prstGeom prst="line">
            <a:avLst/>
          </a:prstGeom>
          <a:noFill/>
          <a:ln w="38100">
            <a:solidFill>
              <a:srgbClr val="BE3E1B"/>
            </a:solidFill>
            <a:prstDash val="solid"/>
            <a:tailEnd type="triangle" w="lg" len="lg"/>
          </a:ln>
        </p:spPr>
      </p:sp>
      <p:sp>
        <p:nvSpPr>
          <p:cNvPr id="24" name="figline"/>
          <p:cNvSpPr/>
          <p:nvPr/>
        </p:nvSpPr>
        <p:spPr>
          <a:xfrm>
            <a:off x="6144768" y="4023360"/>
            <a:ext cx="786384" cy="0"/>
          </a:xfrm>
          <a:prstGeom prst="line">
            <a:avLst/>
          </a:prstGeom>
          <a:noFill/>
          <a:ln w="19050">
            <a:solidFill>
              <a:srgbClr val="BE3E1B"/>
            </a:solidFill>
            <a:prstDash val="dash"/>
          </a:ln>
        </p:spPr>
      </p:sp>
      <p:sp>
        <p:nvSpPr>
          <p:cNvPr id="25" name="figline"/>
          <p:cNvSpPr/>
          <p:nvPr/>
        </p:nvSpPr>
        <p:spPr>
          <a:xfrm>
            <a:off x="6428232" y="3913632"/>
            <a:ext cx="219456" cy="219456"/>
          </a:xfrm>
          <a:prstGeom prst="line">
            <a:avLst/>
          </a:prstGeom>
          <a:noFill/>
          <a:ln w="31750">
            <a:solidFill>
              <a:srgbClr val="BE3E1B"/>
            </a:solidFill>
            <a:prstDash val="solid"/>
          </a:ln>
        </p:spPr>
      </p:sp>
      <p:sp>
        <p:nvSpPr>
          <p:cNvPr id="26" name="figline"/>
          <p:cNvSpPr/>
          <p:nvPr/>
        </p:nvSpPr>
        <p:spPr>
          <a:xfrm flipH="1">
            <a:off x="6428232" y="3913632"/>
            <a:ext cx="219456" cy="219456"/>
          </a:xfrm>
          <a:prstGeom prst="line">
            <a:avLst/>
          </a:prstGeom>
          <a:noFill/>
          <a:ln w="31750">
            <a:solidFill>
              <a:srgbClr val="BE3E1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1人目を Ctrl ＋ C で切ると、サーバは次の accept() に戻り、たまっていた world に答える</a:t>
            </a:r>
            <a:endParaRPr lang="ja-JP" altLang="en-US" sz="1700" dirty="0"/>
          </a:p>
        </p:txBody>
      </p:sp>
      <p:sp>
        <p:nvSpPr>
          <p:cNvPr id="28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図3（PART 4）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7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接続が成立すること ≠ プログラムが相手をすること</a:t>
            </a:r>
            <a:endParaRPr lang="ja-JP" altLang="en-US" sz="27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見たこと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意味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2人目でも CONNECTED は出た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TCP の接続は、OS が先に済ませている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2人目に返事が来なかった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サーバが2回目の accept() を呼んでいない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1人目を切った瞬間に2人目が動いた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順番待ちの列がある。一度に1人しか相手にできない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エラーは1つも出ていない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ネットワークのプログラムは、黙って待つ（第2回と同じ）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4343400"/>
            <a:ext cx="11064240" cy="1097280"/>
          </a:xfrm>
          <a:prstGeom prst="roundRect">
            <a:avLst>
              <a:gd name="adj" fmla="val 5833"/>
            </a:avLst>
          </a:prstGeom>
          <a:solidFill>
            <a:srgbClr val="1C2027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" y="4434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第4回の入口　</a:t>
            </a:r>
            <a:pPr indent="0" marL="0">
              <a:buNone/>
            </a:pPr>
            <a:r>
              <a:rPr lang="ja-JP" altLang="en-US" sz="17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accept() したら、すぐ次の accept() に戻るには、相手の処理を別の場所に任せるしかない ── それがスレッド</a:t>
            </a:r>
            <a:endParaRPr lang="ja-JP" altLang="en-US" sz="1700" dirty="0"/>
          </a:p>
        </p:txBody>
      </p:sp>
      <p:sp>
        <p:nvSpPr>
          <p:cNvPr id="7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C-3 ／ この理由を、課題の prompt_log.md に1〜2行で書く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FC3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演習D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隣のPCから、つないでもらう</a:t>
            </a:r>
            <a:endParaRPr lang="ja-JP" alt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4FC3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ja-JP" alt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3716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サーバ役が ipconfig で IPv4 アドレスを確かめ、隣に伝える</a:t>
            </a:r>
            <a:endParaRPr lang="ja-JP" alt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84832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4FC3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ja-JP" alt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0848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サーバ役が  java LoopServer 40001</a:t>
            </a:r>
            <a:endParaRPr lang="ja-JP" alt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98064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4FC3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ja-JP" alt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7980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クライアント役が  java Talk &lt;相手のIP&gt; 40001</a:t>
            </a:r>
            <a:endParaRPr lang="ja-JP" alt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511296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4FC3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ja-JP" alt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351129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返ってきたら、役を交代してもう一度</a:t>
            </a:r>
            <a:endParaRPr lang="ja-JP" alt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7589520" y="1325880"/>
            <a:ext cx="4023360" cy="2743200"/>
          </a:xfrm>
          <a:prstGeom prst="roundRect">
            <a:avLst>
              <a:gd name="adj" fmla="val 2333"/>
            </a:avLst>
          </a:prstGeom>
          <a:solidFill>
            <a:srgbClr val="141820"/>
          </a:solidFill>
          <a:ln w="19050">
            <a:solidFill>
              <a:srgbClr val="4FC3B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90688" y="1508760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800" b="1" dirty="0">
                <a:solidFill>
                  <a:srgbClr val="4FC3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サーバのコードは、そのまま</a:t>
            </a:r>
            <a:endParaRPr lang="ja-JP" alt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790688" y="1929384"/>
            <a:ext cx="362102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new ServerSocket(40001) が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最初から全部の入口で待っていた。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ACCEPTED に、相手のIPと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 が割り当てたポートが出る</a:t>
            </a:r>
            <a:endParaRPr lang="ja-JP" altLang="en-US" sz="1500" dirty="0"/>
          </a:p>
        </p:txBody>
      </p:sp>
      <p:sp>
        <p:nvSpPr>
          <p:cNvPr id="16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ファイアウォールの許可画面はキャンセルしてよい（A〜C と課題はすべて localhost）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課題：LineServer.java（全2問）</a:t>
            </a:r>
            <a:endParaRPr lang="ja-JP" altLang="en-US" sz="30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受け取った行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返す1行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PING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PONG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ECHO &lt;文字列&gt;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&lt;文字列&gt; をそのまま（trim しない）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LEN &lt;文字列&gt;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UTF-8 でのバイト数（LEN こんにちは → 15）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QUIT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BYE を返して、その接続だけ閉じる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上のどれでもない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MS Gothic" pitchFamily="34" charset="0"/>
                          <a:ea typeface="MS Gothic" pitchFamily="34" charset="-122"/>
                          <a:cs typeface="MS Gothic" pitchFamily="34" charset="-120"/>
                        </a:rPr>
                        <a:t>ERR unknown command</a:t>
                      </a:r>
                      <a:endParaRPr lang="ja-JP" altLang="en-US" sz="1450" dirty="0">
                        <a:latin typeface="MS Gothic" charset="0"/>
                        <a:ea typeface="MS Gothic" charset="0"/>
                        <a:cs typeface="MS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7589520" y="1325880"/>
            <a:ext cx="4023360" cy="1691640"/>
          </a:xfrm>
          <a:prstGeom prst="roundRect">
            <a:avLst>
              <a:gd name="adj" fmla="val 3784"/>
            </a:avLst>
          </a:prstGeom>
          <a:solidFill>
            <a:srgbClr val="FDF0D4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90688" y="1508760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800" b="1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問1　コマンドに答える</a:t>
            </a:r>
            <a:endParaRPr lang="ja-JP" alt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7790688" y="1929384"/>
            <a:ext cx="3621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ケース1〜5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PING ／ ECHO ／ LEN ／ それ以外</a:t>
            </a:r>
            <a:endParaRPr lang="ja-JP" altLang="en-US" sz="1500" dirty="0"/>
          </a:p>
        </p:txBody>
      </p:sp>
      <p:sp>
        <p:nvSpPr>
          <p:cNvPr id="8" name="card"/>
          <p:cNvSpPr/>
          <p:nvPr/>
        </p:nvSpPr>
        <p:spPr>
          <a:xfrm>
            <a:off x="7589520" y="3200400"/>
            <a:ext cx="4023360" cy="2148840"/>
          </a:xfrm>
          <a:prstGeom prst="roundRect">
            <a:avLst>
              <a:gd name="adj" fmla="val 2979"/>
            </a:avLst>
          </a:prstGeom>
          <a:solidFill>
            <a:srgbClr val="FAE5DD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90688" y="3383280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8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問2　何をされても死なない</a:t>
            </a:r>
            <a:endParaRPr lang="ja-JP" alt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90688" y="3803904"/>
            <a:ext cx="362102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ケース6〜9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1本で何行でも ／ QUIT は1本だけ ／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乱暴な切断 ／ 最後まで動く</a:t>
            </a:r>
            <a:endParaRPr lang="ja-JP" altLang="en-US" sz="1500" dirty="0"/>
          </a:p>
        </p:txBody>
      </p:sp>
      <p:sp>
        <p:nvSpPr>
          <p:cNvPr id="11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標準出力は LISTENING port=40001 の1行だけ。返す行の最後は 0A の1バイト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問1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コマンドに答える</a:t>
            </a:r>
            <a:endParaRPr lang="ja-JP" alt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ja-JP" altLang="en-US" sz="1500" dirty="0"/>
          </a:p>
        </p:txBody>
      </p:sp>
      <p:sp>
        <p:nvSpPr>
          <p:cNvPr id="6" name="figbox"/>
          <p:cNvSpPr/>
          <p:nvPr/>
        </p:nvSpPr>
        <p:spPr>
          <a:xfrm>
            <a:off x="548640" y="1600200"/>
            <a:ext cx="54864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600200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45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PING → PONG</a:t>
            </a:r>
            <a:endParaRPr lang="ja-JP" altLang="en-US" sz="1450" dirty="0"/>
          </a:p>
        </p:txBody>
      </p:sp>
      <p:sp>
        <p:nvSpPr>
          <p:cNvPr id="8" name="figbox"/>
          <p:cNvSpPr/>
          <p:nvPr/>
        </p:nvSpPr>
        <p:spPr>
          <a:xfrm>
            <a:off x="548640" y="2203704"/>
            <a:ext cx="54864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203704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45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ECHO &lt;文字列&gt; → そのまま返す（trim しない）</a:t>
            </a:r>
            <a:endParaRPr lang="ja-JP" altLang="en-US" sz="1450" dirty="0"/>
          </a:p>
        </p:txBody>
      </p:sp>
      <p:sp>
        <p:nvSpPr>
          <p:cNvPr id="10" name="figbox"/>
          <p:cNvSpPr/>
          <p:nvPr/>
        </p:nvSpPr>
        <p:spPr>
          <a:xfrm>
            <a:off x="548640" y="2807208"/>
            <a:ext cx="54864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807208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45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LEN &lt;文字列&gt; → UTF-8 でのバイト数</a:t>
            </a:r>
            <a:endParaRPr lang="ja-JP" altLang="en-US" sz="1450" dirty="0"/>
          </a:p>
        </p:txBody>
      </p:sp>
      <p:sp>
        <p:nvSpPr>
          <p:cNvPr id="12" name="figbox"/>
          <p:cNvSpPr/>
          <p:nvPr/>
        </p:nvSpPr>
        <p:spPr>
          <a:xfrm>
            <a:off x="548640" y="3410712"/>
            <a:ext cx="54864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4107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45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それ以外 → ERR unknown command</a:t>
            </a:r>
            <a:endParaRPr lang="ja-JP" alt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実行例</a:t>
            </a:r>
            <a:endParaRPr lang="ja-JP" altLang="en-US" sz="1500" dirty="0"/>
          </a:p>
        </p:txBody>
      </p:sp>
      <p:sp>
        <p:nvSpPr>
          <p:cNvPr id="15" name="codepanel"/>
          <p:cNvSpPr/>
          <p:nvPr/>
        </p:nvSpPr>
        <p:spPr>
          <a:xfrm>
            <a:off x="6309360" y="1600200"/>
            <a:ext cx="5303520" cy="2519680"/>
          </a:xfrm>
          <a:prstGeom prst="roundRect">
            <a:avLst>
              <a:gd name="adj" fmla="val 2903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10528" y="1746504"/>
            <a:ext cx="4901184" cy="222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java Talk localhost 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PING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REPLY: PONG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ECHO  a  b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REPLY:  a  b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LEN abc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REPLY: 3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ping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REPLY: ERR unknown command
</a:t>
            </a:r>
            <a:endParaRPr lang="ja-JP" alt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FAE5DD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6177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5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ここでつまずく
</a:t>
            </a:r>
            <a:pPr indent="0" marL="0">
              <a:lnSpc>
                <a:spcPct val="130000"/>
              </a:lnSpc>
              <a:buNone/>
            </a:pPr>
            <a:r>
              <a:rPr lang="ja-JP" altLang="en-US" sz="145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length() は文字数。バイト数は getBytes(StandardCharsets.UTF_8).length。LEN こんにちは は 5 ではなく 15。</a:t>
            </a:r>
            <a:endParaRPr lang="ja-JP" alt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45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ECHO を trim しない。ping（小文字）と、後ろに何もない ECHO は ERR</a:t>
            </a:r>
            <a:endParaRPr lang="ja-JP" altLang="en-US" sz="1450" dirty="0"/>
          </a:p>
        </p:txBody>
      </p:sp>
      <p:sp>
        <p:nvSpPr>
          <p:cNvPr id="19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課題 問1 ／ ケース1〜5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E3E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問2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何をされても、サーバは死なない</a:t>
            </a:r>
            <a:endParaRPr lang="ja-JP" alt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</a:t>
            </a:r>
            <a:endParaRPr lang="ja-JP" altLang="en-US" sz="1500" dirty="0"/>
          </a:p>
        </p:txBody>
      </p:sp>
      <p:sp>
        <p:nvSpPr>
          <p:cNvPr id="6" name="figbox"/>
          <p:cNvSpPr/>
          <p:nvPr/>
        </p:nvSpPr>
        <p:spPr>
          <a:xfrm>
            <a:off x="548640" y="1600200"/>
            <a:ext cx="54864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600200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45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1本の接続で、何行でも順に答える</a:t>
            </a:r>
            <a:endParaRPr lang="ja-JP" altLang="en-US" sz="1450" dirty="0"/>
          </a:p>
        </p:txBody>
      </p:sp>
      <p:sp>
        <p:nvSpPr>
          <p:cNvPr id="8" name="figbox"/>
          <p:cNvSpPr/>
          <p:nvPr/>
        </p:nvSpPr>
        <p:spPr>
          <a:xfrm>
            <a:off x="548640" y="2203704"/>
            <a:ext cx="54864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203704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45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QUIT → BYE を返して、その接続だけ閉じる</a:t>
            </a:r>
            <a:endParaRPr lang="ja-JP" altLang="en-US" sz="1450" dirty="0"/>
          </a:p>
        </p:txBody>
      </p:sp>
      <p:sp>
        <p:nvSpPr>
          <p:cNvPr id="10" name="figbox"/>
          <p:cNvSpPr/>
          <p:nvPr/>
        </p:nvSpPr>
        <p:spPr>
          <a:xfrm>
            <a:off x="548640" y="2807208"/>
            <a:ext cx="54864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807208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45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どんな切れ方をされても、次の accept() へ</a:t>
            </a:r>
            <a:endParaRPr lang="ja-JP" altLang="en-US" sz="1450" dirty="0"/>
          </a:p>
        </p:txBody>
      </p:sp>
      <p:sp>
        <p:nvSpPr>
          <p:cNvPr id="12" name="figbox"/>
          <p:cNvSpPr/>
          <p:nvPr/>
        </p:nvSpPr>
        <p:spPr>
          <a:xfrm>
            <a:off x="548640" y="3410712"/>
            <a:ext cx="54864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4107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45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標準出力は LISTENING の1行だけ。スレッドは使わない</a:t>
            </a:r>
            <a:endParaRPr lang="ja-JP" alt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実行例</a:t>
            </a:r>
            <a:endParaRPr lang="ja-JP" altLang="en-US" sz="1500" dirty="0"/>
          </a:p>
        </p:txBody>
      </p:sp>
      <p:sp>
        <p:nvSpPr>
          <p:cNvPr id="15" name="codepanel"/>
          <p:cNvSpPr/>
          <p:nvPr/>
        </p:nvSpPr>
        <p:spPr>
          <a:xfrm>
            <a:off x="6309360" y="1600200"/>
            <a:ext cx="5303520" cy="2735580"/>
          </a:xfrm>
          <a:prstGeom prst="roundRect">
            <a:avLst>
              <a:gd name="adj" fmla="val 267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10528" y="1746504"/>
            <a:ext cx="4901184" cy="2442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java Talk localhost 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PING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REPLY: PONG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QUIT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REPLY: BYE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（Enter）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CLOSED by server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java Talk localhost 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PING
</a:t>
            </a:r>
            <a:pPr indent="0" marL="0">
              <a:lnSpc>
                <a:spcPct val="135000"/>
              </a:lnSpc>
              <a:buNone/>
            </a:pPr>
            <a:r>
              <a:rPr lang="ja-JP" altLang="en-US" sz="12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REPLY: PONG
</a:t>
            </a:r>
            <a:endParaRPr lang="ja-JP" alt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FAE5DD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6177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5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ここが課題の中心
</a:t>
            </a:r>
            <a:pPr indent="0" marL="0">
              <a:lnSpc>
                <a:spcPct val="130000"/>
              </a:lnSpc>
              <a:buNone/>
            </a:pPr>
            <a:r>
              <a:rPr lang="ja-JP" altLang="en-US" sz="145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QUIT で server.close() や System.exit() を呼ぶと、ケース7・8・9 がまとめて落ちる。</a:t>
            </a:r>
            <a:endParaRPr lang="ja-JP" alt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45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catch (IOException e) は while (true) の内側。外側だと、強制切断（ケース8）でサーバが止まる</a:t>
            </a:r>
            <a:endParaRPr lang="ja-JP" altLang="en-US" sz="1450" dirty="0"/>
          </a:p>
        </p:txBody>
      </p:sp>
      <p:sp>
        <p:nvSpPr>
          <p:cNvPr id="19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 課題 問2 ／ ケース6〜9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採点スクリプトの実演</a:t>
            </a:r>
            <a:endParaRPr lang="ja-JP" altLang="en-US" sz="3000" dirty="0"/>
          </a:p>
        </p:txBody>
      </p:sp>
      <p:sp>
        <p:nvSpPr>
          <p:cNvPr id="4" name="codepanel"/>
          <p:cNvSpPr/>
          <p:nvPr/>
        </p:nvSpPr>
        <p:spPr>
          <a:xfrm>
            <a:off x="548640" y="1234440"/>
            <a:ext cx="11064240" cy="3129382"/>
          </a:xfrm>
          <a:prstGeom prst="roundRect">
            <a:avLst>
              <a:gd name="adj" fmla="val 2338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380744"/>
            <a:ext cx="10661904" cy="2836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&gt; powershell -ExecutionPolicy Bypass -File check3.ps1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--- 問1  コマンドに答える ---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PASS  ケース1  PING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PASS  ケース2  ECHO hello world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PASS  ケース3  ECHO のスペースを残す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F2A08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FAIL  ケース4  LEN こんにちは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F2A08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[LEN こんにちは] への返事: expected=[15] got=[5]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PASS  ケース5  知らないコマンド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...
</a:t>
            </a:r>
            <a:pPr indent="0" marL="0">
              <a:lnSpc>
                <a:spcPct val="135000"/>
              </a:lnSpc>
              <a:buNone/>
            </a:pPr>
            <a:r>
              <a:rPr lang="ja-JP" altLang="en-US" sz="1450" dirty="0">
                <a:solidFill>
                  <a:srgbClr val="F2A08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8 / 9 passed</a:t>
            </a:r>
            <a:endParaRPr lang="ja-JP" altLang="en-US" sz="1450" dirty="0"/>
          </a:p>
        </p:txBody>
      </p:sp>
      <p:sp>
        <p:nvSpPr>
          <p:cNvPr id="6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自分で起動したサーバは先に止める（40001 が使用中だと、止め方を表示して終わる）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教室を出る前に、ここまで</a:t>
            </a:r>
            <a:endParaRPr lang="ja-JP" altLang="en-US" sz="3000" dirty="0"/>
          </a:p>
        </p:txBody>
      </p:sp>
      <p:sp>
        <p:nvSpPr>
          <p:cNvPr id="4" name="figbox"/>
          <p:cNvSpPr/>
          <p:nvPr/>
        </p:nvSpPr>
        <p:spPr>
          <a:xfrm>
            <a:off x="548640" y="1325880"/>
            <a:ext cx="69494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5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LoopServer.java を LineServer.java にコピーし、クラス名を変えた</a:t>
            </a:r>
            <a:endParaRPr lang="ja-JP" altLang="en-US" sz="1500" dirty="0"/>
          </a:p>
        </p:txBody>
      </p:sp>
      <p:sp>
        <p:nvSpPr>
          <p:cNvPr id="6" name="figbox"/>
          <p:cNvSpPr/>
          <p:nvPr/>
        </p:nvSpPr>
        <p:spPr>
          <a:xfrm>
            <a:off x="548640" y="1965960"/>
            <a:ext cx="69494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96596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5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javac -encoding UTF-8 LineServer.java が通った</a:t>
            </a:r>
            <a:endParaRPr lang="ja-JP" altLang="en-US" sz="1500" dirty="0"/>
          </a:p>
        </p:txBody>
      </p:sp>
      <p:sp>
        <p:nvSpPr>
          <p:cNvPr id="8" name="figbox"/>
          <p:cNvSpPr/>
          <p:nvPr/>
        </p:nvSpPr>
        <p:spPr>
          <a:xfrm>
            <a:off x="548640" y="2606040"/>
            <a:ext cx="69494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60604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5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PING に PONG を返すところまで書いた</a:t>
            </a:r>
            <a:endParaRPr lang="ja-JP" altLang="en-US" sz="1500" dirty="0"/>
          </a:p>
        </p:txBody>
      </p:sp>
      <p:sp>
        <p:nvSpPr>
          <p:cNvPr id="10" name="figbox"/>
          <p:cNvSpPr/>
          <p:nvPr/>
        </p:nvSpPr>
        <p:spPr>
          <a:xfrm>
            <a:off x="548640" y="3246120"/>
            <a:ext cx="69494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24612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5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自分のサーバを止めてから採点し、1ケースでも PASS</a:t>
            </a:r>
            <a:endParaRPr lang="ja-JP" altLang="en-US" sz="1500" dirty="0"/>
          </a:p>
        </p:txBody>
      </p:sp>
      <p:sp>
        <p:nvSpPr>
          <p:cNvPr id="12" name="figbox"/>
          <p:cNvSpPr/>
          <p:nvPr/>
        </p:nvSpPr>
        <p:spPr>
          <a:xfrm>
            <a:off x="548640" y="3886200"/>
            <a:ext cx="69494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D8D2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88620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5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　prompt_log.md に、今日のプロンプトを1件書いた</a:t>
            </a:r>
            <a:endParaRPr lang="ja-JP" alt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7863840" y="1325880"/>
            <a:ext cx="3749040" cy="3108960"/>
          </a:xfrm>
          <a:prstGeom prst="roundRect">
            <a:avLst>
              <a:gd name="adj" fmla="val 2059"/>
            </a:avLst>
          </a:prstGeom>
          <a:solidFill>
            <a:srgbClr val="1C2027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65008" y="1508760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</a:t>
            </a:r>
            <a:endParaRPr lang="ja-JP" alt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065008" y="1929384"/>
            <a:ext cx="334670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eclass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締切：次回授業の開始まで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LineServer.java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prompt_log.md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（ZIP不可・.class を含めない）</a:t>
            </a:r>
            <a:endParaRPr lang="ja-JP" altLang="en-US" sz="1550" dirty="0"/>
          </a:p>
        </p:txBody>
      </p:sp>
      <p:sp>
        <p:nvSpPr>
          <p:cNvPr id="17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prompt_log.md には、演習Cの考察（1〜2行）も書く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00584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spc="200" kern="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今日の軸</a:t>
            </a:r>
            <a:endParaRPr lang="ja-JP" alt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087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36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受付は1つ、線は1人に1本。</a:t>
            </a:r>
            <a:endParaRPr lang="ja-JP" alt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36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つながったことと、相手をしてもらえることは別。</a:t>
            </a:r>
            <a:endParaRPr lang="ja-JP" alt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3337560"/>
            <a:ext cx="1280160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card"/>
          <p:cNvSpPr/>
          <p:nvPr/>
        </p:nvSpPr>
        <p:spPr>
          <a:xfrm>
            <a:off x="548640" y="374904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141820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393192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合言葉</a:t>
            </a:r>
            <a:endParaRPr lang="ja-JP" alt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4206240"/>
            <a:ext cx="4992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クライアントは、いつ、</a:t>
            </a:r>
            <a:endParaRPr lang="ja-JP" alt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どんな切れ方をしてもよい</a:t>
            </a:r>
            <a:endParaRPr lang="ja-JP" alt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5148072"/>
            <a:ext cx="4992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それを全部引き受けるのが、サーバ側の仕事</a:t>
            </a:r>
            <a:endParaRPr lang="ja-JP" altLang="en-US" sz="1550" dirty="0"/>
          </a:p>
        </p:txBody>
      </p:sp>
      <p:sp>
        <p:nvSpPr>
          <p:cNvPr id="10" name="card"/>
          <p:cNvSpPr/>
          <p:nvPr/>
        </p:nvSpPr>
        <p:spPr>
          <a:xfrm>
            <a:off x="6217920" y="374904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9088" y="393192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第4回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19088" y="420624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マルチスレッドサーバ</a:t>
            </a:r>
            <a:endParaRPr lang="ja-JP" alt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419088" y="4626864"/>
            <a:ext cx="499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今日待たされた2人目を、待たせない。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どこを変えればよいか、考えてから来る</a:t>
            </a:r>
            <a:endParaRPr lang="ja-JP" altLang="en-US" sz="1500" dirty="0"/>
          </a:p>
        </p:txBody>
      </p:sp>
      <p:sp>
        <p:nvSpPr>
          <p:cNvPr id="14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同志社大学　理工学部　情報システムデザイン学科　ネットワーク応用</a:t>
            </a:r>
            <a:endParaRPr lang="ja-JP" alt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第3回 TCPサーバと ServerSocket</dc:title>
  <dc:subject>PptxGenJS Presentation</dc:subject>
  <dc:creator>Takahiro Koita</dc:creator>
  <cp:lastModifiedBy>Takahiro Koita</cp:lastModifiedBy>
  <cp:revision>1</cp:revision>
  <dcterms:created xsi:type="dcterms:W3CDTF">2026-10-25T10:34:21Z</dcterms:created>
  <dcterms:modified xsi:type="dcterms:W3CDTF">2026-10-25T10:34:21Z</dcterms:modified>
</cp:coreProperties>
</file>